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jpg" ContentType="image/jpg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Default Extension="png" ContentType="image/png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</p:sldIdLst>
  <p:sldSz cx="13004800" cy="9753600"/>
  <p:notesSz cx="13004800" cy="9753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36600" y="249606"/>
            <a:ext cx="11432540" cy="11468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9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950720" y="5462016"/>
            <a:ext cx="910336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9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9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50240" y="2243328"/>
            <a:ext cx="5657088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697472" y="2243328"/>
            <a:ext cx="5657088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9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21214" y="-45820"/>
            <a:ext cx="12684760" cy="18824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9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47702" y="3398074"/>
            <a:ext cx="12309395" cy="47644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421632" y="9070848"/>
            <a:ext cx="416153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50240" y="9070848"/>
            <a:ext cx="299110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9363456" y="9070848"/>
            <a:ext cx="299110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fred.stlouisfed.org/" TargetMode="External"/><Relationship Id="rId3" Type="http://schemas.openxmlformats.org/officeDocument/2006/relationships/hyperlink" Target="https://trends.google.com/" TargetMode="Externa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jp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jp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jp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jp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jp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jp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jp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jpg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jpg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.jpg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.jpg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5.jpg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6.jpg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.jpg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8.png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jpg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1.jpg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png"/><Relationship Id="rId3" Type="http://schemas.openxmlformats.org/officeDocument/2006/relationships/image" Target="../media/image21.jpg"/></Relationships>
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jpg"/></Relationships>
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/Relationships>
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4.png"/></Relationships>
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5.png"/></Relationships>
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6.jpg"/></Relationships>
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7.jpg"/></Relationships>
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8.jpg"/></Relationships>
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9.jpg"/></Relationships>
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0.png"/></Relationships>
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1.jpg"/></Relationships>
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36600" y="8699298"/>
            <a:ext cx="4235450" cy="376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b="1">
                <a:latin typeface="Arial"/>
                <a:cs typeface="Arial"/>
              </a:rPr>
              <a:t>Aditya</a:t>
            </a:r>
            <a:r>
              <a:rPr dirty="0" sz="2300" spc="-114" b="1">
                <a:latin typeface="Arial"/>
                <a:cs typeface="Arial"/>
              </a:rPr>
              <a:t> </a:t>
            </a:r>
            <a:r>
              <a:rPr dirty="0" sz="2300" spc="-20" b="1">
                <a:latin typeface="Arial"/>
                <a:cs typeface="Arial"/>
              </a:rPr>
              <a:t>Guntuboyina</a:t>
            </a:r>
            <a:r>
              <a:rPr dirty="0" sz="2300" spc="-114" b="1">
                <a:latin typeface="Arial"/>
                <a:cs typeface="Arial"/>
              </a:rPr>
              <a:t> </a:t>
            </a:r>
            <a:r>
              <a:rPr dirty="0" sz="2300" spc="-10" b="1">
                <a:latin typeface="Arial"/>
                <a:cs typeface="Arial"/>
              </a:rPr>
              <a:t>(Fall</a:t>
            </a:r>
            <a:r>
              <a:rPr dirty="0" sz="2300" spc="-114" b="1">
                <a:latin typeface="Arial"/>
                <a:cs typeface="Arial"/>
              </a:rPr>
              <a:t> </a:t>
            </a:r>
            <a:r>
              <a:rPr dirty="0" sz="2300" spc="-10" b="1">
                <a:latin typeface="Arial"/>
                <a:cs typeface="Arial"/>
              </a:rPr>
              <a:t>2026)</a:t>
            </a:r>
            <a:endParaRPr sz="23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435180" rIns="0" bIns="0" rtlCol="0" vert="horz">
            <a:spAutoFit/>
          </a:bodyPr>
          <a:lstStyle/>
          <a:p>
            <a:pPr marL="401320">
              <a:lnSpc>
                <a:spcPct val="100000"/>
              </a:lnSpc>
              <a:spcBef>
                <a:spcPts val="1055"/>
              </a:spcBef>
            </a:pPr>
            <a:r>
              <a:rPr dirty="0" sz="8200" spc="-130" b="1">
                <a:latin typeface="Arial"/>
                <a:cs typeface="Arial"/>
              </a:rPr>
              <a:t>Lecture</a:t>
            </a:r>
            <a:r>
              <a:rPr dirty="0" sz="8200" spc="-425" b="1">
                <a:latin typeface="Arial"/>
                <a:cs typeface="Arial"/>
              </a:rPr>
              <a:t> </a:t>
            </a:r>
            <a:r>
              <a:rPr dirty="0" sz="8200" spc="-25" b="1">
                <a:latin typeface="Arial"/>
                <a:cs typeface="Arial"/>
              </a:rPr>
              <a:t>One</a:t>
            </a:r>
            <a:endParaRPr sz="8200">
              <a:latin typeface="Arial"/>
              <a:cs typeface="Arial"/>
            </a:endParaRPr>
          </a:p>
          <a:p>
            <a:pPr marL="401320">
              <a:lnSpc>
                <a:spcPct val="100000"/>
              </a:lnSpc>
              <a:spcBef>
                <a:spcPts val="440"/>
              </a:spcBef>
            </a:pPr>
            <a:r>
              <a:rPr dirty="0" sz="3800" spc="-245" b="1">
                <a:latin typeface="Arial"/>
                <a:cs typeface="Arial"/>
              </a:rPr>
              <a:t>STAT</a:t>
            </a:r>
            <a:r>
              <a:rPr dirty="0" sz="3800" spc="-20" b="1">
                <a:latin typeface="Arial"/>
                <a:cs typeface="Arial"/>
              </a:rPr>
              <a:t> </a:t>
            </a:r>
            <a:r>
              <a:rPr dirty="0" sz="3800" spc="-65" b="1">
                <a:latin typeface="Arial"/>
                <a:cs typeface="Arial"/>
              </a:rPr>
              <a:t>153/STAT</a:t>
            </a:r>
            <a:r>
              <a:rPr dirty="0" sz="3800" spc="-180" b="1">
                <a:latin typeface="Arial"/>
                <a:cs typeface="Arial"/>
              </a:rPr>
              <a:t> </a:t>
            </a:r>
            <a:r>
              <a:rPr dirty="0" sz="3800" b="1">
                <a:latin typeface="Arial"/>
                <a:cs typeface="Arial"/>
              </a:rPr>
              <a:t>248,</a:t>
            </a:r>
            <a:r>
              <a:rPr dirty="0" sz="3800" spc="-100" b="1">
                <a:latin typeface="Arial"/>
                <a:cs typeface="Arial"/>
              </a:rPr>
              <a:t> </a:t>
            </a:r>
            <a:r>
              <a:rPr dirty="0" sz="3800" b="1">
                <a:latin typeface="Arial"/>
                <a:cs typeface="Arial"/>
              </a:rPr>
              <a:t>Fall</a:t>
            </a:r>
            <a:r>
              <a:rPr dirty="0" sz="3800" spc="-100" b="1">
                <a:latin typeface="Arial"/>
                <a:cs typeface="Arial"/>
              </a:rPr>
              <a:t> </a:t>
            </a:r>
            <a:r>
              <a:rPr dirty="0" sz="3800" spc="-20" b="1">
                <a:latin typeface="Arial"/>
                <a:cs typeface="Arial"/>
              </a:rPr>
              <a:t>2026</a:t>
            </a:r>
            <a:endParaRPr sz="3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36600" y="465506"/>
            <a:ext cx="7253605" cy="930910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65"/>
              <a:t>What</a:t>
            </a:r>
            <a:r>
              <a:rPr dirty="0" spc="-350"/>
              <a:t> </a:t>
            </a:r>
            <a:r>
              <a:rPr dirty="0" spc="-190"/>
              <a:t>is</a:t>
            </a:r>
            <a:r>
              <a:rPr dirty="0" spc="-240"/>
              <a:t> </a:t>
            </a:r>
            <a:r>
              <a:rPr dirty="0" spc="-65"/>
              <a:t>Time</a:t>
            </a:r>
            <a:r>
              <a:rPr dirty="0" spc="-320"/>
              <a:t> </a:t>
            </a:r>
            <a:r>
              <a:rPr dirty="0" spc="-160"/>
              <a:t>Series?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91214" y="3292654"/>
            <a:ext cx="9245600" cy="4326255"/>
          </a:xfrm>
          <a:prstGeom prst="rect">
            <a:avLst/>
          </a:prstGeom>
        </p:spPr>
        <p:txBody>
          <a:bodyPr wrap="square" lIns="0" tIns="80645" rIns="0" bIns="0" rtlCol="0" vert="horz">
            <a:spAutoFit/>
          </a:bodyPr>
          <a:lstStyle/>
          <a:p>
            <a:pPr marL="12700" marR="5080">
              <a:lnSpc>
                <a:spcPts val="4330"/>
              </a:lnSpc>
              <a:spcBef>
                <a:spcPts val="635"/>
              </a:spcBef>
            </a:pPr>
            <a:r>
              <a:rPr dirty="0" sz="4000">
                <a:latin typeface="Arial"/>
                <a:cs typeface="Arial"/>
              </a:rPr>
              <a:t>Time</a:t>
            </a:r>
            <a:r>
              <a:rPr dirty="0" sz="4000" spc="-3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series</a:t>
            </a:r>
            <a:r>
              <a:rPr dirty="0" sz="4000" spc="-3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is</a:t>
            </a:r>
            <a:r>
              <a:rPr dirty="0" sz="4000" spc="-2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a</a:t>
            </a:r>
            <a:r>
              <a:rPr dirty="0" sz="4000" spc="-3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set</a:t>
            </a:r>
            <a:r>
              <a:rPr dirty="0" sz="4000" spc="-30">
                <a:latin typeface="Arial"/>
                <a:cs typeface="Arial"/>
              </a:rPr>
              <a:t> </a:t>
            </a:r>
            <a:r>
              <a:rPr dirty="0" sz="4000" spc="65">
                <a:latin typeface="Arial"/>
                <a:cs typeface="Arial"/>
              </a:rPr>
              <a:t>of</a:t>
            </a:r>
            <a:r>
              <a:rPr dirty="0" sz="4000" spc="-2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observations</a:t>
            </a:r>
            <a:r>
              <a:rPr dirty="0" sz="4000" spc="-30">
                <a:latin typeface="Arial"/>
                <a:cs typeface="Arial"/>
              </a:rPr>
              <a:t> </a:t>
            </a:r>
            <a:r>
              <a:rPr dirty="0" sz="4000" spc="-20">
                <a:latin typeface="Arial"/>
                <a:cs typeface="Arial"/>
              </a:rPr>
              <a:t>each </a:t>
            </a:r>
            <a:r>
              <a:rPr dirty="0" sz="4000">
                <a:latin typeface="Arial"/>
                <a:cs typeface="Arial"/>
              </a:rPr>
              <a:t>one</a:t>
            </a:r>
            <a:r>
              <a:rPr dirty="0" sz="4000" spc="8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being</a:t>
            </a:r>
            <a:r>
              <a:rPr dirty="0" sz="4000" spc="8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recorded</a:t>
            </a:r>
            <a:r>
              <a:rPr dirty="0" sz="4000" spc="8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at</a:t>
            </a:r>
            <a:r>
              <a:rPr dirty="0" sz="4000" spc="8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a</a:t>
            </a:r>
            <a:r>
              <a:rPr dirty="0" sz="4000" spc="8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specific</a:t>
            </a:r>
            <a:r>
              <a:rPr dirty="0" sz="4000" spc="85">
                <a:latin typeface="Arial"/>
                <a:cs typeface="Arial"/>
              </a:rPr>
              <a:t> </a:t>
            </a:r>
            <a:r>
              <a:rPr dirty="0" sz="4000" spc="-20">
                <a:latin typeface="Arial"/>
                <a:cs typeface="Arial"/>
              </a:rPr>
              <a:t>time</a:t>
            </a:r>
            <a:endParaRPr sz="4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810"/>
              </a:spcBef>
            </a:pPr>
            <a:endParaRPr sz="4000">
              <a:latin typeface="Arial"/>
              <a:cs typeface="Arial"/>
            </a:endParaRPr>
          </a:p>
          <a:p>
            <a:pPr marL="12700" marR="179705">
              <a:lnSpc>
                <a:spcPts val="4330"/>
              </a:lnSpc>
            </a:pPr>
            <a:r>
              <a:rPr dirty="0" sz="4000">
                <a:latin typeface="Arial"/>
                <a:cs typeface="Arial"/>
              </a:rPr>
              <a:t>The</a:t>
            </a:r>
            <a:r>
              <a:rPr dirty="0" sz="4000" spc="-6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websites</a:t>
            </a:r>
            <a:r>
              <a:rPr dirty="0" sz="4000" spc="-60">
                <a:latin typeface="Arial"/>
                <a:cs typeface="Arial"/>
              </a:rPr>
              <a:t> </a:t>
            </a:r>
            <a:r>
              <a:rPr dirty="0" u="sng" sz="4000" spc="-1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https://fred.stlouisfed.org/</a:t>
            </a:r>
            <a:r>
              <a:rPr dirty="0" u="none" sz="4000" spc="1000">
                <a:latin typeface="Arial"/>
                <a:cs typeface="Arial"/>
              </a:rPr>
              <a:t> </a:t>
            </a:r>
            <a:r>
              <a:rPr dirty="0" u="none" sz="4000" spc="10">
                <a:latin typeface="Arial"/>
                <a:cs typeface="Arial"/>
              </a:rPr>
              <a:t>and</a:t>
            </a:r>
            <a:r>
              <a:rPr dirty="0" u="none" sz="4000" spc="509">
                <a:latin typeface="Arial"/>
                <a:cs typeface="Arial"/>
              </a:rPr>
              <a:t> </a:t>
            </a:r>
            <a:r>
              <a:rPr dirty="0" u="sng" sz="4000" spc="1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https://trends.google.com</a:t>
            </a:r>
            <a:r>
              <a:rPr dirty="0" u="none" sz="4000" spc="515">
                <a:latin typeface="Arial"/>
                <a:cs typeface="Arial"/>
              </a:rPr>
              <a:t> </a:t>
            </a:r>
            <a:r>
              <a:rPr dirty="0" u="none" sz="4000" spc="-20">
                <a:latin typeface="Arial"/>
                <a:cs typeface="Arial"/>
              </a:rPr>
              <a:t>have </a:t>
            </a:r>
            <a:r>
              <a:rPr dirty="0" u="none" sz="4000">
                <a:latin typeface="Arial"/>
                <a:cs typeface="Arial"/>
              </a:rPr>
              <a:t>many</a:t>
            </a:r>
            <a:r>
              <a:rPr dirty="0" u="none" sz="4000" spc="-40">
                <a:latin typeface="Arial"/>
                <a:cs typeface="Arial"/>
              </a:rPr>
              <a:t> </a:t>
            </a:r>
            <a:r>
              <a:rPr dirty="0" u="none" sz="4000">
                <a:latin typeface="Arial"/>
                <a:cs typeface="Arial"/>
              </a:rPr>
              <a:t>examples</a:t>
            </a:r>
            <a:r>
              <a:rPr dirty="0" u="none" sz="4000" spc="-40">
                <a:latin typeface="Arial"/>
                <a:cs typeface="Arial"/>
              </a:rPr>
              <a:t> </a:t>
            </a:r>
            <a:r>
              <a:rPr dirty="0" u="none" sz="4000" spc="65">
                <a:latin typeface="Arial"/>
                <a:cs typeface="Arial"/>
              </a:rPr>
              <a:t>of</a:t>
            </a:r>
            <a:r>
              <a:rPr dirty="0" u="none" sz="4000" spc="-40">
                <a:latin typeface="Arial"/>
                <a:cs typeface="Arial"/>
              </a:rPr>
              <a:t> </a:t>
            </a:r>
            <a:r>
              <a:rPr dirty="0" u="none" sz="4000">
                <a:latin typeface="Arial"/>
                <a:cs typeface="Arial"/>
              </a:rPr>
              <a:t>time</a:t>
            </a:r>
            <a:r>
              <a:rPr dirty="0" u="none" sz="4000" spc="-35">
                <a:latin typeface="Arial"/>
                <a:cs typeface="Arial"/>
              </a:rPr>
              <a:t> </a:t>
            </a:r>
            <a:r>
              <a:rPr dirty="0" u="none" sz="4000">
                <a:latin typeface="Arial"/>
                <a:cs typeface="Arial"/>
              </a:rPr>
              <a:t>series</a:t>
            </a:r>
            <a:r>
              <a:rPr dirty="0" u="none" sz="4000" spc="-40">
                <a:latin typeface="Arial"/>
                <a:cs typeface="Arial"/>
              </a:rPr>
              <a:t> </a:t>
            </a:r>
            <a:r>
              <a:rPr dirty="0" u="none" sz="4000" spc="50">
                <a:latin typeface="Arial"/>
                <a:cs typeface="Arial"/>
              </a:rPr>
              <a:t>that</a:t>
            </a:r>
            <a:r>
              <a:rPr dirty="0" u="none" sz="4000" spc="-40">
                <a:latin typeface="Arial"/>
                <a:cs typeface="Arial"/>
              </a:rPr>
              <a:t> </a:t>
            </a:r>
            <a:r>
              <a:rPr dirty="0" u="none" sz="4000" spc="-25">
                <a:latin typeface="Arial"/>
                <a:cs typeface="Arial"/>
              </a:rPr>
              <a:t>we </a:t>
            </a:r>
            <a:r>
              <a:rPr dirty="0" u="none" sz="4000">
                <a:latin typeface="Arial"/>
                <a:cs typeface="Arial"/>
              </a:rPr>
              <a:t>will</a:t>
            </a:r>
            <a:r>
              <a:rPr dirty="0" u="none" sz="4000" spc="15">
                <a:latin typeface="Arial"/>
                <a:cs typeface="Arial"/>
              </a:rPr>
              <a:t> </a:t>
            </a:r>
            <a:r>
              <a:rPr dirty="0" u="none" sz="4000">
                <a:latin typeface="Arial"/>
                <a:cs typeface="Arial"/>
              </a:rPr>
              <a:t>use</a:t>
            </a:r>
            <a:r>
              <a:rPr dirty="0" u="none" sz="4000" spc="20">
                <a:latin typeface="Arial"/>
                <a:cs typeface="Arial"/>
              </a:rPr>
              <a:t> </a:t>
            </a:r>
            <a:r>
              <a:rPr dirty="0" u="none" sz="4000">
                <a:latin typeface="Arial"/>
                <a:cs typeface="Arial"/>
              </a:rPr>
              <a:t>in</a:t>
            </a:r>
            <a:r>
              <a:rPr dirty="0" u="none" sz="4000" spc="20">
                <a:latin typeface="Arial"/>
                <a:cs typeface="Arial"/>
              </a:rPr>
              <a:t> </a:t>
            </a:r>
            <a:r>
              <a:rPr dirty="0" u="none" sz="4000">
                <a:latin typeface="Arial"/>
                <a:cs typeface="Arial"/>
              </a:rPr>
              <a:t>this</a:t>
            </a:r>
            <a:r>
              <a:rPr dirty="0" u="none" sz="4000" spc="20">
                <a:latin typeface="Arial"/>
                <a:cs typeface="Arial"/>
              </a:rPr>
              <a:t> </a:t>
            </a:r>
            <a:r>
              <a:rPr dirty="0" u="none" sz="4000" spc="-10">
                <a:latin typeface="Arial"/>
                <a:cs typeface="Arial"/>
              </a:rPr>
              <a:t>class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22756" rIns="0" bIns="0" rtlCol="0" vert="horz">
            <a:spAutoFit/>
          </a:bodyPr>
          <a:lstStyle/>
          <a:p>
            <a:pPr marL="527685">
              <a:lnSpc>
                <a:spcPct val="100000"/>
              </a:lnSpc>
              <a:spcBef>
                <a:spcPts val="90"/>
              </a:spcBef>
            </a:pPr>
            <a:r>
              <a:rPr dirty="0" spc="-35"/>
              <a:t>US</a:t>
            </a:r>
            <a:r>
              <a:rPr dirty="0" spc="-375"/>
              <a:t> </a:t>
            </a:r>
            <a:r>
              <a:rPr dirty="0" spc="-140"/>
              <a:t>Population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34597" y="1919987"/>
            <a:ext cx="357759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Arial"/>
                <a:cs typeface="Arial"/>
              </a:rPr>
              <a:t>Population</a:t>
            </a:r>
            <a:r>
              <a:rPr dirty="0" sz="2000" spc="6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of</a:t>
            </a:r>
            <a:r>
              <a:rPr dirty="0" sz="2000" spc="6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the</a:t>
            </a:r>
            <a:r>
              <a:rPr dirty="0" sz="2000" spc="6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United</a:t>
            </a:r>
            <a:r>
              <a:rPr dirty="0" sz="2000" spc="6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States</a:t>
            </a:r>
            <a:endParaRPr sz="20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97877" y="2334577"/>
          <a:ext cx="4527550" cy="69316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09875"/>
                <a:gridCol w="1636395"/>
              </a:tblGrid>
              <a:tr h="367665"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600" spc="-10" b="1">
                          <a:latin typeface="Arial"/>
                          <a:cs typeface="Arial"/>
                        </a:rPr>
                        <a:t>observation_date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0640">
                    <a:lnL w="6350">
                      <a:solidFill>
                        <a:srgbClr val="A6A6A6"/>
                      </a:solidFill>
                      <a:prstDash val="solid"/>
                    </a:lnL>
                    <a:lnR w="6350">
                      <a:solidFill>
                        <a:srgbClr val="A6A6A6"/>
                      </a:solidFill>
                      <a:prstDash val="solid"/>
                    </a:lnR>
                    <a:lnT w="6350">
                      <a:solidFill>
                        <a:srgbClr val="A6A6A6"/>
                      </a:solidFill>
                      <a:prstDash val="solid"/>
                    </a:lnT>
                    <a:lnB w="9525">
                      <a:solidFill>
                        <a:srgbClr val="404040"/>
                      </a:solidFill>
                      <a:prstDash val="solid"/>
                    </a:lnB>
                    <a:solidFill>
                      <a:srgbClr val="BEC0BF"/>
                    </a:solidFill>
                  </a:tcPr>
                </a:tc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600" spc="-10" b="1">
                          <a:latin typeface="Arial"/>
                          <a:cs typeface="Arial"/>
                        </a:rPr>
                        <a:t>POPTHM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0640">
                    <a:lnL w="6350">
                      <a:solidFill>
                        <a:srgbClr val="A6A6A6"/>
                      </a:solidFill>
                      <a:prstDash val="solid"/>
                    </a:lnL>
                    <a:lnR w="6350">
                      <a:solidFill>
                        <a:srgbClr val="A6A6A6"/>
                      </a:solidFill>
                      <a:prstDash val="solid"/>
                    </a:lnR>
                    <a:lnT w="6350">
                      <a:solidFill>
                        <a:srgbClr val="A6A6A6"/>
                      </a:solidFill>
                      <a:prstDash val="solid"/>
                    </a:lnT>
                    <a:lnB w="9525">
                      <a:solidFill>
                        <a:srgbClr val="404040"/>
                      </a:solidFill>
                      <a:prstDash val="solid"/>
                    </a:lnB>
                    <a:solidFill>
                      <a:srgbClr val="BEC0BF"/>
                    </a:solidFill>
                  </a:tcPr>
                </a:tc>
              </a:tr>
              <a:tr h="367665"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600" b="1">
                          <a:latin typeface="Arial"/>
                          <a:cs typeface="Arial"/>
                        </a:rPr>
                        <a:t>1959-01-</a:t>
                      </a:r>
                      <a:r>
                        <a:rPr dirty="0" sz="1600" spc="-25" b="1">
                          <a:latin typeface="Arial"/>
                          <a:cs typeface="Arial"/>
                        </a:rPr>
                        <a:t>01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3180">
                    <a:lnL w="6350">
                      <a:solidFill>
                        <a:srgbClr val="A6A6A6"/>
                      </a:solidFill>
                      <a:prstDash val="solid"/>
                    </a:lnL>
                    <a:lnR w="9525">
                      <a:solidFill>
                        <a:srgbClr val="404040"/>
                      </a:solidFill>
                      <a:prstDash val="solid"/>
                    </a:lnR>
                    <a:lnT w="9525">
                      <a:solidFill>
                        <a:srgbClr val="404040"/>
                      </a:solidFill>
                      <a:prstDash val="solid"/>
                    </a:lnT>
                    <a:lnB w="6350">
                      <a:solidFill>
                        <a:srgbClr val="A6A6A6"/>
                      </a:solidFill>
                      <a:prstDash val="solid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508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600" spc="-10">
                          <a:latin typeface="Arial"/>
                          <a:cs typeface="Arial"/>
                        </a:rPr>
                        <a:t>175818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31750">
                    <a:lnL w="9525">
                      <a:solidFill>
                        <a:srgbClr val="404040"/>
                      </a:solidFill>
                      <a:prstDash val="solid"/>
                    </a:lnL>
                    <a:lnR w="6350">
                      <a:solidFill>
                        <a:srgbClr val="A6A6A6"/>
                      </a:solidFill>
                      <a:prstDash val="solid"/>
                    </a:lnR>
                    <a:lnT w="9525">
                      <a:solidFill>
                        <a:srgbClr val="404040"/>
                      </a:solidFill>
                      <a:prstDash val="solid"/>
                    </a:lnT>
                    <a:lnB w="6350">
                      <a:solidFill>
                        <a:srgbClr val="A6A6A6"/>
                      </a:solidFill>
                      <a:prstDash val="solid"/>
                    </a:lnB>
                  </a:tcPr>
                </a:tc>
              </a:tr>
              <a:tr h="364490"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600" b="1">
                          <a:latin typeface="Arial"/>
                          <a:cs typeface="Arial"/>
                        </a:rPr>
                        <a:t>1959-02-</a:t>
                      </a:r>
                      <a:r>
                        <a:rPr dirty="0" sz="1600" spc="-25" b="1">
                          <a:latin typeface="Arial"/>
                          <a:cs typeface="Arial"/>
                        </a:rPr>
                        <a:t>01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0640">
                    <a:lnL w="6350">
                      <a:solidFill>
                        <a:srgbClr val="A6A6A6"/>
                      </a:solidFill>
                      <a:prstDash val="solid"/>
                    </a:lnL>
                    <a:lnR w="9525">
                      <a:solidFill>
                        <a:srgbClr val="404040"/>
                      </a:solidFill>
                      <a:prstDash val="solid"/>
                    </a:lnR>
                    <a:lnT w="6350">
                      <a:solidFill>
                        <a:srgbClr val="A6A6A6"/>
                      </a:solidFill>
                      <a:prstDash val="solid"/>
                    </a:lnT>
                    <a:lnB w="6350">
                      <a:solidFill>
                        <a:srgbClr val="A6A6A6"/>
                      </a:solidFill>
                      <a:prstDash val="solid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508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600" spc="-10">
                          <a:latin typeface="Arial"/>
                          <a:cs typeface="Arial"/>
                        </a:rPr>
                        <a:t>176044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29209">
                    <a:lnL w="9525">
                      <a:solidFill>
                        <a:srgbClr val="404040"/>
                      </a:solidFill>
                      <a:prstDash val="solid"/>
                    </a:lnL>
                    <a:lnR w="6350">
                      <a:solidFill>
                        <a:srgbClr val="A6A6A6"/>
                      </a:solidFill>
                      <a:prstDash val="solid"/>
                    </a:lnR>
                    <a:lnT w="6350">
                      <a:solidFill>
                        <a:srgbClr val="A6A6A6"/>
                      </a:solidFill>
                      <a:prstDash val="solid"/>
                    </a:lnT>
                    <a:lnB w="6350">
                      <a:solidFill>
                        <a:srgbClr val="A6A6A6"/>
                      </a:solidFill>
                      <a:prstDash val="solid"/>
                    </a:lnB>
                  </a:tcPr>
                </a:tc>
              </a:tr>
              <a:tr h="364490"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600" b="1">
                          <a:latin typeface="Arial"/>
                          <a:cs typeface="Arial"/>
                        </a:rPr>
                        <a:t>1959-03-</a:t>
                      </a:r>
                      <a:r>
                        <a:rPr dirty="0" sz="1600" spc="-25" b="1">
                          <a:latin typeface="Arial"/>
                          <a:cs typeface="Arial"/>
                        </a:rPr>
                        <a:t>01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0640">
                    <a:lnL w="6350">
                      <a:solidFill>
                        <a:srgbClr val="A6A6A6"/>
                      </a:solidFill>
                      <a:prstDash val="solid"/>
                    </a:lnL>
                    <a:lnR w="9525">
                      <a:solidFill>
                        <a:srgbClr val="404040"/>
                      </a:solidFill>
                      <a:prstDash val="solid"/>
                    </a:lnR>
                    <a:lnT w="6350">
                      <a:solidFill>
                        <a:srgbClr val="A6A6A6"/>
                      </a:solidFill>
                      <a:prstDash val="solid"/>
                    </a:lnT>
                    <a:lnB w="6350">
                      <a:solidFill>
                        <a:srgbClr val="A6A6A6"/>
                      </a:solidFill>
                      <a:prstDash val="solid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508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600" spc="-10">
                          <a:latin typeface="Arial"/>
                          <a:cs typeface="Arial"/>
                        </a:rPr>
                        <a:t>176274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29209">
                    <a:lnL w="9525">
                      <a:solidFill>
                        <a:srgbClr val="404040"/>
                      </a:solidFill>
                      <a:prstDash val="solid"/>
                    </a:lnL>
                    <a:lnR w="6350">
                      <a:solidFill>
                        <a:srgbClr val="A6A6A6"/>
                      </a:solidFill>
                      <a:prstDash val="solid"/>
                    </a:lnR>
                    <a:lnT w="6350">
                      <a:solidFill>
                        <a:srgbClr val="A6A6A6"/>
                      </a:solidFill>
                      <a:prstDash val="solid"/>
                    </a:lnT>
                    <a:lnB w="6350">
                      <a:solidFill>
                        <a:srgbClr val="A6A6A6"/>
                      </a:solidFill>
                      <a:prstDash val="solid"/>
                    </a:lnB>
                  </a:tcPr>
                </a:tc>
              </a:tr>
              <a:tr h="364490"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600" b="1">
                          <a:latin typeface="Arial"/>
                          <a:cs typeface="Arial"/>
                        </a:rPr>
                        <a:t>1959-04-</a:t>
                      </a:r>
                      <a:r>
                        <a:rPr dirty="0" sz="1600" spc="-25" b="1">
                          <a:latin typeface="Arial"/>
                          <a:cs typeface="Arial"/>
                        </a:rPr>
                        <a:t>01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0640">
                    <a:lnL w="6350">
                      <a:solidFill>
                        <a:srgbClr val="A6A6A6"/>
                      </a:solidFill>
                      <a:prstDash val="solid"/>
                    </a:lnL>
                    <a:lnR w="9525">
                      <a:solidFill>
                        <a:srgbClr val="404040"/>
                      </a:solidFill>
                      <a:prstDash val="solid"/>
                    </a:lnR>
                    <a:lnT w="6350">
                      <a:solidFill>
                        <a:srgbClr val="A6A6A6"/>
                      </a:solidFill>
                      <a:prstDash val="solid"/>
                    </a:lnT>
                    <a:lnB w="6350">
                      <a:solidFill>
                        <a:srgbClr val="A6A6A6"/>
                      </a:solidFill>
                      <a:prstDash val="solid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508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600" spc="-10">
                          <a:latin typeface="Arial"/>
                          <a:cs typeface="Arial"/>
                        </a:rPr>
                        <a:t>176503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29209">
                    <a:lnL w="9525">
                      <a:solidFill>
                        <a:srgbClr val="404040"/>
                      </a:solidFill>
                      <a:prstDash val="solid"/>
                    </a:lnL>
                    <a:lnR w="6350">
                      <a:solidFill>
                        <a:srgbClr val="A6A6A6"/>
                      </a:solidFill>
                      <a:prstDash val="solid"/>
                    </a:lnR>
                    <a:lnT w="6350">
                      <a:solidFill>
                        <a:srgbClr val="A6A6A6"/>
                      </a:solidFill>
                      <a:prstDash val="solid"/>
                    </a:lnT>
                    <a:lnB w="6350">
                      <a:solidFill>
                        <a:srgbClr val="A6A6A6"/>
                      </a:solidFill>
                      <a:prstDash val="solid"/>
                    </a:lnB>
                  </a:tcPr>
                </a:tc>
              </a:tr>
              <a:tr h="364490"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600" b="1">
                          <a:latin typeface="Arial"/>
                          <a:cs typeface="Arial"/>
                        </a:rPr>
                        <a:t>1959-05-</a:t>
                      </a:r>
                      <a:r>
                        <a:rPr dirty="0" sz="1600" spc="-25" b="1">
                          <a:latin typeface="Arial"/>
                          <a:cs typeface="Arial"/>
                        </a:rPr>
                        <a:t>01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0640">
                    <a:lnL w="6350">
                      <a:solidFill>
                        <a:srgbClr val="A6A6A6"/>
                      </a:solidFill>
                      <a:prstDash val="solid"/>
                    </a:lnL>
                    <a:lnR w="9525">
                      <a:solidFill>
                        <a:srgbClr val="404040"/>
                      </a:solidFill>
                      <a:prstDash val="solid"/>
                    </a:lnR>
                    <a:lnT w="6350">
                      <a:solidFill>
                        <a:srgbClr val="A6A6A6"/>
                      </a:solidFill>
                      <a:prstDash val="solid"/>
                    </a:lnT>
                    <a:lnB w="6350">
                      <a:solidFill>
                        <a:srgbClr val="A6A6A6"/>
                      </a:solidFill>
                      <a:prstDash val="solid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508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600" spc="-10">
                          <a:latin typeface="Arial"/>
                          <a:cs typeface="Arial"/>
                        </a:rPr>
                        <a:t>176723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29209">
                    <a:lnL w="9525">
                      <a:solidFill>
                        <a:srgbClr val="404040"/>
                      </a:solidFill>
                      <a:prstDash val="solid"/>
                    </a:lnL>
                    <a:lnR w="6350">
                      <a:solidFill>
                        <a:srgbClr val="A6A6A6"/>
                      </a:solidFill>
                      <a:prstDash val="solid"/>
                    </a:lnR>
                    <a:lnT w="6350">
                      <a:solidFill>
                        <a:srgbClr val="A6A6A6"/>
                      </a:solidFill>
                      <a:prstDash val="solid"/>
                    </a:lnT>
                    <a:lnB w="6350">
                      <a:solidFill>
                        <a:srgbClr val="A6A6A6"/>
                      </a:solidFill>
                      <a:prstDash val="solid"/>
                    </a:lnB>
                  </a:tcPr>
                </a:tc>
              </a:tr>
              <a:tr h="364490"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600" b="1">
                          <a:latin typeface="Arial"/>
                          <a:cs typeface="Arial"/>
                        </a:rPr>
                        <a:t>1959-06-</a:t>
                      </a:r>
                      <a:r>
                        <a:rPr dirty="0" sz="1600" spc="-25" b="1">
                          <a:latin typeface="Arial"/>
                          <a:cs typeface="Arial"/>
                        </a:rPr>
                        <a:t>01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0640">
                    <a:lnL w="6350">
                      <a:solidFill>
                        <a:srgbClr val="A6A6A6"/>
                      </a:solidFill>
                      <a:prstDash val="solid"/>
                    </a:lnL>
                    <a:lnR w="9525">
                      <a:solidFill>
                        <a:srgbClr val="404040"/>
                      </a:solidFill>
                      <a:prstDash val="solid"/>
                    </a:lnR>
                    <a:lnT w="6350">
                      <a:solidFill>
                        <a:srgbClr val="A6A6A6"/>
                      </a:solidFill>
                      <a:prstDash val="solid"/>
                    </a:lnT>
                    <a:lnB w="6350">
                      <a:solidFill>
                        <a:srgbClr val="A6A6A6"/>
                      </a:solidFill>
                      <a:prstDash val="solid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508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600" spc="-10">
                          <a:latin typeface="Arial"/>
                          <a:cs typeface="Arial"/>
                        </a:rPr>
                        <a:t>176954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29209">
                    <a:lnL w="9525">
                      <a:solidFill>
                        <a:srgbClr val="404040"/>
                      </a:solidFill>
                      <a:prstDash val="solid"/>
                    </a:lnL>
                    <a:lnR w="6350">
                      <a:solidFill>
                        <a:srgbClr val="A6A6A6"/>
                      </a:solidFill>
                      <a:prstDash val="solid"/>
                    </a:lnR>
                    <a:lnT w="6350">
                      <a:solidFill>
                        <a:srgbClr val="A6A6A6"/>
                      </a:solidFill>
                      <a:prstDash val="solid"/>
                    </a:lnT>
                    <a:lnB w="6350">
                      <a:solidFill>
                        <a:srgbClr val="A6A6A6"/>
                      </a:solidFill>
                      <a:prstDash val="solid"/>
                    </a:lnB>
                  </a:tcPr>
                </a:tc>
              </a:tr>
              <a:tr h="364490"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600" b="1">
                          <a:latin typeface="Arial"/>
                          <a:cs typeface="Arial"/>
                        </a:rPr>
                        <a:t>1959-07-</a:t>
                      </a:r>
                      <a:r>
                        <a:rPr dirty="0" sz="1600" spc="-25" b="1">
                          <a:latin typeface="Arial"/>
                          <a:cs typeface="Arial"/>
                        </a:rPr>
                        <a:t>01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0640">
                    <a:lnL w="6350">
                      <a:solidFill>
                        <a:srgbClr val="A6A6A6"/>
                      </a:solidFill>
                      <a:prstDash val="solid"/>
                    </a:lnL>
                    <a:lnR w="9525">
                      <a:solidFill>
                        <a:srgbClr val="404040"/>
                      </a:solidFill>
                      <a:prstDash val="solid"/>
                    </a:lnR>
                    <a:lnT w="6350">
                      <a:solidFill>
                        <a:srgbClr val="A6A6A6"/>
                      </a:solidFill>
                      <a:prstDash val="solid"/>
                    </a:lnT>
                    <a:lnB w="6350">
                      <a:solidFill>
                        <a:srgbClr val="A6A6A6"/>
                      </a:solidFill>
                      <a:prstDash val="solid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508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600" spc="-10">
                          <a:latin typeface="Arial"/>
                          <a:cs typeface="Arial"/>
                        </a:rPr>
                        <a:t>177208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29209">
                    <a:lnL w="9525">
                      <a:solidFill>
                        <a:srgbClr val="404040"/>
                      </a:solidFill>
                      <a:prstDash val="solid"/>
                    </a:lnL>
                    <a:lnR w="6350">
                      <a:solidFill>
                        <a:srgbClr val="A6A6A6"/>
                      </a:solidFill>
                      <a:prstDash val="solid"/>
                    </a:lnR>
                    <a:lnT w="6350">
                      <a:solidFill>
                        <a:srgbClr val="A6A6A6"/>
                      </a:solidFill>
                      <a:prstDash val="solid"/>
                    </a:lnT>
                    <a:lnB w="6350">
                      <a:solidFill>
                        <a:srgbClr val="A6A6A6"/>
                      </a:solidFill>
                      <a:prstDash val="solid"/>
                    </a:lnB>
                  </a:tcPr>
                </a:tc>
              </a:tr>
              <a:tr h="364490"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600" b="1">
                          <a:latin typeface="Arial"/>
                          <a:cs typeface="Arial"/>
                        </a:rPr>
                        <a:t>1959-08-</a:t>
                      </a:r>
                      <a:r>
                        <a:rPr dirty="0" sz="1600" spc="-25" b="1">
                          <a:latin typeface="Arial"/>
                          <a:cs typeface="Arial"/>
                        </a:rPr>
                        <a:t>01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0640">
                    <a:lnL w="6350">
                      <a:solidFill>
                        <a:srgbClr val="A6A6A6"/>
                      </a:solidFill>
                      <a:prstDash val="solid"/>
                    </a:lnL>
                    <a:lnR w="9525">
                      <a:solidFill>
                        <a:srgbClr val="404040"/>
                      </a:solidFill>
                      <a:prstDash val="solid"/>
                    </a:lnR>
                    <a:lnT w="6350">
                      <a:solidFill>
                        <a:srgbClr val="A6A6A6"/>
                      </a:solidFill>
                      <a:prstDash val="solid"/>
                    </a:lnT>
                    <a:lnB w="6350">
                      <a:solidFill>
                        <a:srgbClr val="A6A6A6"/>
                      </a:solidFill>
                      <a:prstDash val="solid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508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600" spc="-10">
                          <a:latin typeface="Arial"/>
                          <a:cs typeface="Arial"/>
                        </a:rPr>
                        <a:t>177479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29209">
                    <a:lnL w="9525">
                      <a:solidFill>
                        <a:srgbClr val="404040"/>
                      </a:solidFill>
                      <a:prstDash val="solid"/>
                    </a:lnL>
                    <a:lnR w="6350">
                      <a:solidFill>
                        <a:srgbClr val="A6A6A6"/>
                      </a:solidFill>
                      <a:prstDash val="solid"/>
                    </a:lnR>
                    <a:lnT w="6350">
                      <a:solidFill>
                        <a:srgbClr val="A6A6A6"/>
                      </a:solidFill>
                      <a:prstDash val="solid"/>
                    </a:lnT>
                    <a:lnB w="6350">
                      <a:solidFill>
                        <a:srgbClr val="A6A6A6"/>
                      </a:solidFill>
                      <a:prstDash val="solid"/>
                    </a:lnB>
                  </a:tcPr>
                </a:tc>
              </a:tr>
              <a:tr h="364490"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600" b="1">
                          <a:latin typeface="Arial"/>
                          <a:cs typeface="Arial"/>
                        </a:rPr>
                        <a:t>1959-09-</a:t>
                      </a:r>
                      <a:r>
                        <a:rPr dirty="0" sz="1600" spc="-25" b="1">
                          <a:latin typeface="Arial"/>
                          <a:cs typeface="Arial"/>
                        </a:rPr>
                        <a:t>01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0640">
                    <a:lnL w="6350">
                      <a:solidFill>
                        <a:srgbClr val="A6A6A6"/>
                      </a:solidFill>
                      <a:prstDash val="solid"/>
                    </a:lnL>
                    <a:lnR w="9525">
                      <a:solidFill>
                        <a:srgbClr val="404040"/>
                      </a:solidFill>
                      <a:prstDash val="solid"/>
                    </a:lnR>
                    <a:lnT w="6350">
                      <a:solidFill>
                        <a:srgbClr val="A6A6A6"/>
                      </a:solidFill>
                      <a:prstDash val="solid"/>
                    </a:lnT>
                    <a:lnB w="6350">
                      <a:solidFill>
                        <a:srgbClr val="A6A6A6"/>
                      </a:solidFill>
                      <a:prstDash val="solid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508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600" spc="-10">
                          <a:latin typeface="Arial"/>
                          <a:cs typeface="Arial"/>
                        </a:rPr>
                        <a:t>177755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29209">
                    <a:lnL w="9525">
                      <a:solidFill>
                        <a:srgbClr val="404040"/>
                      </a:solidFill>
                      <a:prstDash val="solid"/>
                    </a:lnL>
                    <a:lnR w="6350">
                      <a:solidFill>
                        <a:srgbClr val="A6A6A6"/>
                      </a:solidFill>
                      <a:prstDash val="solid"/>
                    </a:lnR>
                    <a:lnT w="6350">
                      <a:solidFill>
                        <a:srgbClr val="A6A6A6"/>
                      </a:solidFill>
                      <a:prstDash val="solid"/>
                    </a:lnT>
                    <a:lnB w="6350">
                      <a:solidFill>
                        <a:srgbClr val="A6A6A6"/>
                      </a:solidFill>
                      <a:prstDash val="solid"/>
                    </a:lnB>
                  </a:tcPr>
                </a:tc>
              </a:tr>
              <a:tr h="364490"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600" b="1">
                          <a:latin typeface="Arial"/>
                          <a:cs typeface="Arial"/>
                        </a:rPr>
                        <a:t>1959-10-</a:t>
                      </a:r>
                      <a:r>
                        <a:rPr dirty="0" sz="1600" spc="-25" b="1">
                          <a:latin typeface="Arial"/>
                          <a:cs typeface="Arial"/>
                        </a:rPr>
                        <a:t>01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0640">
                    <a:lnL w="6350">
                      <a:solidFill>
                        <a:srgbClr val="A6A6A6"/>
                      </a:solidFill>
                      <a:prstDash val="solid"/>
                    </a:lnL>
                    <a:lnR w="9525">
                      <a:solidFill>
                        <a:srgbClr val="404040"/>
                      </a:solidFill>
                      <a:prstDash val="solid"/>
                    </a:lnR>
                    <a:lnT w="6350">
                      <a:solidFill>
                        <a:srgbClr val="A6A6A6"/>
                      </a:solidFill>
                      <a:prstDash val="solid"/>
                    </a:lnT>
                    <a:lnB w="6350">
                      <a:solidFill>
                        <a:srgbClr val="A6A6A6"/>
                      </a:solidFill>
                      <a:prstDash val="solid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508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600" spc="-10">
                          <a:latin typeface="Arial"/>
                          <a:cs typeface="Arial"/>
                        </a:rPr>
                        <a:t>178026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29209">
                    <a:lnL w="9525">
                      <a:solidFill>
                        <a:srgbClr val="404040"/>
                      </a:solidFill>
                      <a:prstDash val="solid"/>
                    </a:lnL>
                    <a:lnR w="6350">
                      <a:solidFill>
                        <a:srgbClr val="A6A6A6"/>
                      </a:solidFill>
                      <a:prstDash val="solid"/>
                    </a:lnR>
                    <a:lnT w="6350">
                      <a:solidFill>
                        <a:srgbClr val="A6A6A6"/>
                      </a:solidFill>
                      <a:prstDash val="solid"/>
                    </a:lnT>
                    <a:lnB w="6350">
                      <a:solidFill>
                        <a:srgbClr val="A6A6A6"/>
                      </a:solidFill>
                      <a:prstDash val="solid"/>
                    </a:lnB>
                  </a:tcPr>
                </a:tc>
              </a:tr>
              <a:tr h="364490"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600" b="1">
                          <a:latin typeface="Arial"/>
                          <a:cs typeface="Arial"/>
                        </a:rPr>
                        <a:t>1959-11-</a:t>
                      </a:r>
                      <a:r>
                        <a:rPr dirty="0" sz="1600" spc="-25" b="1">
                          <a:latin typeface="Arial"/>
                          <a:cs typeface="Arial"/>
                        </a:rPr>
                        <a:t>01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0640">
                    <a:lnL w="6350">
                      <a:solidFill>
                        <a:srgbClr val="A6A6A6"/>
                      </a:solidFill>
                      <a:prstDash val="solid"/>
                    </a:lnL>
                    <a:lnR w="9525">
                      <a:solidFill>
                        <a:srgbClr val="404040"/>
                      </a:solidFill>
                      <a:prstDash val="solid"/>
                    </a:lnR>
                    <a:lnT w="6350">
                      <a:solidFill>
                        <a:srgbClr val="A6A6A6"/>
                      </a:solidFill>
                      <a:prstDash val="solid"/>
                    </a:lnT>
                    <a:lnB w="6350">
                      <a:solidFill>
                        <a:srgbClr val="A6A6A6"/>
                      </a:solidFill>
                      <a:prstDash val="solid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508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600" spc="-10">
                          <a:latin typeface="Arial"/>
                          <a:cs typeface="Arial"/>
                        </a:rPr>
                        <a:t>178273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29209">
                    <a:lnL w="9525">
                      <a:solidFill>
                        <a:srgbClr val="404040"/>
                      </a:solidFill>
                      <a:prstDash val="solid"/>
                    </a:lnL>
                    <a:lnR w="6350">
                      <a:solidFill>
                        <a:srgbClr val="A6A6A6"/>
                      </a:solidFill>
                      <a:prstDash val="solid"/>
                    </a:lnR>
                    <a:lnT w="6350">
                      <a:solidFill>
                        <a:srgbClr val="A6A6A6"/>
                      </a:solidFill>
                      <a:prstDash val="solid"/>
                    </a:lnT>
                    <a:lnB w="6350">
                      <a:solidFill>
                        <a:srgbClr val="A6A6A6"/>
                      </a:solidFill>
                      <a:prstDash val="solid"/>
                    </a:lnB>
                  </a:tcPr>
                </a:tc>
              </a:tr>
              <a:tr h="364490"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600" b="1">
                          <a:latin typeface="Arial"/>
                          <a:cs typeface="Arial"/>
                        </a:rPr>
                        <a:t>1959-12-</a:t>
                      </a:r>
                      <a:r>
                        <a:rPr dirty="0" sz="1600" spc="-25" b="1">
                          <a:latin typeface="Arial"/>
                          <a:cs typeface="Arial"/>
                        </a:rPr>
                        <a:t>01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0640">
                    <a:lnL w="6350">
                      <a:solidFill>
                        <a:srgbClr val="A6A6A6"/>
                      </a:solidFill>
                      <a:prstDash val="solid"/>
                    </a:lnL>
                    <a:lnR w="9525">
                      <a:solidFill>
                        <a:srgbClr val="404040"/>
                      </a:solidFill>
                      <a:prstDash val="solid"/>
                    </a:lnR>
                    <a:lnT w="6350">
                      <a:solidFill>
                        <a:srgbClr val="A6A6A6"/>
                      </a:solidFill>
                      <a:prstDash val="solid"/>
                    </a:lnT>
                    <a:lnB w="6350">
                      <a:solidFill>
                        <a:srgbClr val="A6A6A6"/>
                      </a:solidFill>
                      <a:prstDash val="solid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508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600" spc="-10">
                          <a:latin typeface="Arial"/>
                          <a:cs typeface="Arial"/>
                        </a:rPr>
                        <a:t>178504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29209">
                    <a:lnL w="9525">
                      <a:solidFill>
                        <a:srgbClr val="404040"/>
                      </a:solidFill>
                      <a:prstDash val="solid"/>
                    </a:lnL>
                    <a:lnR w="6350">
                      <a:solidFill>
                        <a:srgbClr val="A6A6A6"/>
                      </a:solidFill>
                      <a:prstDash val="solid"/>
                    </a:lnR>
                    <a:lnT w="6350">
                      <a:solidFill>
                        <a:srgbClr val="A6A6A6"/>
                      </a:solidFill>
                      <a:prstDash val="solid"/>
                    </a:lnT>
                    <a:lnB w="6350">
                      <a:solidFill>
                        <a:srgbClr val="A6A6A6"/>
                      </a:solidFill>
                      <a:prstDash val="solid"/>
                    </a:lnB>
                  </a:tcPr>
                </a:tc>
              </a:tr>
              <a:tr h="364490"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600" b="1">
                          <a:latin typeface="Arial"/>
                          <a:cs typeface="Arial"/>
                        </a:rPr>
                        <a:t>1960-01-</a:t>
                      </a:r>
                      <a:r>
                        <a:rPr dirty="0" sz="1600" spc="-25" b="1">
                          <a:latin typeface="Arial"/>
                          <a:cs typeface="Arial"/>
                        </a:rPr>
                        <a:t>01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0640">
                    <a:lnL w="6350">
                      <a:solidFill>
                        <a:srgbClr val="A6A6A6"/>
                      </a:solidFill>
                      <a:prstDash val="solid"/>
                    </a:lnL>
                    <a:lnR w="9525">
                      <a:solidFill>
                        <a:srgbClr val="404040"/>
                      </a:solidFill>
                      <a:prstDash val="solid"/>
                    </a:lnR>
                    <a:lnT w="6350">
                      <a:solidFill>
                        <a:srgbClr val="A6A6A6"/>
                      </a:solidFill>
                      <a:prstDash val="solid"/>
                    </a:lnT>
                    <a:lnB w="6350">
                      <a:solidFill>
                        <a:srgbClr val="A6A6A6"/>
                      </a:solidFill>
                      <a:prstDash val="solid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508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600" spc="-10">
                          <a:latin typeface="Arial"/>
                          <a:cs typeface="Arial"/>
                        </a:rPr>
                        <a:t>178925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29209">
                    <a:lnL w="9525">
                      <a:solidFill>
                        <a:srgbClr val="404040"/>
                      </a:solidFill>
                      <a:prstDash val="solid"/>
                    </a:lnL>
                    <a:lnR w="6350">
                      <a:solidFill>
                        <a:srgbClr val="A6A6A6"/>
                      </a:solidFill>
                      <a:prstDash val="solid"/>
                    </a:lnR>
                    <a:lnT w="6350">
                      <a:solidFill>
                        <a:srgbClr val="A6A6A6"/>
                      </a:solidFill>
                      <a:prstDash val="solid"/>
                    </a:lnT>
                    <a:lnB w="6350">
                      <a:solidFill>
                        <a:srgbClr val="A6A6A6"/>
                      </a:solidFill>
                      <a:prstDash val="solid"/>
                    </a:lnB>
                  </a:tcPr>
                </a:tc>
              </a:tr>
              <a:tr h="364490"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600" b="1">
                          <a:latin typeface="Arial"/>
                          <a:cs typeface="Arial"/>
                        </a:rPr>
                        <a:t>1960-02-</a:t>
                      </a:r>
                      <a:r>
                        <a:rPr dirty="0" sz="1600" spc="-25" b="1">
                          <a:latin typeface="Arial"/>
                          <a:cs typeface="Arial"/>
                        </a:rPr>
                        <a:t>01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0640">
                    <a:lnL w="6350">
                      <a:solidFill>
                        <a:srgbClr val="A6A6A6"/>
                      </a:solidFill>
                      <a:prstDash val="solid"/>
                    </a:lnL>
                    <a:lnR w="9525">
                      <a:solidFill>
                        <a:srgbClr val="404040"/>
                      </a:solidFill>
                      <a:prstDash val="solid"/>
                    </a:lnR>
                    <a:lnT w="6350">
                      <a:solidFill>
                        <a:srgbClr val="A6A6A6"/>
                      </a:solidFill>
                      <a:prstDash val="solid"/>
                    </a:lnT>
                    <a:lnB w="6350">
                      <a:solidFill>
                        <a:srgbClr val="A6A6A6"/>
                      </a:solidFill>
                      <a:prstDash val="solid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508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600" spc="-10">
                          <a:latin typeface="Arial"/>
                          <a:cs typeface="Arial"/>
                        </a:rPr>
                        <a:t>179326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29209">
                    <a:lnL w="9525">
                      <a:solidFill>
                        <a:srgbClr val="404040"/>
                      </a:solidFill>
                      <a:prstDash val="solid"/>
                    </a:lnL>
                    <a:lnR w="6350">
                      <a:solidFill>
                        <a:srgbClr val="A6A6A6"/>
                      </a:solidFill>
                      <a:prstDash val="solid"/>
                    </a:lnR>
                    <a:lnT w="6350">
                      <a:solidFill>
                        <a:srgbClr val="A6A6A6"/>
                      </a:solidFill>
                      <a:prstDash val="solid"/>
                    </a:lnT>
                    <a:lnB w="6350">
                      <a:solidFill>
                        <a:srgbClr val="A6A6A6"/>
                      </a:solidFill>
                      <a:prstDash val="solid"/>
                    </a:lnB>
                  </a:tcPr>
                </a:tc>
              </a:tr>
              <a:tr h="364490"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600" b="1">
                          <a:latin typeface="Arial"/>
                          <a:cs typeface="Arial"/>
                        </a:rPr>
                        <a:t>1960-03-</a:t>
                      </a:r>
                      <a:r>
                        <a:rPr dirty="0" sz="1600" spc="-25" b="1">
                          <a:latin typeface="Arial"/>
                          <a:cs typeface="Arial"/>
                        </a:rPr>
                        <a:t>01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0640">
                    <a:lnL w="6350">
                      <a:solidFill>
                        <a:srgbClr val="A6A6A6"/>
                      </a:solidFill>
                      <a:prstDash val="solid"/>
                    </a:lnL>
                    <a:lnR w="9525">
                      <a:solidFill>
                        <a:srgbClr val="404040"/>
                      </a:solidFill>
                      <a:prstDash val="solid"/>
                    </a:lnR>
                    <a:lnT w="6350">
                      <a:solidFill>
                        <a:srgbClr val="A6A6A6"/>
                      </a:solidFill>
                      <a:prstDash val="solid"/>
                    </a:lnT>
                    <a:lnB w="6350">
                      <a:solidFill>
                        <a:srgbClr val="A6A6A6"/>
                      </a:solidFill>
                      <a:prstDash val="solid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508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600" spc="-10">
                          <a:latin typeface="Arial"/>
                          <a:cs typeface="Arial"/>
                        </a:rPr>
                        <a:t>179707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29209">
                    <a:lnL w="9525">
                      <a:solidFill>
                        <a:srgbClr val="404040"/>
                      </a:solidFill>
                      <a:prstDash val="solid"/>
                    </a:lnL>
                    <a:lnR w="6350">
                      <a:solidFill>
                        <a:srgbClr val="A6A6A6"/>
                      </a:solidFill>
                      <a:prstDash val="solid"/>
                    </a:lnR>
                    <a:lnT w="6350">
                      <a:solidFill>
                        <a:srgbClr val="A6A6A6"/>
                      </a:solidFill>
                      <a:prstDash val="solid"/>
                    </a:lnT>
                    <a:lnB w="6350">
                      <a:solidFill>
                        <a:srgbClr val="A6A6A6"/>
                      </a:solidFill>
                      <a:prstDash val="solid"/>
                    </a:lnB>
                  </a:tcPr>
                </a:tc>
              </a:tr>
              <a:tr h="364490"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600" b="1">
                          <a:latin typeface="Arial"/>
                          <a:cs typeface="Arial"/>
                        </a:rPr>
                        <a:t>1960-04-</a:t>
                      </a:r>
                      <a:r>
                        <a:rPr dirty="0" sz="1600" spc="-25" b="1">
                          <a:latin typeface="Arial"/>
                          <a:cs typeface="Arial"/>
                        </a:rPr>
                        <a:t>01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0640">
                    <a:lnL w="6350">
                      <a:solidFill>
                        <a:srgbClr val="A6A6A6"/>
                      </a:solidFill>
                      <a:prstDash val="solid"/>
                    </a:lnL>
                    <a:lnR w="9525">
                      <a:solidFill>
                        <a:srgbClr val="404040"/>
                      </a:solidFill>
                      <a:prstDash val="solid"/>
                    </a:lnR>
                    <a:lnT w="6350">
                      <a:solidFill>
                        <a:srgbClr val="A6A6A6"/>
                      </a:solidFill>
                      <a:prstDash val="solid"/>
                    </a:lnT>
                    <a:lnB w="6350">
                      <a:solidFill>
                        <a:srgbClr val="A6A6A6"/>
                      </a:solidFill>
                      <a:prstDash val="solid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508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600" spc="-10">
                          <a:latin typeface="Arial"/>
                          <a:cs typeface="Arial"/>
                        </a:rPr>
                        <a:t>180067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29209">
                    <a:lnL w="9525">
                      <a:solidFill>
                        <a:srgbClr val="404040"/>
                      </a:solidFill>
                      <a:prstDash val="solid"/>
                    </a:lnL>
                    <a:lnR w="6350">
                      <a:solidFill>
                        <a:srgbClr val="A6A6A6"/>
                      </a:solidFill>
                      <a:prstDash val="solid"/>
                    </a:lnR>
                    <a:lnT w="6350">
                      <a:solidFill>
                        <a:srgbClr val="A6A6A6"/>
                      </a:solidFill>
                      <a:prstDash val="solid"/>
                    </a:lnT>
                    <a:lnB w="6350">
                      <a:solidFill>
                        <a:srgbClr val="A6A6A6"/>
                      </a:solidFill>
                      <a:prstDash val="solid"/>
                    </a:lnB>
                  </a:tcPr>
                </a:tc>
              </a:tr>
              <a:tr h="364490"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600" b="1">
                          <a:latin typeface="Arial"/>
                          <a:cs typeface="Arial"/>
                        </a:rPr>
                        <a:t>1960-05-</a:t>
                      </a:r>
                      <a:r>
                        <a:rPr dirty="0" sz="1600" spc="-25" b="1">
                          <a:latin typeface="Arial"/>
                          <a:cs typeface="Arial"/>
                        </a:rPr>
                        <a:t>01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0640">
                    <a:lnL w="6350">
                      <a:solidFill>
                        <a:srgbClr val="A6A6A6"/>
                      </a:solidFill>
                      <a:prstDash val="solid"/>
                    </a:lnL>
                    <a:lnR w="9525">
                      <a:solidFill>
                        <a:srgbClr val="404040"/>
                      </a:solidFill>
                      <a:prstDash val="solid"/>
                    </a:lnR>
                    <a:lnT w="6350">
                      <a:solidFill>
                        <a:srgbClr val="A6A6A6"/>
                      </a:solidFill>
                      <a:prstDash val="solid"/>
                    </a:lnT>
                    <a:lnB w="6350">
                      <a:solidFill>
                        <a:srgbClr val="A6A6A6"/>
                      </a:solidFill>
                      <a:prstDash val="solid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508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600" spc="-10">
                          <a:latin typeface="Arial"/>
                          <a:cs typeface="Arial"/>
                        </a:rPr>
                        <a:t>180408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29209">
                    <a:lnL w="9525">
                      <a:solidFill>
                        <a:srgbClr val="404040"/>
                      </a:solidFill>
                      <a:prstDash val="solid"/>
                    </a:lnL>
                    <a:lnR w="6350">
                      <a:solidFill>
                        <a:srgbClr val="A6A6A6"/>
                      </a:solidFill>
                      <a:prstDash val="solid"/>
                    </a:lnR>
                    <a:lnT w="6350">
                      <a:solidFill>
                        <a:srgbClr val="A6A6A6"/>
                      </a:solidFill>
                      <a:prstDash val="solid"/>
                    </a:lnT>
                    <a:lnB w="6350">
                      <a:solidFill>
                        <a:srgbClr val="A6A6A6"/>
                      </a:solidFill>
                      <a:prstDash val="solid"/>
                    </a:lnB>
                  </a:tcPr>
                </a:tc>
              </a:tr>
              <a:tr h="364490"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600" b="1">
                          <a:latin typeface="Arial"/>
                          <a:cs typeface="Arial"/>
                        </a:rPr>
                        <a:t>1960-06-</a:t>
                      </a:r>
                      <a:r>
                        <a:rPr dirty="0" sz="1600" spc="-25" b="1">
                          <a:latin typeface="Arial"/>
                          <a:cs typeface="Arial"/>
                        </a:rPr>
                        <a:t>01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40640">
                    <a:lnL w="6350">
                      <a:solidFill>
                        <a:srgbClr val="A6A6A6"/>
                      </a:solidFill>
                      <a:prstDash val="solid"/>
                    </a:lnL>
                    <a:lnR w="9525">
                      <a:solidFill>
                        <a:srgbClr val="404040"/>
                      </a:solidFill>
                      <a:prstDash val="solid"/>
                    </a:lnR>
                    <a:lnT w="6350">
                      <a:solidFill>
                        <a:srgbClr val="A6A6A6"/>
                      </a:solidFill>
                      <a:prstDash val="solid"/>
                    </a:lnT>
                    <a:lnB w="6350">
                      <a:solidFill>
                        <a:srgbClr val="A6A6A6"/>
                      </a:solidFill>
                      <a:prstDash val="solid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r" marR="4508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600" spc="-10">
                          <a:latin typeface="Arial"/>
                          <a:cs typeface="Arial"/>
                        </a:rPr>
                        <a:t>180728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29209">
                    <a:lnL w="9525">
                      <a:solidFill>
                        <a:srgbClr val="404040"/>
                      </a:solidFill>
                      <a:prstDash val="solid"/>
                    </a:lnL>
                    <a:lnR w="6350">
                      <a:solidFill>
                        <a:srgbClr val="A6A6A6"/>
                      </a:solidFill>
                      <a:prstDash val="solid"/>
                    </a:lnR>
                    <a:lnT w="6350">
                      <a:solidFill>
                        <a:srgbClr val="A6A6A6"/>
                      </a:solidFill>
                      <a:prstDash val="solid"/>
                    </a:lnT>
                    <a:lnB w="6350">
                      <a:solidFill>
                        <a:srgbClr val="A6A6A6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5743855" y="3922534"/>
            <a:ext cx="6781800" cy="3241675"/>
          </a:xfrm>
          <a:prstGeom prst="rect">
            <a:avLst/>
          </a:prstGeom>
        </p:spPr>
        <p:txBody>
          <a:bodyPr wrap="square" lIns="0" tIns="80645" rIns="0" bIns="0" rtlCol="0" vert="horz">
            <a:spAutoFit/>
          </a:bodyPr>
          <a:lstStyle/>
          <a:p>
            <a:pPr marL="520700" marR="5080" indent="-508000">
              <a:lnSpc>
                <a:spcPts val="4330"/>
              </a:lnSpc>
              <a:spcBef>
                <a:spcPts val="635"/>
              </a:spcBef>
              <a:buSzPct val="122500"/>
              <a:buChar char="•"/>
              <a:tabLst>
                <a:tab pos="520700" algn="l"/>
              </a:tabLst>
            </a:pPr>
            <a:r>
              <a:rPr dirty="0" sz="4000">
                <a:latin typeface="Arial"/>
                <a:cs typeface="Arial"/>
              </a:rPr>
              <a:t>Units</a:t>
            </a:r>
            <a:r>
              <a:rPr dirty="0" sz="4000" spc="1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are</a:t>
            </a:r>
            <a:r>
              <a:rPr dirty="0" sz="4000" spc="1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thousands</a:t>
            </a:r>
            <a:r>
              <a:rPr dirty="0" sz="4000" spc="1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so</a:t>
            </a:r>
            <a:r>
              <a:rPr dirty="0" sz="4000" spc="10">
                <a:latin typeface="Arial"/>
                <a:cs typeface="Arial"/>
              </a:rPr>
              <a:t> </a:t>
            </a:r>
            <a:r>
              <a:rPr dirty="0" sz="4000" spc="30">
                <a:latin typeface="Arial"/>
                <a:cs typeface="Arial"/>
              </a:rPr>
              <a:t>that </a:t>
            </a:r>
            <a:r>
              <a:rPr dirty="0" sz="4000">
                <a:latin typeface="Arial"/>
                <a:cs typeface="Arial"/>
              </a:rPr>
              <a:t>300,000</a:t>
            </a:r>
            <a:r>
              <a:rPr dirty="0" sz="4000" spc="-6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actually</a:t>
            </a:r>
            <a:r>
              <a:rPr dirty="0" sz="4000" spc="-6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refers</a:t>
            </a:r>
            <a:r>
              <a:rPr dirty="0" sz="4000" spc="-65">
                <a:latin typeface="Arial"/>
                <a:cs typeface="Arial"/>
              </a:rPr>
              <a:t> </a:t>
            </a:r>
            <a:r>
              <a:rPr dirty="0" sz="4000" spc="75">
                <a:latin typeface="Arial"/>
                <a:cs typeface="Arial"/>
              </a:rPr>
              <a:t>to </a:t>
            </a:r>
            <a:r>
              <a:rPr dirty="0" sz="4000">
                <a:latin typeface="Arial"/>
                <a:cs typeface="Arial"/>
              </a:rPr>
              <a:t>300</a:t>
            </a:r>
            <a:r>
              <a:rPr dirty="0" sz="4000" spc="-70">
                <a:latin typeface="Arial"/>
                <a:cs typeface="Arial"/>
              </a:rPr>
              <a:t> </a:t>
            </a:r>
            <a:r>
              <a:rPr dirty="0" sz="4000" spc="-10">
                <a:latin typeface="Arial"/>
                <a:cs typeface="Arial"/>
              </a:rPr>
              <a:t>million</a:t>
            </a:r>
            <a:endParaRPr sz="4000">
              <a:latin typeface="Arial"/>
              <a:cs typeface="Arial"/>
            </a:endParaRPr>
          </a:p>
          <a:p>
            <a:pPr marL="520700" marR="15240" indent="-508000">
              <a:lnSpc>
                <a:spcPts val="4330"/>
              </a:lnSpc>
              <a:spcBef>
                <a:spcPts val="3204"/>
              </a:spcBef>
              <a:buSzPct val="122500"/>
              <a:buChar char="•"/>
              <a:tabLst>
                <a:tab pos="520700" algn="l"/>
              </a:tabLst>
            </a:pPr>
            <a:r>
              <a:rPr dirty="0" sz="4000">
                <a:latin typeface="Arial"/>
                <a:cs typeface="Arial"/>
              </a:rPr>
              <a:t>This</a:t>
            </a:r>
            <a:r>
              <a:rPr dirty="0" sz="4000" spc="-1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dataset</a:t>
            </a:r>
            <a:r>
              <a:rPr dirty="0" sz="4000" spc="-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is</a:t>
            </a:r>
            <a:r>
              <a:rPr dirty="0" sz="4000" spc="-5">
                <a:latin typeface="Arial"/>
                <a:cs typeface="Arial"/>
              </a:rPr>
              <a:t> </a:t>
            </a:r>
            <a:r>
              <a:rPr dirty="0" sz="4000" spc="-10">
                <a:latin typeface="Arial"/>
                <a:cs typeface="Arial"/>
              </a:rPr>
              <a:t>downloaded </a:t>
            </a:r>
            <a:r>
              <a:rPr dirty="0" sz="4000">
                <a:latin typeface="Arial"/>
                <a:cs typeface="Arial"/>
              </a:rPr>
              <a:t>from</a:t>
            </a:r>
            <a:r>
              <a:rPr dirty="0" sz="4000" spc="85">
                <a:latin typeface="Arial"/>
                <a:cs typeface="Arial"/>
              </a:rPr>
              <a:t> </a:t>
            </a:r>
            <a:r>
              <a:rPr dirty="0" sz="4000" spc="-20">
                <a:latin typeface="Arial"/>
                <a:cs typeface="Arial"/>
              </a:rPr>
              <a:t>FRED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2582" y="660261"/>
            <a:ext cx="12001452" cy="841913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22756" rIns="0" bIns="0" rtlCol="0" vert="horz">
            <a:spAutoFit/>
          </a:bodyPr>
          <a:lstStyle/>
          <a:p>
            <a:pPr marL="527685">
              <a:lnSpc>
                <a:spcPct val="100000"/>
              </a:lnSpc>
              <a:spcBef>
                <a:spcPts val="90"/>
              </a:spcBef>
            </a:pPr>
            <a:r>
              <a:rPr dirty="0" spc="-165"/>
              <a:t>Questions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66659" y="2010767"/>
            <a:ext cx="10845800" cy="5704840"/>
          </a:xfrm>
          <a:prstGeom prst="rect">
            <a:avLst/>
          </a:prstGeom>
        </p:spPr>
        <p:txBody>
          <a:bodyPr wrap="square" lIns="0" tIns="80645" rIns="0" bIns="0" rtlCol="0" vert="horz">
            <a:spAutoFit/>
          </a:bodyPr>
          <a:lstStyle/>
          <a:p>
            <a:pPr marL="520065" marR="274955" indent="-508000">
              <a:lnSpc>
                <a:spcPts val="4330"/>
              </a:lnSpc>
              <a:spcBef>
                <a:spcPts val="635"/>
              </a:spcBef>
              <a:buSzPct val="122500"/>
              <a:buChar char="•"/>
              <a:tabLst>
                <a:tab pos="520065" algn="l"/>
              </a:tabLst>
            </a:pPr>
            <a:r>
              <a:rPr dirty="0" sz="4000">
                <a:latin typeface="Arial"/>
                <a:cs typeface="Arial"/>
              </a:rPr>
              <a:t>Prediction:</a:t>
            </a:r>
            <a:r>
              <a:rPr dirty="0" sz="4000" spc="3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what</a:t>
            </a:r>
            <a:r>
              <a:rPr dirty="0" sz="4000" spc="4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is</a:t>
            </a:r>
            <a:r>
              <a:rPr dirty="0" sz="4000" spc="3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an</a:t>
            </a:r>
            <a:r>
              <a:rPr dirty="0" sz="4000" spc="4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estimate</a:t>
            </a:r>
            <a:r>
              <a:rPr dirty="0" sz="4000" spc="35">
                <a:latin typeface="Arial"/>
                <a:cs typeface="Arial"/>
              </a:rPr>
              <a:t> </a:t>
            </a:r>
            <a:r>
              <a:rPr dirty="0" sz="4000" spc="65">
                <a:latin typeface="Arial"/>
                <a:cs typeface="Arial"/>
              </a:rPr>
              <a:t>of</a:t>
            </a:r>
            <a:r>
              <a:rPr dirty="0" sz="4000" spc="40">
                <a:latin typeface="Arial"/>
                <a:cs typeface="Arial"/>
              </a:rPr>
              <a:t> </a:t>
            </a:r>
            <a:r>
              <a:rPr dirty="0" sz="4000" spc="-25">
                <a:latin typeface="Arial"/>
                <a:cs typeface="Arial"/>
              </a:rPr>
              <a:t>the </a:t>
            </a:r>
            <a:r>
              <a:rPr dirty="0" sz="4000">
                <a:latin typeface="Arial"/>
                <a:cs typeface="Arial"/>
              </a:rPr>
              <a:t>population</a:t>
            </a:r>
            <a:r>
              <a:rPr dirty="0" sz="4000" spc="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at</a:t>
            </a:r>
            <a:r>
              <a:rPr dirty="0" sz="4000" spc="1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a</a:t>
            </a:r>
            <a:r>
              <a:rPr dirty="0" sz="4000" spc="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future</a:t>
            </a:r>
            <a:r>
              <a:rPr dirty="0" sz="4000" spc="10">
                <a:latin typeface="Arial"/>
                <a:cs typeface="Arial"/>
              </a:rPr>
              <a:t> </a:t>
            </a:r>
            <a:r>
              <a:rPr dirty="0" sz="4000" spc="65">
                <a:latin typeface="Arial"/>
                <a:cs typeface="Arial"/>
              </a:rPr>
              <a:t>point</a:t>
            </a:r>
            <a:r>
              <a:rPr dirty="0" sz="4000" spc="5">
                <a:latin typeface="Arial"/>
                <a:cs typeface="Arial"/>
              </a:rPr>
              <a:t> </a:t>
            </a:r>
            <a:r>
              <a:rPr dirty="0" sz="4000" spc="-20">
                <a:latin typeface="Arial"/>
                <a:cs typeface="Arial"/>
              </a:rPr>
              <a:t>(e.g.,</a:t>
            </a:r>
            <a:r>
              <a:rPr dirty="0" sz="4000" spc="1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Jan</a:t>
            </a:r>
            <a:r>
              <a:rPr dirty="0" sz="4000" spc="10">
                <a:latin typeface="Arial"/>
                <a:cs typeface="Arial"/>
              </a:rPr>
              <a:t> </a:t>
            </a:r>
            <a:r>
              <a:rPr dirty="0" sz="4000" spc="-10">
                <a:latin typeface="Arial"/>
                <a:cs typeface="Arial"/>
              </a:rPr>
              <a:t>2040)?</a:t>
            </a:r>
            <a:endParaRPr sz="4000">
              <a:latin typeface="Arial"/>
              <a:cs typeface="Arial"/>
            </a:endParaRPr>
          </a:p>
          <a:p>
            <a:pPr marL="520065" marR="728980" indent="-508000">
              <a:lnSpc>
                <a:spcPts val="4330"/>
              </a:lnSpc>
              <a:spcBef>
                <a:spcPts val="3200"/>
              </a:spcBef>
              <a:buSzPct val="122500"/>
              <a:buChar char="•"/>
              <a:tabLst>
                <a:tab pos="520065" algn="l"/>
              </a:tabLst>
            </a:pPr>
            <a:r>
              <a:rPr dirty="0" sz="4000">
                <a:latin typeface="Arial"/>
                <a:cs typeface="Arial"/>
              </a:rPr>
              <a:t>What</a:t>
            </a:r>
            <a:r>
              <a:rPr dirty="0" sz="4000" spc="3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is</a:t>
            </a:r>
            <a:r>
              <a:rPr dirty="0" sz="4000" spc="3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the</a:t>
            </a:r>
            <a:r>
              <a:rPr dirty="0" sz="4000" spc="3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rate</a:t>
            </a:r>
            <a:r>
              <a:rPr dirty="0" sz="4000" spc="30">
                <a:latin typeface="Arial"/>
                <a:cs typeface="Arial"/>
              </a:rPr>
              <a:t> </a:t>
            </a:r>
            <a:r>
              <a:rPr dirty="0" sz="4000" spc="65">
                <a:latin typeface="Arial"/>
                <a:cs typeface="Arial"/>
              </a:rPr>
              <a:t>of</a:t>
            </a:r>
            <a:r>
              <a:rPr dirty="0" sz="4000" spc="3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growth</a:t>
            </a:r>
            <a:r>
              <a:rPr dirty="0" sz="4000" spc="35">
                <a:latin typeface="Arial"/>
                <a:cs typeface="Arial"/>
              </a:rPr>
              <a:t> </a:t>
            </a:r>
            <a:r>
              <a:rPr dirty="0" sz="4000" spc="65">
                <a:latin typeface="Arial"/>
                <a:cs typeface="Arial"/>
              </a:rPr>
              <a:t>of</a:t>
            </a:r>
            <a:r>
              <a:rPr dirty="0" sz="4000" spc="3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the</a:t>
            </a:r>
            <a:r>
              <a:rPr dirty="0" sz="4000" spc="30">
                <a:latin typeface="Arial"/>
                <a:cs typeface="Arial"/>
              </a:rPr>
              <a:t> </a:t>
            </a:r>
            <a:r>
              <a:rPr dirty="0" sz="4000" spc="-10">
                <a:latin typeface="Arial"/>
                <a:cs typeface="Arial"/>
              </a:rPr>
              <a:t>American population?</a:t>
            </a:r>
            <a:endParaRPr sz="4000">
              <a:latin typeface="Arial"/>
              <a:cs typeface="Arial"/>
            </a:endParaRPr>
          </a:p>
          <a:p>
            <a:pPr marL="520065" marR="635635" indent="-508000">
              <a:lnSpc>
                <a:spcPts val="4330"/>
              </a:lnSpc>
              <a:spcBef>
                <a:spcPts val="3204"/>
              </a:spcBef>
              <a:buSzPct val="122500"/>
              <a:buChar char="•"/>
              <a:tabLst>
                <a:tab pos="520065" algn="l"/>
              </a:tabLst>
            </a:pPr>
            <a:r>
              <a:rPr dirty="0" sz="4000">
                <a:latin typeface="Arial"/>
                <a:cs typeface="Arial"/>
              </a:rPr>
              <a:t>Has</a:t>
            </a:r>
            <a:r>
              <a:rPr dirty="0" sz="4000" spc="1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the</a:t>
            </a:r>
            <a:r>
              <a:rPr dirty="0" sz="4000" spc="1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growth</a:t>
            </a:r>
            <a:r>
              <a:rPr dirty="0" sz="4000" spc="1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rate</a:t>
            </a:r>
            <a:r>
              <a:rPr dirty="0" sz="4000" spc="1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been</a:t>
            </a:r>
            <a:r>
              <a:rPr dirty="0" sz="4000" spc="1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roughly</a:t>
            </a:r>
            <a:r>
              <a:rPr dirty="0" sz="4000" spc="15">
                <a:latin typeface="Arial"/>
                <a:cs typeface="Arial"/>
              </a:rPr>
              <a:t> </a:t>
            </a:r>
            <a:r>
              <a:rPr dirty="0" sz="4000" spc="-10">
                <a:latin typeface="Arial"/>
                <a:cs typeface="Arial"/>
              </a:rPr>
              <a:t>constant </a:t>
            </a:r>
            <a:r>
              <a:rPr dirty="0" sz="4000">
                <a:latin typeface="Arial"/>
                <a:cs typeface="Arial"/>
              </a:rPr>
              <a:t>over</a:t>
            </a:r>
            <a:r>
              <a:rPr dirty="0" sz="4000" spc="-80">
                <a:latin typeface="Arial"/>
                <a:cs typeface="Arial"/>
              </a:rPr>
              <a:t> </a:t>
            </a:r>
            <a:r>
              <a:rPr dirty="0" sz="4000" spc="-10">
                <a:latin typeface="Arial"/>
                <a:cs typeface="Arial"/>
              </a:rPr>
              <a:t>time?</a:t>
            </a:r>
            <a:endParaRPr sz="4000">
              <a:latin typeface="Arial"/>
              <a:cs typeface="Arial"/>
            </a:endParaRPr>
          </a:p>
          <a:p>
            <a:pPr marL="520065" marR="5080" indent="-508000">
              <a:lnSpc>
                <a:spcPts val="4330"/>
              </a:lnSpc>
              <a:spcBef>
                <a:spcPts val="3200"/>
              </a:spcBef>
              <a:buSzPct val="122500"/>
              <a:buChar char="•"/>
              <a:tabLst>
                <a:tab pos="520065" algn="l"/>
              </a:tabLst>
            </a:pPr>
            <a:r>
              <a:rPr dirty="0" sz="4000">
                <a:latin typeface="Arial"/>
                <a:cs typeface="Arial"/>
              </a:rPr>
              <a:t>What</a:t>
            </a:r>
            <a:r>
              <a:rPr dirty="0" sz="4000" spc="6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is</a:t>
            </a:r>
            <a:r>
              <a:rPr dirty="0" sz="4000" spc="6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the</a:t>
            </a:r>
            <a:r>
              <a:rPr dirty="0" sz="4000" spc="6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period</a:t>
            </a:r>
            <a:r>
              <a:rPr dirty="0" sz="4000" spc="6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where</a:t>
            </a:r>
            <a:r>
              <a:rPr dirty="0" sz="4000" spc="6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the</a:t>
            </a:r>
            <a:r>
              <a:rPr dirty="0" sz="4000" spc="6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population</a:t>
            </a:r>
            <a:r>
              <a:rPr dirty="0" sz="4000" spc="65">
                <a:latin typeface="Arial"/>
                <a:cs typeface="Arial"/>
              </a:rPr>
              <a:t> </a:t>
            </a:r>
            <a:r>
              <a:rPr dirty="0" sz="4000" spc="-20">
                <a:latin typeface="Arial"/>
                <a:cs typeface="Arial"/>
              </a:rPr>
              <a:t>grew </a:t>
            </a:r>
            <a:r>
              <a:rPr dirty="0" sz="4000">
                <a:latin typeface="Arial"/>
                <a:cs typeface="Arial"/>
              </a:rPr>
              <a:t>the</a:t>
            </a:r>
            <a:r>
              <a:rPr dirty="0" sz="4000" spc="9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fastest?</a:t>
            </a:r>
            <a:r>
              <a:rPr dirty="0" sz="4000" spc="100">
                <a:latin typeface="Arial"/>
                <a:cs typeface="Arial"/>
              </a:rPr>
              <a:t> </a:t>
            </a:r>
            <a:r>
              <a:rPr dirty="0" sz="4000" spc="-10">
                <a:latin typeface="Arial"/>
                <a:cs typeface="Arial"/>
              </a:rPr>
              <a:t>Slowest?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05630" y="4270554"/>
            <a:ext cx="11984355" cy="1185545"/>
          </a:xfrm>
          <a:prstGeom prst="rect"/>
        </p:spPr>
        <p:txBody>
          <a:bodyPr wrap="square" lIns="0" tIns="80645" rIns="0" bIns="0" rtlCol="0" vert="horz">
            <a:spAutoFit/>
          </a:bodyPr>
          <a:lstStyle/>
          <a:p>
            <a:pPr marL="12700" marR="5080">
              <a:lnSpc>
                <a:spcPts val="4330"/>
              </a:lnSpc>
              <a:spcBef>
                <a:spcPts val="635"/>
              </a:spcBef>
            </a:pPr>
            <a:r>
              <a:rPr dirty="0" sz="4000" b="0">
                <a:latin typeface="Arial"/>
                <a:cs typeface="Arial"/>
              </a:rPr>
              <a:t>Time</a:t>
            </a:r>
            <a:r>
              <a:rPr dirty="0" sz="4000" spc="-75" b="0">
                <a:latin typeface="Arial"/>
                <a:cs typeface="Arial"/>
              </a:rPr>
              <a:t> </a:t>
            </a:r>
            <a:r>
              <a:rPr dirty="0" sz="4000" spc="-20" b="0">
                <a:latin typeface="Arial"/>
                <a:cs typeface="Arial"/>
              </a:rPr>
              <a:t>Series</a:t>
            </a:r>
            <a:r>
              <a:rPr dirty="0" sz="4000" spc="-75" b="0">
                <a:latin typeface="Arial"/>
                <a:cs typeface="Arial"/>
              </a:rPr>
              <a:t> </a:t>
            </a:r>
            <a:r>
              <a:rPr dirty="0" sz="4000" b="0">
                <a:latin typeface="Arial"/>
                <a:cs typeface="Arial"/>
              </a:rPr>
              <a:t>Analysis</a:t>
            </a:r>
            <a:r>
              <a:rPr dirty="0" sz="4000" spc="-70" b="0">
                <a:latin typeface="Arial"/>
                <a:cs typeface="Arial"/>
              </a:rPr>
              <a:t> </a:t>
            </a:r>
            <a:r>
              <a:rPr dirty="0" sz="4000" b="0">
                <a:latin typeface="Arial"/>
                <a:cs typeface="Arial"/>
              </a:rPr>
              <a:t>answers</a:t>
            </a:r>
            <a:r>
              <a:rPr dirty="0" sz="4000" spc="-75" b="0">
                <a:latin typeface="Arial"/>
                <a:cs typeface="Arial"/>
              </a:rPr>
              <a:t> </a:t>
            </a:r>
            <a:r>
              <a:rPr dirty="0" sz="4000" b="0">
                <a:latin typeface="Arial"/>
                <a:cs typeface="Arial"/>
              </a:rPr>
              <a:t>such</a:t>
            </a:r>
            <a:r>
              <a:rPr dirty="0" sz="4000" spc="-75" b="0">
                <a:latin typeface="Arial"/>
                <a:cs typeface="Arial"/>
              </a:rPr>
              <a:t> </a:t>
            </a:r>
            <a:r>
              <a:rPr dirty="0" sz="4000" b="0">
                <a:latin typeface="Arial"/>
                <a:cs typeface="Arial"/>
              </a:rPr>
              <a:t>questions</a:t>
            </a:r>
            <a:r>
              <a:rPr dirty="0" sz="4000" spc="-70" b="0">
                <a:latin typeface="Arial"/>
                <a:cs typeface="Arial"/>
              </a:rPr>
              <a:t> </a:t>
            </a:r>
            <a:r>
              <a:rPr dirty="0" sz="4000" spc="35" b="0">
                <a:latin typeface="Arial"/>
                <a:cs typeface="Arial"/>
              </a:rPr>
              <a:t>by </a:t>
            </a:r>
            <a:r>
              <a:rPr dirty="0" sz="4000" spc="50" b="0">
                <a:latin typeface="Arial"/>
                <a:cs typeface="Arial"/>
              </a:rPr>
              <a:t>fitting</a:t>
            </a:r>
            <a:r>
              <a:rPr dirty="0" sz="4000" spc="70" b="0">
                <a:latin typeface="Arial"/>
                <a:cs typeface="Arial"/>
              </a:rPr>
              <a:t> </a:t>
            </a:r>
            <a:r>
              <a:rPr dirty="0" sz="4000" b="0">
                <a:latin typeface="Arial"/>
                <a:cs typeface="Arial"/>
              </a:rPr>
              <a:t>statistical</a:t>
            </a:r>
            <a:r>
              <a:rPr dirty="0" sz="4000" spc="70" b="0">
                <a:latin typeface="Arial"/>
                <a:cs typeface="Arial"/>
              </a:rPr>
              <a:t> </a:t>
            </a:r>
            <a:r>
              <a:rPr dirty="0" sz="4000" b="0">
                <a:solidFill>
                  <a:srgbClr val="EE220C"/>
                </a:solidFill>
                <a:latin typeface="Arial"/>
                <a:cs typeface="Arial"/>
              </a:rPr>
              <a:t>models</a:t>
            </a:r>
            <a:r>
              <a:rPr dirty="0" sz="4000" spc="70" b="0">
                <a:solidFill>
                  <a:srgbClr val="EE220C"/>
                </a:solidFill>
                <a:latin typeface="Arial"/>
                <a:cs typeface="Arial"/>
              </a:rPr>
              <a:t> </a:t>
            </a:r>
            <a:r>
              <a:rPr dirty="0" sz="4000" spc="100" b="0">
                <a:latin typeface="Arial"/>
                <a:cs typeface="Arial"/>
              </a:rPr>
              <a:t>to</a:t>
            </a:r>
            <a:r>
              <a:rPr dirty="0" sz="4000" spc="70" b="0">
                <a:latin typeface="Arial"/>
                <a:cs typeface="Arial"/>
              </a:rPr>
              <a:t> </a:t>
            </a:r>
            <a:r>
              <a:rPr dirty="0" sz="4000" b="0">
                <a:latin typeface="Arial"/>
                <a:cs typeface="Arial"/>
              </a:rPr>
              <a:t>observed</a:t>
            </a:r>
            <a:r>
              <a:rPr dirty="0" sz="4000" spc="75" b="0">
                <a:latin typeface="Arial"/>
                <a:cs typeface="Arial"/>
              </a:rPr>
              <a:t> </a:t>
            </a:r>
            <a:r>
              <a:rPr dirty="0" sz="4000" b="0">
                <a:latin typeface="Arial"/>
                <a:cs typeface="Arial"/>
              </a:rPr>
              <a:t>time</a:t>
            </a:r>
            <a:r>
              <a:rPr dirty="0" sz="4000" spc="70" b="0">
                <a:latin typeface="Arial"/>
                <a:cs typeface="Arial"/>
              </a:rPr>
              <a:t> </a:t>
            </a:r>
            <a:r>
              <a:rPr dirty="0" sz="4000" b="0">
                <a:latin typeface="Arial"/>
                <a:cs typeface="Arial"/>
              </a:rPr>
              <a:t>series</a:t>
            </a:r>
            <a:r>
              <a:rPr dirty="0" sz="4000" spc="70" b="0">
                <a:latin typeface="Arial"/>
                <a:cs typeface="Arial"/>
              </a:rPr>
              <a:t> </a:t>
            </a:r>
            <a:r>
              <a:rPr dirty="0" sz="4000" spc="-20" b="0">
                <a:latin typeface="Arial"/>
                <a:cs typeface="Arial"/>
              </a:rPr>
              <a:t>data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225877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5550" spc="-20"/>
              <a:t>Time</a:t>
            </a:r>
            <a:r>
              <a:rPr dirty="0" sz="5550" spc="-325"/>
              <a:t> </a:t>
            </a:r>
            <a:r>
              <a:rPr dirty="0" sz="5550" spc="-120"/>
              <a:t>Series</a:t>
            </a:r>
            <a:r>
              <a:rPr dirty="0" sz="5550" spc="-265"/>
              <a:t> </a:t>
            </a:r>
            <a:r>
              <a:rPr dirty="0" sz="5550" spc="-80"/>
              <a:t>Prediction/Forecasting</a:t>
            </a:r>
            <a:endParaRPr sz="5550"/>
          </a:p>
        </p:txBody>
      </p:sp>
      <p:sp>
        <p:nvSpPr>
          <p:cNvPr id="3" name="object 3"/>
          <p:cNvSpPr txBox="1"/>
          <p:nvPr/>
        </p:nvSpPr>
        <p:spPr>
          <a:xfrm>
            <a:off x="505630" y="3995522"/>
            <a:ext cx="11497310" cy="1735455"/>
          </a:xfrm>
          <a:prstGeom prst="rect">
            <a:avLst/>
          </a:prstGeom>
        </p:spPr>
        <p:txBody>
          <a:bodyPr wrap="square" lIns="0" tIns="80645" rIns="0" bIns="0" rtlCol="0" vert="horz">
            <a:spAutoFit/>
          </a:bodyPr>
          <a:lstStyle/>
          <a:p>
            <a:pPr marL="12700" marR="5080">
              <a:lnSpc>
                <a:spcPts val="4330"/>
              </a:lnSpc>
              <a:spcBef>
                <a:spcPts val="635"/>
              </a:spcBef>
            </a:pPr>
            <a:r>
              <a:rPr dirty="0" sz="4000">
                <a:latin typeface="Arial"/>
                <a:cs typeface="Arial"/>
              </a:rPr>
              <a:t>One</a:t>
            </a:r>
            <a:r>
              <a:rPr dirty="0" sz="4000" spc="15">
                <a:latin typeface="Arial"/>
                <a:cs typeface="Arial"/>
              </a:rPr>
              <a:t> </a:t>
            </a:r>
            <a:r>
              <a:rPr dirty="0" sz="4000" spc="65">
                <a:latin typeface="Arial"/>
                <a:cs typeface="Arial"/>
              </a:rPr>
              <a:t>of</a:t>
            </a:r>
            <a:r>
              <a:rPr dirty="0" sz="4000" spc="1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the</a:t>
            </a:r>
            <a:r>
              <a:rPr dirty="0" sz="4000" spc="15">
                <a:latin typeface="Arial"/>
                <a:cs typeface="Arial"/>
              </a:rPr>
              <a:t> </a:t>
            </a:r>
            <a:r>
              <a:rPr dirty="0" sz="4000" spc="65">
                <a:latin typeface="Arial"/>
                <a:cs typeface="Arial"/>
              </a:rPr>
              <a:t>most</a:t>
            </a:r>
            <a:r>
              <a:rPr dirty="0" sz="4000" spc="15">
                <a:latin typeface="Arial"/>
                <a:cs typeface="Arial"/>
              </a:rPr>
              <a:t> </a:t>
            </a:r>
            <a:r>
              <a:rPr dirty="0" sz="4000" spc="55">
                <a:latin typeface="Arial"/>
                <a:cs typeface="Arial"/>
              </a:rPr>
              <a:t>important</a:t>
            </a:r>
            <a:r>
              <a:rPr dirty="0" sz="4000" spc="2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questions</a:t>
            </a:r>
            <a:r>
              <a:rPr dirty="0" sz="4000" spc="1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in</a:t>
            </a:r>
            <a:r>
              <a:rPr dirty="0" sz="4000" spc="1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time</a:t>
            </a:r>
            <a:r>
              <a:rPr dirty="0" sz="4000" spc="15">
                <a:latin typeface="Arial"/>
                <a:cs typeface="Arial"/>
              </a:rPr>
              <a:t> </a:t>
            </a:r>
            <a:r>
              <a:rPr dirty="0" sz="4000" spc="-10">
                <a:latin typeface="Arial"/>
                <a:cs typeface="Arial"/>
              </a:rPr>
              <a:t>series analysis</a:t>
            </a:r>
            <a:r>
              <a:rPr dirty="0" sz="4000" spc="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is</a:t>
            </a:r>
            <a:r>
              <a:rPr dirty="0" sz="4000" spc="5">
                <a:latin typeface="Arial"/>
                <a:cs typeface="Arial"/>
              </a:rPr>
              <a:t> </a:t>
            </a:r>
            <a:r>
              <a:rPr dirty="0" sz="4000" spc="50">
                <a:latin typeface="Arial"/>
                <a:cs typeface="Arial"/>
              </a:rPr>
              <a:t>that</a:t>
            </a:r>
            <a:r>
              <a:rPr dirty="0" sz="4000" spc="10">
                <a:latin typeface="Arial"/>
                <a:cs typeface="Arial"/>
              </a:rPr>
              <a:t> </a:t>
            </a:r>
            <a:r>
              <a:rPr dirty="0" sz="4000" spc="65">
                <a:latin typeface="Arial"/>
                <a:cs typeface="Arial"/>
              </a:rPr>
              <a:t>of</a:t>
            </a:r>
            <a:r>
              <a:rPr dirty="0" sz="4000" spc="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prediction</a:t>
            </a:r>
            <a:r>
              <a:rPr dirty="0" sz="4000" spc="1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(estimating</a:t>
            </a:r>
            <a:r>
              <a:rPr dirty="0" sz="4000" spc="5">
                <a:latin typeface="Arial"/>
                <a:cs typeface="Arial"/>
              </a:rPr>
              <a:t> </a:t>
            </a:r>
            <a:r>
              <a:rPr dirty="0" sz="4000" spc="-10">
                <a:latin typeface="Arial"/>
                <a:cs typeface="Arial"/>
              </a:rPr>
              <a:t>future </a:t>
            </a:r>
            <a:r>
              <a:rPr dirty="0" sz="4000">
                <a:latin typeface="Arial"/>
                <a:cs typeface="Arial"/>
              </a:rPr>
              <a:t>values</a:t>
            </a:r>
            <a:r>
              <a:rPr dirty="0" sz="4000" spc="-2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based</a:t>
            </a:r>
            <a:r>
              <a:rPr dirty="0" sz="4000" spc="-2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on</a:t>
            </a:r>
            <a:r>
              <a:rPr dirty="0" sz="4000" spc="-2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the</a:t>
            </a:r>
            <a:r>
              <a:rPr dirty="0" sz="4000" spc="-2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given</a:t>
            </a:r>
            <a:r>
              <a:rPr dirty="0" sz="4000" spc="-25">
                <a:latin typeface="Arial"/>
                <a:cs typeface="Arial"/>
              </a:rPr>
              <a:t> </a:t>
            </a:r>
            <a:r>
              <a:rPr dirty="0" sz="4000" spc="-10">
                <a:latin typeface="Arial"/>
                <a:cs typeface="Arial"/>
              </a:rPr>
              <a:t>data)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52700" y="2628900"/>
            <a:ext cx="7797800" cy="4470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26202" rIns="0" bIns="0" rtlCol="0" vert="horz">
            <a:spAutoFit/>
          </a:bodyPr>
          <a:lstStyle/>
          <a:p>
            <a:pPr marL="527685">
              <a:lnSpc>
                <a:spcPct val="100000"/>
              </a:lnSpc>
              <a:spcBef>
                <a:spcPts val="120"/>
              </a:spcBef>
            </a:pPr>
            <a:r>
              <a:rPr dirty="0" sz="5200" spc="-105"/>
              <a:t>Basic</a:t>
            </a:r>
            <a:r>
              <a:rPr dirty="0" sz="5200" spc="-245"/>
              <a:t> </a:t>
            </a:r>
            <a:r>
              <a:rPr dirty="0" sz="5200" spc="-20"/>
              <a:t>Time</a:t>
            </a:r>
            <a:r>
              <a:rPr dirty="0" sz="5200" spc="-245"/>
              <a:t> </a:t>
            </a:r>
            <a:r>
              <a:rPr dirty="0" sz="5200" spc="-110"/>
              <a:t>Series</a:t>
            </a:r>
            <a:r>
              <a:rPr dirty="0" sz="5200" spc="-245"/>
              <a:t> </a:t>
            </a:r>
            <a:r>
              <a:rPr dirty="0" sz="5200" spc="-105"/>
              <a:t>Prediction</a:t>
            </a:r>
            <a:r>
              <a:rPr dirty="0" sz="5200" spc="-245"/>
              <a:t> </a:t>
            </a:r>
            <a:r>
              <a:rPr dirty="0" sz="5200" spc="-50"/>
              <a:t>Problem</a:t>
            </a:r>
            <a:endParaRPr sz="5200"/>
          </a:p>
        </p:txBody>
      </p:sp>
      <p:sp>
        <p:nvSpPr>
          <p:cNvPr id="3" name="object 3"/>
          <p:cNvSpPr txBox="1"/>
          <p:nvPr/>
        </p:nvSpPr>
        <p:spPr>
          <a:xfrm>
            <a:off x="1354270" y="2170685"/>
            <a:ext cx="10218420" cy="672528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67640">
              <a:lnSpc>
                <a:spcPct val="100000"/>
              </a:lnSpc>
              <a:spcBef>
                <a:spcPts val="100"/>
              </a:spcBef>
            </a:pPr>
            <a:r>
              <a:rPr dirty="0" sz="4000">
                <a:latin typeface="Arial"/>
                <a:cs typeface="Arial"/>
              </a:rPr>
              <a:t>Find</a:t>
            </a:r>
            <a:r>
              <a:rPr dirty="0" sz="4000" spc="-2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the</a:t>
            </a:r>
            <a:r>
              <a:rPr dirty="0" sz="4000" spc="-1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next</a:t>
            </a:r>
            <a:r>
              <a:rPr dirty="0" sz="4000" spc="-1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number:</a:t>
            </a:r>
            <a:r>
              <a:rPr dirty="0" sz="4000" spc="-1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5,</a:t>
            </a:r>
            <a:r>
              <a:rPr dirty="0" sz="4000" spc="-1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8,</a:t>
            </a:r>
            <a:r>
              <a:rPr dirty="0" sz="4000" spc="-1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13,</a:t>
            </a:r>
            <a:r>
              <a:rPr dirty="0" sz="4000" spc="-2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20,</a:t>
            </a:r>
            <a:r>
              <a:rPr dirty="0" sz="4000" spc="-1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29,</a:t>
            </a:r>
            <a:r>
              <a:rPr dirty="0" sz="4000" spc="-1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40,</a:t>
            </a:r>
            <a:r>
              <a:rPr dirty="0" sz="4000" spc="-15">
                <a:latin typeface="Arial"/>
                <a:cs typeface="Arial"/>
              </a:rPr>
              <a:t> </a:t>
            </a:r>
            <a:r>
              <a:rPr dirty="0" sz="4000" spc="-50">
                <a:latin typeface="Arial"/>
                <a:cs typeface="Arial"/>
              </a:rPr>
              <a:t>#</a:t>
            </a:r>
            <a:endParaRPr sz="4000">
              <a:latin typeface="Arial"/>
              <a:cs typeface="Arial"/>
            </a:endParaRPr>
          </a:p>
          <a:p>
            <a:pPr marL="50800" marR="17780">
              <a:lnSpc>
                <a:spcPct val="232200"/>
              </a:lnSpc>
              <a:spcBef>
                <a:spcPts val="2755"/>
              </a:spcBef>
              <a:tabLst>
                <a:tab pos="9899015" algn="l"/>
              </a:tabLst>
            </a:pPr>
            <a:r>
              <a:rPr dirty="0" sz="4000">
                <a:latin typeface="Arial"/>
                <a:cs typeface="Arial"/>
              </a:rPr>
              <a:t>The</a:t>
            </a:r>
            <a:r>
              <a:rPr dirty="0" sz="4000" spc="-4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answer</a:t>
            </a:r>
            <a:r>
              <a:rPr dirty="0" sz="4000" spc="-3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is</a:t>
            </a:r>
            <a:r>
              <a:rPr dirty="0" sz="4000" spc="-3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53</a:t>
            </a:r>
            <a:r>
              <a:rPr dirty="0" sz="4000" spc="-40">
                <a:latin typeface="Arial"/>
                <a:cs typeface="Arial"/>
              </a:rPr>
              <a:t> </a:t>
            </a:r>
            <a:r>
              <a:rPr dirty="0" sz="4000" spc="90">
                <a:latin typeface="Arial"/>
                <a:cs typeface="Arial"/>
              </a:rPr>
              <a:t>but</a:t>
            </a:r>
            <a:r>
              <a:rPr dirty="0" sz="4000" spc="-3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how</a:t>
            </a:r>
            <a:r>
              <a:rPr dirty="0" sz="4000" spc="-35">
                <a:latin typeface="Arial"/>
                <a:cs typeface="Arial"/>
              </a:rPr>
              <a:t> </a:t>
            </a:r>
            <a:r>
              <a:rPr dirty="0" sz="4000" spc="85">
                <a:latin typeface="Arial"/>
                <a:cs typeface="Arial"/>
              </a:rPr>
              <a:t>did</a:t>
            </a:r>
            <a:r>
              <a:rPr dirty="0" sz="4000" spc="-4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we</a:t>
            </a:r>
            <a:r>
              <a:rPr dirty="0" sz="4000" spc="-3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arrive</a:t>
            </a:r>
            <a:r>
              <a:rPr dirty="0" sz="4000" spc="-3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at</a:t>
            </a:r>
            <a:r>
              <a:rPr dirty="0" sz="4000" spc="-35">
                <a:latin typeface="Arial"/>
                <a:cs typeface="Arial"/>
              </a:rPr>
              <a:t> </a:t>
            </a:r>
            <a:r>
              <a:rPr dirty="0" sz="4000" spc="-25">
                <a:latin typeface="Arial"/>
                <a:cs typeface="Arial"/>
              </a:rPr>
              <a:t>it? </a:t>
            </a:r>
            <a:r>
              <a:rPr dirty="0" sz="4000" spc="-120">
                <a:latin typeface="Arial"/>
                <a:cs typeface="Arial"/>
              </a:rPr>
              <a:t>We</a:t>
            </a:r>
            <a:r>
              <a:rPr dirty="0" sz="4000" spc="-40">
                <a:latin typeface="Arial"/>
                <a:cs typeface="Arial"/>
              </a:rPr>
              <a:t> </a:t>
            </a:r>
            <a:r>
              <a:rPr dirty="0" sz="4000" spc="55">
                <a:latin typeface="Arial"/>
                <a:cs typeface="Arial"/>
              </a:rPr>
              <a:t>noticed</a:t>
            </a:r>
            <a:r>
              <a:rPr dirty="0" sz="4000" spc="-35">
                <a:latin typeface="Arial"/>
                <a:cs typeface="Arial"/>
              </a:rPr>
              <a:t> </a:t>
            </a:r>
            <a:r>
              <a:rPr dirty="0" sz="4000" spc="50">
                <a:latin typeface="Arial"/>
                <a:cs typeface="Arial"/>
              </a:rPr>
              <a:t>that</a:t>
            </a:r>
            <a:r>
              <a:rPr dirty="0" sz="4000" spc="-40">
                <a:latin typeface="Arial"/>
                <a:cs typeface="Arial"/>
              </a:rPr>
              <a:t> </a:t>
            </a:r>
            <a:r>
              <a:rPr dirty="0" sz="4800" i="1">
                <a:latin typeface="Times New Roman"/>
                <a:cs typeface="Times New Roman"/>
              </a:rPr>
              <a:t>y</a:t>
            </a:r>
            <a:r>
              <a:rPr dirty="0" baseline="-19607" sz="5100" i="1">
                <a:latin typeface="Times New Roman"/>
                <a:cs typeface="Times New Roman"/>
              </a:rPr>
              <a:t>t</a:t>
            </a:r>
            <a:r>
              <a:rPr dirty="0" baseline="-19607" sz="5100" spc="337" i="1">
                <a:latin typeface="Times New Roman"/>
                <a:cs typeface="Times New Roman"/>
              </a:rPr>
              <a:t> </a:t>
            </a:r>
            <a:r>
              <a:rPr dirty="0" sz="4000">
                <a:latin typeface="Arial"/>
                <a:cs typeface="Arial"/>
              </a:rPr>
              <a:t>is</a:t>
            </a:r>
            <a:r>
              <a:rPr dirty="0" sz="4000" spc="-3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a</a:t>
            </a:r>
            <a:r>
              <a:rPr dirty="0" sz="4000" spc="-40">
                <a:latin typeface="Arial"/>
                <a:cs typeface="Arial"/>
              </a:rPr>
              <a:t> </a:t>
            </a:r>
            <a:r>
              <a:rPr dirty="0" sz="4000" spc="50">
                <a:latin typeface="Arial"/>
                <a:cs typeface="Arial"/>
              </a:rPr>
              <a:t>function</a:t>
            </a:r>
            <a:r>
              <a:rPr dirty="0" sz="4000" spc="-35">
                <a:latin typeface="Arial"/>
                <a:cs typeface="Arial"/>
              </a:rPr>
              <a:t> </a:t>
            </a:r>
            <a:r>
              <a:rPr dirty="0" sz="4000" spc="65">
                <a:latin typeface="Arial"/>
                <a:cs typeface="Arial"/>
              </a:rPr>
              <a:t>of</a:t>
            </a:r>
            <a:r>
              <a:rPr dirty="0" sz="4000" spc="-3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the</a:t>
            </a:r>
            <a:r>
              <a:rPr dirty="0" sz="4000" spc="-40">
                <a:latin typeface="Arial"/>
                <a:cs typeface="Arial"/>
              </a:rPr>
              <a:t> </a:t>
            </a:r>
            <a:r>
              <a:rPr dirty="0" sz="4000" spc="-20">
                <a:latin typeface="Arial"/>
                <a:cs typeface="Arial"/>
              </a:rPr>
              <a:t>time</a:t>
            </a:r>
            <a:r>
              <a:rPr dirty="0" sz="4000">
                <a:latin typeface="Arial"/>
                <a:cs typeface="Arial"/>
              </a:rPr>
              <a:t>	</a:t>
            </a:r>
            <a:r>
              <a:rPr dirty="0" sz="4000" spc="-50">
                <a:latin typeface="Arial"/>
                <a:cs typeface="Arial"/>
              </a:rPr>
              <a:t>:</a:t>
            </a:r>
            <a:endParaRPr sz="4000">
              <a:latin typeface="Arial"/>
              <a:cs typeface="Arial"/>
            </a:endParaRPr>
          </a:p>
          <a:p>
            <a:pPr marL="50800">
              <a:lnSpc>
                <a:spcPts val="5435"/>
              </a:lnSpc>
              <a:tabLst>
                <a:tab pos="593090" algn="l"/>
              </a:tabLst>
            </a:pPr>
            <a:r>
              <a:rPr dirty="0" sz="4800" spc="-25" i="1">
                <a:latin typeface="Times New Roman"/>
                <a:cs typeface="Times New Roman"/>
              </a:rPr>
              <a:t>y</a:t>
            </a:r>
            <a:r>
              <a:rPr dirty="0" baseline="-19607" sz="5100" spc="-37" i="1">
                <a:latin typeface="Times New Roman"/>
                <a:cs typeface="Times New Roman"/>
              </a:rPr>
              <a:t>t</a:t>
            </a:r>
            <a:r>
              <a:rPr dirty="0" baseline="-19607" sz="5100" i="1">
                <a:latin typeface="Times New Roman"/>
                <a:cs typeface="Times New Roman"/>
              </a:rPr>
              <a:t>	</a:t>
            </a:r>
            <a:r>
              <a:rPr dirty="0" sz="4800" spc="635">
                <a:latin typeface="Cambria"/>
                <a:cs typeface="Cambria"/>
              </a:rPr>
              <a:t>=</a:t>
            </a:r>
            <a:r>
              <a:rPr dirty="0" sz="4800" spc="310">
                <a:latin typeface="Cambria"/>
                <a:cs typeface="Cambria"/>
              </a:rPr>
              <a:t> </a:t>
            </a:r>
            <a:r>
              <a:rPr dirty="0" sz="4800" i="1">
                <a:latin typeface="Times New Roman"/>
                <a:cs typeface="Times New Roman"/>
              </a:rPr>
              <a:t>t</a:t>
            </a:r>
            <a:r>
              <a:rPr dirty="0" baseline="29411" sz="5100">
                <a:latin typeface="Cambria"/>
                <a:cs typeface="Cambria"/>
              </a:rPr>
              <a:t>2</a:t>
            </a:r>
            <a:r>
              <a:rPr dirty="0" baseline="29411" sz="5100" spc="517">
                <a:latin typeface="Cambria"/>
                <a:cs typeface="Cambria"/>
              </a:rPr>
              <a:t> </a:t>
            </a:r>
            <a:r>
              <a:rPr dirty="0" sz="4800" spc="635">
                <a:latin typeface="Cambria"/>
                <a:cs typeface="Cambria"/>
              </a:rPr>
              <a:t>+</a:t>
            </a:r>
            <a:r>
              <a:rPr dirty="0" sz="4800" spc="35">
                <a:latin typeface="Cambria"/>
                <a:cs typeface="Cambria"/>
              </a:rPr>
              <a:t> </a:t>
            </a:r>
            <a:r>
              <a:rPr dirty="0" sz="4800" spc="-320">
                <a:latin typeface="Cambria"/>
                <a:cs typeface="Cambria"/>
              </a:rPr>
              <a:t>4</a:t>
            </a:r>
            <a:endParaRPr sz="4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740"/>
              </a:spcBef>
            </a:pPr>
            <a:endParaRPr sz="4800">
              <a:latin typeface="Cambria"/>
              <a:cs typeface="Cambria"/>
            </a:endParaRPr>
          </a:p>
          <a:p>
            <a:pPr marL="50800" marR="487680">
              <a:lnSpc>
                <a:spcPts val="5100"/>
              </a:lnSpc>
            </a:pPr>
            <a:r>
              <a:rPr dirty="0" sz="4000">
                <a:latin typeface="Arial"/>
                <a:cs typeface="Arial"/>
              </a:rPr>
              <a:t>In</a:t>
            </a:r>
            <a:r>
              <a:rPr dirty="0" sz="4000" spc="6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other</a:t>
            </a:r>
            <a:r>
              <a:rPr dirty="0" sz="4000" spc="6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words,</a:t>
            </a:r>
            <a:r>
              <a:rPr dirty="0" sz="4000" spc="6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we</a:t>
            </a:r>
            <a:r>
              <a:rPr dirty="0" sz="4000" spc="6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performed</a:t>
            </a:r>
            <a:r>
              <a:rPr dirty="0" sz="4000" spc="6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a</a:t>
            </a:r>
            <a:r>
              <a:rPr dirty="0" sz="4000" spc="60">
                <a:latin typeface="Arial"/>
                <a:cs typeface="Arial"/>
              </a:rPr>
              <a:t> </a:t>
            </a:r>
            <a:r>
              <a:rPr dirty="0" sz="4000" spc="-10">
                <a:latin typeface="Arial"/>
                <a:cs typeface="Arial"/>
              </a:rPr>
              <a:t>(quadratic) regression</a:t>
            </a:r>
            <a:r>
              <a:rPr dirty="0" sz="4000" spc="-125">
                <a:latin typeface="Arial"/>
                <a:cs typeface="Arial"/>
              </a:rPr>
              <a:t> </a:t>
            </a:r>
            <a:r>
              <a:rPr dirty="0" sz="4000" spc="65">
                <a:latin typeface="Arial"/>
                <a:cs typeface="Arial"/>
              </a:rPr>
              <a:t>of</a:t>
            </a:r>
            <a:r>
              <a:rPr dirty="0" sz="4000" spc="-120">
                <a:latin typeface="Arial"/>
                <a:cs typeface="Arial"/>
              </a:rPr>
              <a:t> </a:t>
            </a:r>
            <a:r>
              <a:rPr dirty="0" sz="4800" i="1">
                <a:latin typeface="Times New Roman"/>
                <a:cs typeface="Times New Roman"/>
              </a:rPr>
              <a:t>y</a:t>
            </a:r>
            <a:r>
              <a:rPr dirty="0" baseline="-19607" sz="5100" i="1">
                <a:latin typeface="Times New Roman"/>
                <a:cs typeface="Times New Roman"/>
              </a:rPr>
              <a:t>t</a:t>
            </a:r>
            <a:r>
              <a:rPr dirty="0" baseline="-19607" sz="5100" spc="209" i="1">
                <a:latin typeface="Times New Roman"/>
                <a:cs typeface="Times New Roman"/>
              </a:rPr>
              <a:t> </a:t>
            </a:r>
            <a:r>
              <a:rPr dirty="0" sz="4000">
                <a:latin typeface="Arial"/>
                <a:cs typeface="Arial"/>
              </a:rPr>
              <a:t>over</a:t>
            </a:r>
            <a:r>
              <a:rPr dirty="0" sz="4000" spc="-120">
                <a:latin typeface="Arial"/>
                <a:cs typeface="Arial"/>
              </a:rPr>
              <a:t> </a:t>
            </a:r>
            <a:r>
              <a:rPr dirty="0" sz="4000" spc="-20">
                <a:latin typeface="Arial"/>
                <a:cs typeface="Arial"/>
              </a:rPr>
              <a:t>time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22756" rIns="0" bIns="0" rtlCol="0" vert="horz">
            <a:spAutoFit/>
          </a:bodyPr>
          <a:lstStyle/>
          <a:p>
            <a:pPr marL="527685">
              <a:lnSpc>
                <a:spcPct val="100000"/>
              </a:lnSpc>
              <a:spcBef>
                <a:spcPts val="90"/>
              </a:spcBef>
            </a:pPr>
            <a:r>
              <a:rPr dirty="0" spc="-185"/>
              <a:t>Regression</a:t>
            </a:r>
            <a:r>
              <a:rPr dirty="0" spc="-200"/>
              <a:t> </a:t>
            </a:r>
            <a:r>
              <a:rPr dirty="0" spc="-155"/>
              <a:t>over</a:t>
            </a:r>
            <a:r>
              <a:rPr dirty="0" spc="-195"/>
              <a:t> </a:t>
            </a:r>
            <a:r>
              <a:rPr dirty="0" spc="-20"/>
              <a:t>time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03276" y="2115934"/>
            <a:ext cx="10096500" cy="43357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46710" marR="473075">
              <a:lnSpc>
                <a:spcPct val="106100"/>
              </a:lnSpc>
              <a:spcBef>
                <a:spcPts val="100"/>
              </a:spcBef>
            </a:pPr>
            <a:r>
              <a:rPr dirty="0" sz="4000">
                <a:latin typeface="Arial"/>
                <a:cs typeface="Arial"/>
              </a:rPr>
              <a:t>The first time series technique we </a:t>
            </a:r>
            <a:r>
              <a:rPr dirty="0" sz="4000" spc="-20">
                <a:latin typeface="Arial"/>
                <a:cs typeface="Arial"/>
              </a:rPr>
              <a:t>will </a:t>
            </a:r>
            <a:r>
              <a:rPr dirty="0" sz="4000" spc="55">
                <a:latin typeface="Arial"/>
                <a:cs typeface="Arial"/>
              </a:rPr>
              <a:t>study</a:t>
            </a:r>
            <a:r>
              <a:rPr dirty="0" sz="4000" spc="-3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is</a:t>
            </a:r>
            <a:r>
              <a:rPr dirty="0" sz="4000" spc="-30">
                <a:latin typeface="Arial"/>
                <a:cs typeface="Arial"/>
              </a:rPr>
              <a:t> </a:t>
            </a:r>
            <a:r>
              <a:rPr dirty="0" sz="4000" spc="-10">
                <a:latin typeface="Arial"/>
                <a:cs typeface="Arial"/>
              </a:rPr>
              <a:t>regression</a:t>
            </a:r>
            <a:r>
              <a:rPr dirty="0" sz="4000" spc="-3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over</a:t>
            </a:r>
            <a:r>
              <a:rPr dirty="0" sz="4000" spc="-2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the</a:t>
            </a:r>
            <a:r>
              <a:rPr dirty="0" sz="4000" spc="-3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time</a:t>
            </a:r>
            <a:r>
              <a:rPr dirty="0" sz="4000" spc="-30">
                <a:latin typeface="Arial"/>
                <a:cs typeface="Arial"/>
              </a:rPr>
              <a:t> </a:t>
            </a:r>
            <a:r>
              <a:rPr dirty="0" sz="4000" spc="-10">
                <a:latin typeface="Arial"/>
                <a:cs typeface="Arial"/>
              </a:rPr>
              <a:t>variable</a:t>
            </a:r>
            <a:endParaRPr sz="4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695"/>
              </a:spcBef>
            </a:pPr>
            <a:endParaRPr sz="4000">
              <a:latin typeface="Arial"/>
              <a:cs typeface="Arial"/>
            </a:endParaRPr>
          </a:p>
          <a:p>
            <a:pPr marL="63500" marR="55880">
              <a:lnSpc>
                <a:spcPct val="100099"/>
              </a:lnSpc>
              <a:tabLst>
                <a:tab pos="4976495" algn="l"/>
              </a:tabLst>
            </a:pPr>
            <a:r>
              <a:rPr dirty="0" sz="4000">
                <a:latin typeface="Arial"/>
                <a:cs typeface="Arial"/>
              </a:rPr>
              <a:t>Simple</a:t>
            </a:r>
            <a:r>
              <a:rPr dirty="0" sz="4000" spc="-7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linear</a:t>
            </a:r>
            <a:r>
              <a:rPr dirty="0" sz="4000" spc="-75">
                <a:latin typeface="Arial"/>
                <a:cs typeface="Arial"/>
              </a:rPr>
              <a:t> </a:t>
            </a:r>
            <a:r>
              <a:rPr dirty="0" sz="4000" spc="-10">
                <a:latin typeface="Arial"/>
                <a:cs typeface="Arial"/>
              </a:rPr>
              <a:t>regression</a:t>
            </a:r>
            <a:r>
              <a:rPr dirty="0" sz="4000" spc="-70">
                <a:latin typeface="Arial"/>
                <a:cs typeface="Arial"/>
              </a:rPr>
              <a:t> </a:t>
            </a:r>
            <a:r>
              <a:rPr dirty="0" sz="4000" spc="65">
                <a:latin typeface="Arial"/>
                <a:cs typeface="Arial"/>
              </a:rPr>
              <a:t>of</a:t>
            </a:r>
            <a:r>
              <a:rPr dirty="0" sz="4000" spc="-7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the</a:t>
            </a:r>
            <a:r>
              <a:rPr dirty="0" sz="4000" spc="-7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time</a:t>
            </a:r>
            <a:r>
              <a:rPr dirty="0" sz="4000" spc="-7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series</a:t>
            </a:r>
            <a:r>
              <a:rPr dirty="0" sz="4000" spc="-75">
                <a:latin typeface="Arial"/>
                <a:cs typeface="Arial"/>
              </a:rPr>
              <a:t> </a:t>
            </a:r>
            <a:r>
              <a:rPr dirty="0" sz="4800" spc="-25" i="1">
                <a:latin typeface="Times New Roman"/>
                <a:cs typeface="Times New Roman"/>
              </a:rPr>
              <a:t>y</a:t>
            </a:r>
            <a:r>
              <a:rPr dirty="0" baseline="-19607" sz="5100" spc="-37" i="1">
                <a:latin typeface="Times New Roman"/>
                <a:cs typeface="Times New Roman"/>
              </a:rPr>
              <a:t>t</a:t>
            </a:r>
            <a:r>
              <a:rPr dirty="0" baseline="-19607" sz="5100" spc="-37" i="1">
                <a:latin typeface="Times New Roman"/>
                <a:cs typeface="Times New Roman"/>
              </a:rPr>
              <a:t> </a:t>
            </a:r>
            <a:r>
              <a:rPr dirty="0" sz="4000">
                <a:latin typeface="Arial"/>
                <a:cs typeface="Arial"/>
              </a:rPr>
              <a:t>on</a:t>
            </a:r>
            <a:r>
              <a:rPr dirty="0" sz="4000" spc="5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the</a:t>
            </a:r>
            <a:r>
              <a:rPr dirty="0" sz="4000" spc="6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time</a:t>
            </a:r>
            <a:r>
              <a:rPr dirty="0" sz="4000" spc="60">
                <a:latin typeface="Arial"/>
                <a:cs typeface="Arial"/>
              </a:rPr>
              <a:t> </a:t>
            </a:r>
            <a:r>
              <a:rPr dirty="0" sz="4000" spc="-10">
                <a:latin typeface="Arial"/>
                <a:cs typeface="Arial"/>
              </a:rPr>
              <a:t>variable</a:t>
            </a:r>
            <a:r>
              <a:rPr dirty="0" sz="4000">
                <a:latin typeface="Arial"/>
                <a:cs typeface="Arial"/>
              </a:rPr>
              <a:t>	will</a:t>
            </a:r>
            <a:r>
              <a:rPr dirty="0" sz="4000" spc="-20">
                <a:latin typeface="Arial"/>
                <a:cs typeface="Arial"/>
              </a:rPr>
              <a:t> </a:t>
            </a:r>
            <a:r>
              <a:rPr dirty="0" sz="4000" spc="65">
                <a:latin typeface="Arial"/>
                <a:cs typeface="Arial"/>
              </a:rPr>
              <a:t>fit</a:t>
            </a:r>
            <a:r>
              <a:rPr dirty="0" sz="4000" spc="-2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a</a:t>
            </a:r>
            <a:r>
              <a:rPr dirty="0" sz="4000" spc="-2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line</a:t>
            </a:r>
            <a:r>
              <a:rPr dirty="0" sz="4000" spc="-15">
                <a:latin typeface="Arial"/>
                <a:cs typeface="Arial"/>
              </a:rPr>
              <a:t> </a:t>
            </a:r>
            <a:r>
              <a:rPr dirty="0" sz="4000" spc="100">
                <a:latin typeface="Arial"/>
                <a:cs typeface="Arial"/>
              </a:rPr>
              <a:t>to</a:t>
            </a:r>
            <a:r>
              <a:rPr dirty="0" sz="4000" spc="-20">
                <a:latin typeface="Arial"/>
                <a:cs typeface="Arial"/>
              </a:rPr>
              <a:t> </a:t>
            </a:r>
            <a:r>
              <a:rPr dirty="0" sz="4000" spc="-25">
                <a:latin typeface="Arial"/>
                <a:cs typeface="Arial"/>
              </a:rPr>
              <a:t>the </a:t>
            </a:r>
            <a:r>
              <a:rPr dirty="0" sz="4000">
                <a:latin typeface="Arial"/>
                <a:cs typeface="Arial"/>
              </a:rPr>
              <a:t>observed</a:t>
            </a:r>
            <a:r>
              <a:rPr dirty="0" sz="4000" spc="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time</a:t>
            </a:r>
            <a:r>
              <a:rPr dirty="0" sz="4000" spc="1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series</a:t>
            </a:r>
            <a:r>
              <a:rPr dirty="0" sz="4000" spc="10">
                <a:latin typeface="Arial"/>
                <a:cs typeface="Arial"/>
              </a:rPr>
              <a:t> </a:t>
            </a:r>
            <a:r>
              <a:rPr dirty="0" sz="4000" spc="-20">
                <a:latin typeface="Arial"/>
                <a:cs typeface="Arial"/>
              </a:rPr>
              <a:t>data</a:t>
            </a:r>
            <a:endParaRPr sz="4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28676" y="7453369"/>
            <a:ext cx="7542530" cy="7620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dirty="0" sz="4000">
                <a:latin typeface="Arial"/>
                <a:cs typeface="Arial"/>
              </a:rPr>
              <a:t>Multiple</a:t>
            </a:r>
            <a:r>
              <a:rPr dirty="0" sz="4000" spc="-6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linear</a:t>
            </a:r>
            <a:r>
              <a:rPr dirty="0" sz="4000" spc="-65">
                <a:latin typeface="Arial"/>
                <a:cs typeface="Arial"/>
              </a:rPr>
              <a:t> </a:t>
            </a:r>
            <a:r>
              <a:rPr dirty="0" sz="4000" spc="-10">
                <a:latin typeface="Arial"/>
                <a:cs typeface="Arial"/>
              </a:rPr>
              <a:t>regression</a:t>
            </a:r>
            <a:r>
              <a:rPr dirty="0" sz="4000" spc="-65">
                <a:latin typeface="Arial"/>
                <a:cs typeface="Arial"/>
              </a:rPr>
              <a:t> </a:t>
            </a:r>
            <a:r>
              <a:rPr dirty="0" sz="4000" spc="65">
                <a:latin typeface="Arial"/>
                <a:cs typeface="Arial"/>
              </a:rPr>
              <a:t>of</a:t>
            </a:r>
            <a:r>
              <a:rPr dirty="0" sz="4000" spc="-65">
                <a:latin typeface="Arial"/>
                <a:cs typeface="Arial"/>
              </a:rPr>
              <a:t> </a:t>
            </a:r>
            <a:r>
              <a:rPr dirty="0" sz="4800" i="1">
                <a:latin typeface="Times New Roman"/>
                <a:cs typeface="Times New Roman"/>
              </a:rPr>
              <a:t>y</a:t>
            </a:r>
            <a:r>
              <a:rPr dirty="0" baseline="-19607" sz="5100" i="1">
                <a:latin typeface="Times New Roman"/>
                <a:cs typeface="Times New Roman"/>
              </a:rPr>
              <a:t>t</a:t>
            </a:r>
            <a:r>
              <a:rPr dirty="0" baseline="-19607" sz="5100" spc="292" i="1">
                <a:latin typeface="Times New Roman"/>
                <a:cs typeface="Times New Roman"/>
              </a:rPr>
              <a:t> </a:t>
            </a:r>
            <a:r>
              <a:rPr dirty="0" sz="4000" spc="-25">
                <a:latin typeface="Arial"/>
                <a:cs typeface="Arial"/>
              </a:rPr>
              <a:t>on</a:t>
            </a:r>
            <a:endParaRPr sz="4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273347" y="7559005"/>
            <a:ext cx="2199640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>
                <a:latin typeface="Arial"/>
                <a:cs typeface="Arial"/>
              </a:rPr>
              <a:t>and</a:t>
            </a:r>
            <a:r>
              <a:rPr dirty="0" sz="4000" spc="65">
                <a:latin typeface="Arial"/>
                <a:cs typeface="Arial"/>
              </a:rPr>
              <a:t> </a:t>
            </a:r>
            <a:r>
              <a:rPr dirty="0" sz="4000" spc="-10">
                <a:latin typeface="Arial"/>
                <a:cs typeface="Arial"/>
              </a:rPr>
              <a:t>other</a:t>
            </a:r>
            <a:endParaRPr sz="4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4076" y="8249103"/>
            <a:ext cx="10263505" cy="1195705"/>
          </a:xfrm>
          <a:prstGeom prst="rect">
            <a:avLst/>
          </a:prstGeom>
        </p:spPr>
        <p:txBody>
          <a:bodyPr wrap="square" lIns="0" tIns="72390" rIns="0" bIns="0" rtlCol="0" vert="horz">
            <a:spAutoFit/>
          </a:bodyPr>
          <a:lstStyle/>
          <a:p>
            <a:pPr marL="12700" marR="5080">
              <a:lnSpc>
                <a:spcPts val="4410"/>
              </a:lnSpc>
              <a:spcBef>
                <a:spcPts val="570"/>
              </a:spcBef>
              <a:tabLst>
                <a:tab pos="3137535" algn="l"/>
              </a:tabLst>
            </a:pPr>
            <a:r>
              <a:rPr dirty="0" sz="4000">
                <a:latin typeface="Arial"/>
                <a:cs typeface="Arial"/>
              </a:rPr>
              <a:t>functions</a:t>
            </a:r>
            <a:r>
              <a:rPr dirty="0" sz="4000" spc="320">
                <a:latin typeface="Arial"/>
                <a:cs typeface="Arial"/>
              </a:rPr>
              <a:t> </a:t>
            </a:r>
            <a:r>
              <a:rPr dirty="0" sz="4000" spc="40">
                <a:latin typeface="Arial"/>
                <a:cs typeface="Arial"/>
              </a:rPr>
              <a:t>of</a:t>
            </a:r>
            <a:r>
              <a:rPr dirty="0" sz="4000">
                <a:latin typeface="Arial"/>
                <a:cs typeface="Arial"/>
              </a:rPr>
              <a:t>	(such</a:t>
            </a:r>
            <a:r>
              <a:rPr dirty="0" sz="4000" spc="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as</a:t>
            </a:r>
            <a:r>
              <a:rPr dirty="0" sz="4000" spc="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powers,</a:t>
            </a:r>
            <a:r>
              <a:rPr dirty="0" sz="4000" spc="1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sinusoids</a:t>
            </a:r>
            <a:r>
              <a:rPr dirty="0" sz="4000" spc="5">
                <a:latin typeface="Arial"/>
                <a:cs typeface="Arial"/>
              </a:rPr>
              <a:t> </a:t>
            </a:r>
            <a:r>
              <a:rPr dirty="0" sz="4000" spc="-20">
                <a:latin typeface="Arial"/>
                <a:cs typeface="Arial"/>
              </a:rPr>
              <a:t>etc) </a:t>
            </a:r>
            <a:r>
              <a:rPr dirty="0" sz="4000">
                <a:latin typeface="Arial"/>
                <a:cs typeface="Arial"/>
              </a:rPr>
              <a:t>will</a:t>
            </a:r>
            <a:r>
              <a:rPr dirty="0" sz="4000" spc="25">
                <a:latin typeface="Arial"/>
                <a:cs typeface="Arial"/>
              </a:rPr>
              <a:t> </a:t>
            </a:r>
            <a:r>
              <a:rPr dirty="0" sz="4000" spc="65">
                <a:latin typeface="Arial"/>
                <a:cs typeface="Arial"/>
              </a:rPr>
              <a:t>fit</a:t>
            </a:r>
            <a:r>
              <a:rPr dirty="0" sz="4000" spc="3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more</a:t>
            </a:r>
            <a:r>
              <a:rPr dirty="0" sz="4000" spc="3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general</a:t>
            </a:r>
            <a:r>
              <a:rPr dirty="0" sz="4000" spc="3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functions</a:t>
            </a:r>
            <a:r>
              <a:rPr dirty="0" sz="4000" spc="30">
                <a:latin typeface="Arial"/>
                <a:cs typeface="Arial"/>
              </a:rPr>
              <a:t> </a:t>
            </a:r>
            <a:r>
              <a:rPr dirty="0" sz="4000" spc="100">
                <a:latin typeface="Arial"/>
                <a:cs typeface="Arial"/>
              </a:rPr>
              <a:t>to</a:t>
            </a:r>
            <a:r>
              <a:rPr dirty="0" sz="4000" spc="2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the</a:t>
            </a:r>
            <a:r>
              <a:rPr dirty="0" sz="4000" spc="30">
                <a:latin typeface="Arial"/>
                <a:cs typeface="Arial"/>
              </a:rPr>
              <a:t> </a:t>
            </a:r>
            <a:r>
              <a:rPr dirty="0" sz="4000" spc="-20">
                <a:latin typeface="Arial"/>
                <a:cs typeface="Arial"/>
              </a:rPr>
              <a:t>data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68587" rIns="0" bIns="0" rtlCol="0" vert="horz">
            <a:spAutoFit/>
          </a:bodyPr>
          <a:lstStyle/>
          <a:p>
            <a:pPr marL="2861310">
              <a:lnSpc>
                <a:spcPct val="100000"/>
              </a:lnSpc>
              <a:spcBef>
                <a:spcPts val="130"/>
              </a:spcBef>
            </a:pPr>
            <a:r>
              <a:rPr dirty="0" sz="4000" b="0">
                <a:latin typeface="Arial"/>
                <a:cs typeface="Arial"/>
              </a:rPr>
              <a:t>Linear</a:t>
            </a:r>
            <a:r>
              <a:rPr dirty="0" sz="4000" spc="-120" b="0">
                <a:latin typeface="Arial"/>
                <a:cs typeface="Arial"/>
              </a:rPr>
              <a:t> </a:t>
            </a:r>
            <a:r>
              <a:rPr dirty="0" sz="4000" spc="-10" b="0">
                <a:latin typeface="Arial"/>
                <a:cs typeface="Arial"/>
              </a:rPr>
              <a:t>regression</a:t>
            </a:r>
            <a:r>
              <a:rPr dirty="0" sz="4000" spc="-114" b="0">
                <a:latin typeface="Arial"/>
                <a:cs typeface="Arial"/>
              </a:rPr>
              <a:t> </a:t>
            </a:r>
            <a:r>
              <a:rPr dirty="0" sz="4000" spc="65" b="0">
                <a:latin typeface="Arial"/>
                <a:cs typeface="Arial"/>
              </a:rPr>
              <a:t>of</a:t>
            </a:r>
            <a:r>
              <a:rPr dirty="0" sz="4000" spc="-114" b="0">
                <a:latin typeface="Arial"/>
                <a:cs typeface="Arial"/>
              </a:rPr>
              <a:t> </a:t>
            </a:r>
            <a:r>
              <a:rPr dirty="0" sz="4800" b="0" i="1">
                <a:latin typeface="Times New Roman"/>
                <a:cs typeface="Times New Roman"/>
              </a:rPr>
              <a:t>y</a:t>
            </a:r>
            <a:r>
              <a:rPr dirty="0" baseline="-19607" sz="5100" b="0" i="1">
                <a:latin typeface="Times New Roman"/>
                <a:cs typeface="Times New Roman"/>
              </a:rPr>
              <a:t>t</a:t>
            </a:r>
            <a:r>
              <a:rPr dirty="0" baseline="-19607" sz="5100" spc="217" b="0" i="1">
                <a:latin typeface="Times New Roman"/>
                <a:cs typeface="Times New Roman"/>
              </a:rPr>
              <a:t> </a:t>
            </a:r>
            <a:r>
              <a:rPr dirty="0" sz="4000" b="0">
                <a:latin typeface="Arial"/>
                <a:cs typeface="Arial"/>
              </a:rPr>
              <a:t>on</a:t>
            </a:r>
            <a:r>
              <a:rPr dirty="0" sz="4000" spc="-120" b="0">
                <a:latin typeface="Arial"/>
                <a:cs typeface="Arial"/>
              </a:rPr>
              <a:t> </a:t>
            </a:r>
            <a:r>
              <a:rPr dirty="0" sz="4800" spc="-25" b="0">
                <a:latin typeface="Cambria"/>
                <a:cs typeface="Cambria"/>
              </a:rPr>
              <a:t>1,</a:t>
            </a:r>
            <a:r>
              <a:rPr dirty="0" sz="4800" spc="-25" b="0" i="1">
                <a:latin typeface="Times New Roman"/>
                <a:cs typeface="Times New Roman"/>
              </a:rPr>
              <a:t>t</a:t>
            </a:r>
            <a:endParaRPr sz="48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0939" y="1692802"/>
            <a:ext cx="11082594" cy="798151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5856" y="1011957"/>
            <a:ext cx="11771542" cy="787719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0635" y="2416184"/>
            <a:ext cx="10803241" cy="7229114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11487" rIns="0" bIns="0" rtlCol="0" vert="horz">
            <a:spAutoFit/>
          </a:bodyPr>
          <a:lstStyle/>
          <a:p>
            <a:pPr marL="296545">
              <a:lnSpc>
                <a:spcPct val="100000"/>
              </a:lnSpc>
              <a:spcBef>
                <a:spcPts val="130"/>
              </a:spcBef>
            </a:pPr>
            <a:r>
              <a:rPr dirty="0" sz="4000" b="0">
                <a:latin typeface="Arial"/>
                <a:cs typeface="Arial"/>
              </a:rPr>
              <a:t>Linear</a:t>
            </a:r>
            <a:r>
              <a:rPr dirty="0" sz="4000" spc="-204" b="0">
                <a:latin typeface="Arial"/>
                <a:cs typeface="Arial"/>
              </a:rPr>
              <a:t> </a:t>
            </a:r>
            <a:r>
              <a:rPr dirty="0" sz="4000" spc="-10" b="0">
                <a:latin typeface="Arial"/>
                <a:cs typeface="Arial"/>
              </a:rPr>
              <a:t>regression</a:t>
            </a:r>
            <a:r>
              <a:rPr dirty="0" sz="4000" spc="-80" b="0">
                <a:latin typeface="Arial"/>
                <a:cs typeface="Arial"/>
              </a:rPr>
              <a:t> </a:t>
            </a:r>
            <a:r>
              <a:rPr dirty="0" sz="4000" spc="65" b="0">
                <a:latin typeface="Arial"/>
                <a:cs typeface="Arial"/>
              </a:rPr>
              <a:t>of</a:t>
            </a:r>
            <a:r>
              <a:rPr dirty="0" sz="4000" spc="-85" b="0">
                <a:latin typeface="Arial"/>
                <a:cs typeface="Arial"/>
              </a:rPr>
              <a:t> </a:t>
            </a:r>
            <a:r>
              <a:rPr dirty="0" sz="4800" b="0" i="1">
                <a:latin typeface="Times New Roman"/>
                <a:cs typeface="Times New Roman"/>
              </a:rPr>
              <a:t>y</a:t>
            </a:r>
            <a:r>
              <a:rPr dirty="0" baseline="-19607" sz="5100" b="0" i="1">
                <a:latin typeface="Times New Roman"/>
                <a:cs typeface="Times New Roman"/>
              </a:rPr>
              <a:t>t</a:t>
            </a:r>
            <a:r>
              <a:rPr dirty="0" baseline="-19607" sz="5100" spc="270" b="0" i="1">
                <a:latin typeface="Times New Roman"/>
                <a:cs typeface="Times New Roman"/>
              </a:rPr>
              <a:t> </a:t>
            </a:r>
            <a:r>
              <a:rPr dirty="0" sz="4000" b="0">
                <a:latin typeface="Arial"/>
                <a:cs typeface="Arial"/>
              </a:rPr>
              <a:t>on</a:t>
            </a:r>
            <a:r>
              <a:rPr dirty="0" sz="4000" spc="-85" b="0">
                <a:latin typeface="Arial"/>
                <a:cs typeface="Arial"/>
              </a:rPr>
              <a:t> </a:t>
            </a:r>
            <a:r>
              <a:rPr dirty="0" sz="4800" spc="-20" b="0">
                <a:latin typeface="Cambria"/>
                <a:cs typeface="Cambria"/>
              </a:rPr>
              <a:t>1,</a:t>
            </a:r>
            <a:r>
              <a:rPr dirty="0" sz="4800" spc="-254" b="0">
                <a:latin typeface="Cambria"/>
                <a:cs typeface="Cambria"/>
              </a:rPr>
              <a:t> </a:t>
            </a:r>
            <a:r>
              <a:rPr dirty="0" sz="4800" spc="-130" b="0">
                <a:latin typeface="Cambria"/>
                <a:cs typeface="Cambria"/>
              </a:rPr>
              <a:t>cos(</a:t>
            </a:r>
            <a:r>
              <a:rPr dirty="0" sz="4800" spc="-130" b="0" i="1">
                <a:latin typeface="Times New Roman"/>
                <a:cs typeface="Times New Roman"/>
              </a:rPr>
              <a:t>πt</a:t>
            </a:r>
            <a:r>
              <a:rPr dirty="0" sz="4800" spc="-130" b="0">
                <a:latin typeface="Cambria"/>
                <a:cs typeface="Cambria"/>
              </a:rPr>
              <a:t>/6),</a:t>
            </a:r>
            <a:r>
              <a:rPr dirty="0" sz="4800" spc="-254" b="0">
                <a:latin typeface="Cambria"/>
                <a:cs typeface="Cambria"/>
              </a:rPr>
              <a:t> </a:t>
            </a:r>
            <a:r>
              <a:rPr dirty="0" sz="4800" spc="-90" b="0">
                <a:latin typeface="Cambria"/>
                <a:cs typeface="Cambria"/>
              </a:rPr>
              <a:t>sin(</a:t>
            </a:r>
            <a:r>
              <a:rPr dirty="0" sz="4800" spc="-90" b="0" i="1">
                <a:latin typeface="Times New Roman"/>
                <a:cs typeface="Times New Roman"/>
              </a:rPr>
              <a:t>πt</a:t>
            </a:r>
            <a:r>
              <a:rPr dirty="0" sz="4800" spc="-90" b="0">
                <a:latin typeface="Cambria"/>
                <a:cs typeface="Cambria"/>
              </a:rPr>
              <a:t>/6)</a:t>
            </a:r>
            <a:r>
              <a:rPr dirty="0" sz="4000" spc="-90" b="0">
                <a:latin typeface="Arial"/>
                <a:cs typeface="Arial"/>
              </a:rPr>
              <a:t>: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9204" y="1940459"/>
            <a:ext cx="11458196" cy="7669516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06687" rIns="0" bIns="0" rtlCol="0" vert="horz">
            <a:spAutoFit/>
          </a:bodyPr>
          <a:lstStyle/>
          <a:p>
            <a:pPr marL="296545">
              <a:lnSpc>
                <a:spcPct val="100000"/>
              </a:lnSpc>
              <a:spcBef>
                <a:spcPts val="130"/>
              </a:spcBef>
            </a:pPr>
            <a:r>
              <a:rPr dirty="0" sz="4800" b="0" i="1">
                <a:latin typeface="Times New Roman"/>
                <a:cs typeface="Times New Roman"/>
              </a:rPr>
              <a:t>y</a:t>
            </a:r>
            <a:r>
              <a:rPr dirty="0" baseline="-19607" sz="5100" b="0" i="1">
                <a:latin typeface="Times New Roman"/>
                <a:cs typeface="Times New Roman"/>
              </a:rPr>
              <a:t>t</a:t>
            </a:r>
            <a:r>
              <a:rPr dirty="0" baseline="-19607" sz="5100" spc="390" b="0" i="1">
                <a:latin typeface="Times New Roman"/>
                <a:cs typeface="Times New Roman"/>
              </a:rPr>
              <a:t> </a:t>
            </a:r>
            <a:r>
              <a:rPr dirty="0" sz="4000" b="0">
                <a:latin typeface="Arial"/>
                <a:cs typeface="Arial"/>
              </a:rPr>
              <a:t>~</a:t>
            </a:r>
            <a:r>
              <a:rPr dirty="0" sz="4000" spc="5" b="0">
                <a:latin typeface="Arial"/>
                <a:cs typeface="Arial"/>
              </a:rPr>
              <a:t> </a:t>
            </a:r>
            <a:r>
              <a:rPr dirty="0" sz="4800" spc="-20" b="0">
                <a:latin typeface="Cambria"/>
                <a:cs typeface="Cambria"/>
              </a:rPr>
              <a:t>1,</a:t>
            </a:r>
            <a:r>
              <a:rPr dirty="0" sz="4800" spc="-254" b="0">
                <a:latin typeface="Cambria"/>
                <a:cs typeface="Cambria"/>
              </a:rPr>
              <a:t> </a:t>
            </a:r>
            <a:r>
              <a:rPr dirty="0" sz="4800" spc="-130" b="0">
                <a:latin typeface="Cambria"/>
                <a:cs typeface="Cambria"/>
              </a:rPr>
              <a:t>cos(</a:t>
            </a:r>
            <a:r>
              <a:rPr dirty="0" sz="4800" spc="-130" b="0" i="1">
                <a:latin typeface="Times New Roman"/>
                <a:cs typeface="Times New Roman"/>
              </a:rPr>
              <a:t>πt</a:t>
            </a:r>
            <a:r>
              <a:rPr dirty="0" sz="4800" spc="-130" b="0">
                <a:latin typeface="Cambria"/>
                <a:cs typeface="Cambria"/>
              </a:rPr>
              <a:t>/6),</a:t>
            </a:r>
            <a:r>
              <a:rPr dirty="0" sz="4800" spc="-250" b="0">
                <a:latin typeface="Cambria"/>
                <a:cs typeface="Cambria"/>
              </a:rPr>
              <a:t> </a:t>
            </a:r>
            <a:r>
              <a:rPr dirty="0" sz="4800" spc="-145" b="0">
                <a:latin typeface="Cambria"/>
                <a:cs typeface="Cambria"/>
              </a:rPr>
              <a:t>sin(</a:t>
            </a:r>
            <a:r>
              <a:rPr dirty="0" sz="4800" spc="-145" b="0" i="1">
                <a:latin typeface="Times New Roman"/>
                <a:cs typeface="Times New Roman"/>
              </a:rPr>
              <a:t>πt</a:t>
            </a:r>
            <a:r>
              <a:rPr dirty="0" sz="4800" spc="-145" b="0">
                <a:latin typeface="Cambria"/>
                <a:cs typeface="Cambria"/>
              </a:rPr>
              <a:t>/6),</a:t>
            </a:r>
            <a:r>
              <a:rPr dirty="0" sz="4800" spc="-254" b="0">
                <a:latin typeface="Cambria"/>
                <a:cs typeface="Cambria"/>
              </a:rPr>
              <a:t> </a:t>
            </a:r>
            <a:r>
              <a:rPr dirty="0" sz="4800" spc="-130" b="0">
                <a:latin typeface="Cambria"/>
                <a:cs typeface="Cambria"/>
              </a:rPr>
              <a:t>cos(</a:t>
            </a:r>
            <a:r>
              <a:rPr dirty="0" sz="4800" spc="-130" b="0" i="1">
                <a:latin typeface="Times New Roman"/>
                <a:cs typeface="Times New Roman"/>
              </a:rPr>
              <a:t>πt</a:t>
            </a:r>
            <a:r>
              <a:rPr dirty="0" sz="4800" spc="-130" b="0">
                <a:latin typeface="Cambria"/>
                <a:cs typeface="Cambria"/>
              </a:rPr>
              <a:t>/3),</a:t>
            </a:r>
            <a:r>
              <a:rPr dirty="0" sz="4800" spc="-250" b="0">
                <a:latin typeface="Cambria"/>
                <a:cs typeface="Cambria"/>
              </a:rPr>
              <a:t> </a:t>
            </a:r>
            <a:r>
              <a:rPr dirty="0" sz="4800" spc="-100" b="0">
                <a:latin typeface="Cambria"/>
                <a:cs typeface="Cambria"/>
              </a:rPr>
              <a:t>sin(</a:t>
            </a:r>
            <a:r>
              <a:rPr dirty="0" sz="4800" spc="-100" b="0" i="1">
                <a:latin typeface="Times New Roman"/>
                <a:cs typeface="Times New Roman"/>
              </a:rPr>
              <a:t>πt</a:t>
            </a:r>
            <a:r>
              <a:rPr dirty="0" sz="4800" spc="-100" b="0">
                <a:latin typeface="Cambria"/>
                <a:cs typeface="Cambria"/>
              </a:rPr>
              <a:t>/3)</a:t>
            </a:r>
            <a:endParaRPr sz="4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9301" y="2562503"/>
            <a:ext cx="11266183" cy="6993306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71548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200" spc="-120" b="0">
                <a:latin typeface="Cambria"/>
                <a:cs typeface="Cambria"/>
              </a:rPr>
              <a:t>cos(</a:t>
            </a:r>
            <a:r>
              <a:rPr dirty="0" sz="4200" spc="-120" b="0" i="1">
                <a:latin typeface="Times New Roman"/>
                <a:cs typeface="Times New Roman"/>
              </a:rPr>
              <a:t>πt</a:t>
            </a:r>
            <a:r>
              <a:rPr dirty="0" sz="4200" spc="-120" b="0">
                <a:latin typeface="Cambria"/>
                <a:cs typeface="Cambria"/>
              </a:rPr>
              <a:t>/6),</a:t>
            </a:r>
            <a:r>
              <a:rPr dirty="0" sz="4200" spc="-175" b="0">
                <a:latin typeface="Cambria"/>
                <a:cs typeface="Cambria"/>
              </a:rPr>
              <a:t> </a:t>
            </a:r>
            <a:r>
              <a:rPr dirty="0" sz="4200" spc="-135" b="0">
                <a:latin typeface="Cambria"/>
                <a:cs typeface="Cambria"/>
              </a:rPr>
              <a:t>sin(</a:t>
            </a:r>
            <a:r>
              <a:rPr dirty="0" sz="4200" spc="-135" b="0" i="1">
                <a:latin typeface="Times New Roman"/>
                <a:cs typeface="Times New Roman"/>
              </a:rPr>
              <a:t>πt</a:t>
            </a:r>
            <a:r>
              <a:rPr dirty="0" sz="4200" spc="-135" b="0">
                <a:latin typeface="Cambria"/>
                <a:cs typeface="Cambria"/>
              </a:rPr>
              <a:t>/6),</a:t>
            </a:r>
            <a:r>
              <a:rPr dirty="0" sz="4200" spc="-170" b="0">
                <a:latin typeface="Cambria"/>
                <a:cs typeface="Cambria"/>
              </a:rPr>
              <a:t> </a:t>
            </a:r>
            <a:r>
              <a:rPr dirty="0" sz="4200" spc="-120" b="0">
                <a:latin typeface="Cambria"/>
                <a:cs typeface="Cambria"/>
              </a:rPr>
              <a:t>cos(</a:t>
            </a:r>
            <a:r>
              <a:rPr dirty="0" sz="4200" spc="-120" b="0" i="1">
                <a:latin typeface="Times New Roman"/>
                <a:cs typeface="Times New Roman"/>
              </a:rPr>
              <a:t>πt</a:t>
            </a:r>
            <a:r>
              <a:rPr dirty="0" sz="4200" spc="-120" b="0">
                <a:latin typeface="Cambria"/>
                <a:cs typeface="Cambria"/>
              </a:rPr>
              <a:t>/3),</a:t>
            </a:r>
            <a:r>
              <a:rPr dirty="0" sz="4200" spc="-170" b="0">
                <a:latin typeface="Cambria"/>
                <a:cs typeface="Cambria"/>
              </a:rPr>
              <a:t> </a:t>
            </a:r>
            <a:r>
              <a:rPr dirty="0" sz="4200" spc="-135" b="0">
                <a:latin typeface="Cambria"/>
                <a:cs typeface="Cambria"/>
              </a:rPr>
              <a:t>sin(</a:t>
            </a:r>
            <a:r>
              <a:rPr dirty="0" sz="4200" spc="-135" b="0" i="1">
                <a:latin typeface="Times New Roman"/>
                <a:cs typeface="Times New Roman"/>
              </a:rPr>
              <a:t>πt</a:t>
            </a:r>
            <a:r>
              <a:rPr dirty="0" sz="4200" spc="-135" b="0">
                <a:latin typeface="Cambria"/>
                <a:cs typeface="Cambria"/>
              </a:rPr>
              <a:t>/3),</a:t>
            </a:r>
            <a:r>
              <a:rPr dirty="0" sz="4200" spc="-170" b="0">
                <a:latin typeface="Cambria"/>
                <a:cs typeface="Cambria"/>
              </a:rPr>
              <a:t> </a:t>
            </a:r>
            <a:r>
              <a:rPr dirty="0" sz="4200" spc="-120" b="0">
                <a:latin typeface="Cambria"/>
                <a:cs typeface="Cambria"/>
              </a:rPr>
              <a:t>cos(</a:t>
            </a:r>
            <a:r>
              <a:rPr dirty="0" sz="4200" spc="-120" b="0" i="1">
                <a:latin typeface="Times New Roman"/>
                <a:cs typeface="Times New Roman"/>
              </a:rPr>
              <a:t>πt</a:t>
            </a:r>
            <a:r>
              <a:rPr dirty="0" sz="4200" spc="-120" b="0">
                <a:latin typeface="Cambria"/>
                <a:cs typeface="Cambria"/>
              </a:rPr>
              <a:t>/2),</a:t>
            </a:r>
            <a:r>
              <a:rPr dirty="0" sz="4200" spc="-175" b="0">
                <a:latin typeface="Cambria"/>
                <a:cs typeface="Cambria"/>
              </a:rPr>
              <a:t> </a:t>
            </a:r>
            <a:r>
              <a:rPr dirty="0" sz="4200" spc="-85" b="0">
                <a:latin typeface="Cambria"/>
                <a:cs typeface="Cambria"/>
              </a:rPr>
              <a:t>sin(</a:t>
            </a:r>
            <a:r>
              <a:rPr dirty="0" sz="4200" spc="-85" b="0" i="1">
                <a:latin typeface="Times New Roman"/>
                <a:cs typeface="Times New Roman"/>
              </a:rPr>
              <a:t>πt</a:t>
            </a:r>
            <a:r>
              <a:rPr dirty="0" sz="4200" spc="-85" b="0">
                <a:latin typeface="Cambria"/>
                <a:cs typeface="Cambria"/>
              </a:rPr>
              <a:t>/2)</a:t>
            </a:r>
            <a:endParaRPr sz="42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2470" y="2584094"/>
            <a:ext cx="11432749" cy="709780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064172" y="534857"/>
            <a:ext cx="6602730" cy="76200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  <a:tabLst>
                <a:tab pos="580390" algn="l"/>
                <a:tab pos="3657600" algn="l"/>
                <a:tab pos="4418965" algn="l"/>
              </a:tabLst>
            </a:pPr>
            <a:r>
              <a:rPr dirty="0" sz="4800" spc="-25" b="0" i="1">
                <a:latin typeface="Times New Roman"/>
                <a:cs typeface="Times New Roman"/>
              </a:rPr>
              <a:t>y</a:t>
            </a:r>
            <a:r>
              <a:rPr dirty="0" baseline="-19607" sz="5100" spc="-37" b="0" i="1">
                <a:latin typeface="Times New Roman"/>
                <a:cs typeface="Times New Roman"/>
              </a:rPr>
              <a:t>t</a:t>
            </a:r>
            <a:r>
              <a:rPr dirty="0" baseline="-19607" sz="5100" b="0" i="1">
                <a:latin typeface="Times New Roman"/>
                <a:cs typeface="Times New Roman"/>
              </a:rPr>
              <a:t>	</a:t>
            </a:r>
            <a:r>
              <a:rPr dirty="0" sz="4800" b="0">
                <a:latin typeface="Cambria"/>
                <a:cs typeface="Cambria"/>
              </a:rPr>
              <a:t>∼</a:t>
            </a:r>
            <a:r>
              <a:rPr dirty="0" sz="4800" spc="145" b="0">
                <a:latin typeface="Cambria"/>
                <a:cs typeface="Cambria"/>
              </a:rPr>
              <a:t> </a:t>
            </a:r>
            <a:r>
              <a:rPr dirty="0" sz="4000" spc="-10" b="0">
                <a:latin typeface="Arial"/>
                <a:cs typeface="Arial"/>
              </a:rPr>
              <a:t>sinusoids</a:t>
            </a:r>
            <a:r>
              <a:rPr dirty="0" sz="4000" b="0">
                <a:latin typeface="Arial"/>
                <a:cs typeface="Arial"/>
              </a:rPr>
              <a:t>	</a:t>
            </a:r>
            <a:r>
              <a:rPr dirty="0" sz="4800" spc="585" b="0">
                <a:latin typeface="Cambria"/>
                <a:cs typeface="Cambria"/>
              </a:rPr>
              <a:t>+</a:t>
            </a:r>
            <a:r>
              <a:rPr dirty="0" sz="4800" b="0">
                <a:latin typeface="Cambria"/>
                <a:cs typeface="Cambria"/>
              </a:rPr>
              <a:t>	</a:t>
            </a:r>
            <a:r>
              <a:rPr dirty="0" sz="4000" spc="-10" b="0">
                <a:latin typeface="Arial"/>
                <a:cs typeface="Arial"/>
              </a:rPr>
              <a:t>quadratic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6659" y="2488997"/>
            <a:ext cx="11214100" cy="4748530"/>
          </a:xfrm>
          <a:prstGeom prst="rect">
            <a:avLst/>
          </a:prstGeom>
        </p:spPr>
        <p:txBody>
          <a:bodyPr wrap="square" lIns="0" tIns="80645" rIns="0" bIns="0" rtlCol="0" vert="horz">
            <a:spAutoFit/>
          </a:bodyPr>
          <a:lstStyle/>
          <a:p>
            <a:pPr marL="520065" marR="5080" indent="-508000">
              <a:lnSpc>
                <a:spcPts val="4330"/>
              </a:lnSpc>
              <a:spcBef>
                <a:spcPts val="635"/>
              </a:spcBef>
              <a:buSzPct val="122500"/>
              <a:buChar char="•"/>
              <a:tabLst>
                <a:tab pos="520065" algn="l"/>
              </a:tabLst>
            </a:pPr>
            <a:r>
              <a:rPr dirty="0" sz="4000" spc="-20">
                <a:latin typeface="Arial"/>
                <a:cs typeface="Arial"/>
              </a:rPr>
              <a:t>These</a:t>
            </a:r>
            <a:r>
              <a:rPr dirty="0" sz="4000" spc="-7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models</a:t>
            </a:r>
            <a:r>
              <a:rPr dirty="0" sz="4000" spc="-7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clearly</a:t>
            </a:r>
            <a:r>
              <a:rPr dirty="0" sz="4000" spc="-7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give</a:t>
            </a:r>
            <a:r>
              <a:rPr dirty="0" sz="4000" spc="-75">
                <a:latin typeface="Arial"/>
                <a:cs typeface="Arial"/>
              </a:rPr>
              <a:t> </a:t>
            </a:r>
            <a:r>
              <a:rPr dirty="0" sz="4000" spc="-10">
                <a:latin typeface="Arial"/>
                <a:cs typeface="Arial"/>
              </a:rPr>
              <a:t>(sometimes </a:t>
            </a:r>
            <a:r>
              <a:rPr dirty="0" sz="4000" spc="-25">
                <a:latin typeface="Arial"/>
                <a:cs typeface="Arial"/>
              </a:rPr>
              <a:t>reasonable)</a:t>
            </a:r>
            <a:r>
              <a:rPr dirty="0" sz="4000" spc="9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solutions</a:t>
            </a:r>
            <a:r>
              <a:rPr dirty="0" sz="4000" spc="90">
                <a:latin typeface="Arial"/>
                <a:cs typeface="Arial"/>
              </a:rPr>
              <a:t> </a:t>
            </a:r>
            <a:r>
              <a:rPr dirty="0" sz="4000" spc="100">
                <a:latin typeface="Arial"/>
                <a:cs typeface="Arial"/>
              </a:rPr>
              <a:t>to</a:t>
            </a:r>
            <a:r>
              <a:rPr dirty="0" sz="4000" spc="8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the</a:t>
            </a:r>
            <a:r>
              <a:rPr dirty="0" sz="4000" spc="9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prediction</a:t>
            </a:r>
            <a:r>
              <a:rPr dirty="0" sz="4000" spc="90">
                <a:latin typeface="Arial"/>
                <a:cs typeface="Arial"/>
              </a:rPr>
              <a:t> </a:t>
            </a:r>
            <a:r>
              <a:rPr dirty="0" sz="4000" spc="-10">
                <a:latin typeface="Arial"/>
                <a:cs typeface="Arial"/>
              </a:rPr>
              <a:t>problem</a:t>
            </a:r>
            <a:endParaRPr sz="4000">
              <a:latin typeface="Arial"/>
              <a:cs typeface="Arial"/>
            </a:endParaRPr>
          </a:p>
          <a:p>
            <a:pPr marL="520065" marR="598805" indent="-508000">
              <a:lnSpc>
                <a:spcPts val="4330"/>
              </a:lnSpc>
              <a:spcBef>
                <a:spcPts val="3200"/>
              </a:spcBef>
              <a:buSzPct val="122500"/>
              <a:buChar char="•"/>
              <a:tabLst>
                <a:tab pos="520065" algn="l"/>
              </a:tabLst>
            </a:pPr>
            <a:r>
              <a:rPr dirty="0" sz="4000">
                <a:latin typeface="Arial"/>
                <a:cs typeface="Arial"/>
              </a:rPr>
              <a:t>The</a:t>
            </a:r>
            <a:r>
              <a:rPr dirty="0" sz="4000" spc="5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first</a:t>
            </a:r>
            <a:r>
              <a:rPr dirty="0" sz="4000" spc="50">
                <a:latin typeface="Arial"/>
                <a:cs typeface="Arial"/>
              </a:rPr>
              <a:t> </a:t>
            </a:r>
            <a:r>
              <a:rPr dirty="0" sz="4000" spc="100">
                <a:latin typeface="Arial"/>
                <a:cs typeface="Arial"/>
              </a:rPr>
              <a:t>topic</a:t>
            </a:r>
            <a:r>
              <a:rPr dirty="0" sz="4000" spc="5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in</a:t>
            </a:r>
            <a:r>
              <a:rPr dirty="0" sz="4000" spc="5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this</a:t>
            </a:r>
            <a:r>
              <a:rPr dirty="0" sz="4000" spc="5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course</a:t>
            </a:r>
            <a:r>
              <a:rPr dirty="0" sz="4000" spc="5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is</a:t>
            </a:r>
            <a:r>
              <a:rPr dirty="0" sz="4000" spc="5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multiple</a:t>
            </a:r>
            <a:r>
              <a:rPr dirty="0" sz="4000" spc="50">
                <a:latin typeface="Arial"/>
                <a:cs typeface="Arial"/>
              </a:rPr>
              <a:t> </a:t>
            </a:r>
            <a:r>
              <a:rPr dirty="0" sz="4000" spc="-10">
                <a:latin typeface="Arial"/>
                <a:cs typeface="Arial"/>
              </a:rPr>
              <a:t>linear regression</a:t>
            </a:r>
            <a:endParaRPr sz="4000">
              <a:latin typeface="Arial"/>
              <a:cs typeface="Arial"/>
            </a:endParaRPr>
          </a:p>
          <a:p>
            <a:pPr marL="520065" marR="280035" indent="-508000">
              <a:lnSpc>
                <a:spcPts val="4330"/>
              </a:lnSpc>
              <a:spcBef>
                <a:spcPts val="3204"/>
              </a:spcBef>
              <a:buSzPct val="122500"/>
              <a:buChar char="•"/>
              <a:tabLst>
                <a:tab pos="520065" algn="l"/>
              </a:tabLst>
            </a:pPr>
            <a:r>
              <a:rPr dirty="0" sz="4000" spc="-120">
                <a:latin typeface="Arial"/>
                <a:cs typeface="Arial"/>
              </a:rPr>
              <a:t>We</a:t>
            </a:r>
            <a:r>
              <a:rPr dirty="0" sz="4000" spc="-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will</a:t>
            </a:r>
            <a:r>
              <a:rPr dirty="0" sz="4000" spc="-5">
                <a:latin typeface="Arial"/>
                <a:cs typeface="Arial"/>
              </a:rPr>
              <a:t> </a:t>
            </a:r>
            <a:r>
              <a:rPr dirty="0" sz="4000" spc="65">
                <a:latin typeface="Arial"/>
                <a:cs typeface="Arial"/>
              </a:rPr>
              <a:t>go</a:t>
            </a:r>
            <a:r>
              <a:rPr dirty="0" sz="4000">
                <a:latin typeface="Arial"/>
                <a:cs typeface="Arial"/>
              </a:rPr>
              <a:t> over</a:t>
            </a:r>
            <a:r>
              <a:rPr dirty="0" sz="4000" spc="-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the</a:t>
            </a:r>
            <a:r>
              <a:rPr dirty="0" sz="4000" spc="-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usual frequentist</a:t>
            </a:r>
            <a:r>
              <a:rPr dirty="0" sz="4000" spc="-5">
                <a:latin typeface="Arial"/>
                <a:cs typeface="Arial"/>
              </a:rPr>
              <a:t> </a:t>
            </a:r>
            <a:r>
              <a:rPr dirty="0" sz="4000" spc="-10">
                <a:latin typeface="Arial"/>
                <a:cs typeface="Arial"/>
              </a:rPr>
              <a:t>inference </a:t>
            </a:r>
            <a:r>
              <a:rPr dirty="0" sz="4000" spc="90">
                <a:latin typeface="Arial"/>
                <a:cs typeface="Arial"/>
              </a:rPr>
              <a:t>but</a:t>
            </a:r>
            <a:r>
              <a:rPr dirty="0" sz="4000" spc="1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also</a:t>
            </a:r>
            <a:r>
              <a:rPr dirty="0" sz="4000" spc="1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discuss</a:t>
            </a:r>
            <a:r>
              <a:rPr dirty="0" sz="4000" spc="2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in</a:t>
            </a:r>
            <a:r>
              <a:rPr dirty="0" sz="4000" spc="1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detail</a:t>
            </a:r>
            <a:r>
              <a:rPr dirty="0" sz="4000" spc="1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Bayesian</a:t>
            </a:r>
            <a:r>
              <a:rPr dirty="0" sz="4000" spc="20">
                <a:latin typeface="Arial"/>
                <a:cs typeface="Arial"/>
              </a:rPr>
              <a:t> </a:t>
            </a:r>
            <a:r>
              <a:rPr dirty="0" sz="4000" spc="-10">
                <a:latin typeface="Arial"/>
                <a:cs typeface="Arial"/>
              </a:rPr>
              <a:t>inference </a:t>
            </a:r>
            <a:r>
              <a:rPr dirty="0" sz="4000">
                <a:latin typeface="Arial"/>
                <a:cs typeface="Arial"/>
              </a:rPr>
              <a:t>for</a:t>
            </a:r>
            <a:r>
              <a:rPr dirty="0" sz="4000" spc="-5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linear</a:t>
            </a:r>
            <a:r>
              <a:rPr dirty="0" sz="4000" spc="-50">
                <a:latin typeface="Arial"/>
                <a:cs typeface="Arial"/>
              </a:rPr>
              <a:t> </a:t>
            </a:r>
            <a:r>
              <a:rPr dirty="0" sz="4000" spc="-10">
                <a:latin typeface="Arial"/>
                <a:cs typeface="Arial"/>
              </a:rPr>
              <a:t>regression</a:t>
            </a:r>
            <a:endParaRPr sz="40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26202" rIns="0" bIns="0" rtlCol="0" vert="horz">
            <a:spAutoFit/>
          </a:bodyPr>
          <a:lstStyle/>
          <a:p>
            <a:pPr marL="527685">
              <a:lnSpc>
                <a:spcPct val="100000"/>
              </a:lnSpc>
              <a:spcBef>
                <a:spcPts val="120"/>
              </a:spcBef>
            </a:pPr>
            <a:r>
              <a:rPr dirty="0" sz="5200" spc="-695"/>
              <a:t>T</a:t>
            </a:r>
            <a:r>
              <a:rPr dirty="0" sz="5200" spc="-114"/>
              <a:t>op</a:t>
            </a:r>
            <a:r>
              <a:rPr dirty="0" sz="5200" spc="-125"/>
              <a:t>i</a:t>
            </a:r>
            <a:r>
              <a:rPr dirty="0" sz="5200" spc="-10"/>
              <a:t>c</a:t>
            </a:r>
            <a:r>
              <a:rPr dirty="0" sz="5200" spc="-204"/>
              <a:t> </a:t>
            </a:r>
            <a:r>
              <a:rPr dirty="0" sz="5200" spc="-175"/>
              <a:t>One:</a:t>
            </a:r>
            <a:r>
              <a:rPr dirty="0" sz="5200" spc="-204"/>
              <a:t> </a:t>
            </a:r>
            <a:r>
              <a:rPr dirty="0" sz="5200" spc="-55"/>
              <a:t>Multiple</a:t>
            </a:r>
            <a:r>
              <a:rPr dirty="0" sz="5200" spc="-250"/>
              <a:t> </a:t>
            </a:r>
            <a:r>
              <a:rPr dirty="0" sz="5200" spc="-110"/>
              <a:t>Linear</a:t>
            </a:r>
            <a:r>
              <a:rPr dirty="0" sz="5200" spc="-220"/>
              <a:t> </a:t>
            </a:r>
            <a:r>
              <a:rPr dirty="0" sz="5200" spc="-90"/>
              <a:t>Regression</a:t>
            </a:r>
            <a:endParaRPr sz="52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22732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819"/>
              <a:t>T</a:t>
            </a:r>
            <a:r>
              <a:rPr dirty="0" spc="-155"/>
              <a:t>op</a:t>
            </a:r>
            <a:r>
              <a:rPr dirty="0" spc="-165"/>
              <a:t>i</a:t>
            </a:r>
            <a:r>
              <a:rPr dirty="0" spc="-30"/>
              <a:t>c</a:t>
            </a:r>
            <a:r>
              <a:rPr dirty="0" spc="-229"/>
              <a:t> </a:t>
            </a:r>
            <a:r>
              <a:rPr dirty="0" spc="-819"/>
              <a:t>T</a:t>
            </a:r>
            <a:r>
              <a:rPr dirty="0" spc="-175"/>
              <a:t>w</a:t>
            </a:r>
            <a:r>
              <a:rPr dirty="0" spc="-180"/>
              <a:t>o</a:t>
            </a:r>
            <a:r>
              <a:rPr dirty="0" spc="-55"/>
              <a:t>:</a:t>
            </a:r>
            <a:r>
              <a:rPr dirty="0" spc="-229"/>
              <a:t> </a:t>
            </a:r>
            <a:r>
              <a:rPr dirty="0" spc="-140"/>
              <a:t>Nonlinear</a:t>
            </a:r>
            <a:r>
              <a:rPr dirty="0" spc="-225"/>
              <a:t> </a:t>
            </a:r>
            <a:r>
              <a:rPr dirty="0" spc="-130"/>
              <a:t>Regression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34634" y="4313782"/>
            <a:ext cx="10742295" cy="1195705"/>
          </a:xfrm>
          <a:prstGeom prst="rect">
            <a:avLst/>
          </a:prstGeom>
        </p:spPr>
        <p:txBody>
          <a:bodyPr wrap="square" lIns="0" tIns="72390" rIns="0" bIns="0" rtlCol="0" vert="horz">
            <a:spAutoFit/>
          </a:bodyPr>
          <a:lstStyle/>
          <a:p>
            <a:pPr marL="12700" marR="5080">
              <a:lnSpc>
                <a:spcPts val="4410"/>
              </a:lnSpc>
              <a:spcBef>
                <a:spcPts val="570"/>
              </a:spcBef>
            </a:pPr>
            <a:r>
              <a:rPr dirty="0" sz="4000">
                <a:latin typeface="Arial"/>
                <a:cs typeface="Arial"/>
              </a:rPr>
              <a:t>For</a:t>
            </a:r>
            <a:r>
              <a:rPr dirty="0" sz="4000" spc="-13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many</a:t>
            </a:r>
            <a:r>
              <a:rPr dirty="0" sz="4000" spc="-13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time</a:t>
            </a:r>
            <a:r>
              <a:rPr dirty="0" sz="4000" spc="-13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series,</a:t>
            </a:r>
            <a:r>
              <a:rPr dirty="0" sz="4000" spc="-13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nonlinear</a:t>
            </a:r>
            <a:r>
              <a:rPr dirty="0" sz="4000" spc="-130">
                <a:latin typeface="Arial"/>
                <a:cs typeface="Arial"/>
              </a:rPr>
              <a:t> </a:t>
            </a:r>
            <a:r>
              <a:rPr dirty="0" sz="4000" spc="-10">
                <a:latin typeface="Arial"/>
                <a:cs typeface="Arial"/>
              </a:rPr>
              <a:t>regression</a:t>
            </a:r>
            <a:r>
              <a:rPr dirty="0" sz="4000" spc="-130">
                <a:latin typeface="Arial"/>
                <a:cs typeface="Arial"/>
              </a:rPr>
              <a:t> </a:t>
            </a:r>
            <a:r>
              <a:rPr dirty="0" sz="4000" spc="-20">
                <a:latin typeface="Arial"/>
                <a:cs typeface="Arial"/>
              </a:rPr>
              <a:t>over </a:t>
            </a:r>
            <a:r>
              <a:rPr dirty="0" sz="4000">
                <a:latin typeface="Arial"/>
                <a:cs typeface="Arial"/>
              </a:rPr>
              <a:t>leads</a:t>
            </a:r>
            <a:r>
              <a:rPr dirty="0" sz="4000" spc="5">
                <a:latin typeface="Arial"/>
                <a:cs typeface="Arial"/>
              </a:rPr>
              <a:t> </a:t>
            </a:r>
            <a:r>
              <a:rPr dirty="0" sz="4000" spc="100">
                <a:latin typeface="Arial"/>
                <a:cs typeface="Arial"/>
              </a:rPr>
              <a:t>to</a:t>
            </a:r>
            <a:r>
              <a:rPr dirty="0" sz="4000" spc="1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much</a:t>
            </a:r>
            <a:r>
              <a:rPr dirty="0" sz="4000" spc="1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more</a:t>
            </a:r>
            <a:r>
              <a:rPr dirty="0" sz="4000" spc="1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useful</a:t>
            </a:r>
            <a:r>
              <a:rPr dirty="0" sz="4000" spc="1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and</a:t>
            </a:r>
            <a:r>
              <a:rPr dirty="0" sz="4000" spc="1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realistic</a:t>
            </a:r>
            <a:r>
              <a:rPr dirty="0" sz="4000" spc="10">
                <a:latin typeface="Arial"/>
                <a:cs typeface="Arial"/>
              </a:rPr>
              <a:t> </a:t>
            </a:r>
            <a:r>
              <a:rPr dirty="0" sz="4000" spc="-10">
                <a:latin typeface="Arial"/>
                <a:cs typeface="Arial"/>
              </a:rPr>
              <a:t>models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5584" y="1012810"/>
            <a:ext cx="11310972" cy="815253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68587" rIns="0" bIns="0" rtlCol="0" vert="horz">
            <a:spAutoFit/>
          </a:bodyPr>
          <a:lstStyle/>
          <a:p>
            <a:pPr marL="2861310">
              <a:lnSpc>
                <a:spcPct val="100000"/>
              </a:lnSpc>
              <a:spcBef>
                <a:spcPts val="130"/>
              </a:spcBef>
            </a:pPr>
            <a:r>
              <a:rPr dirty="0" sz="4000" b="0">
                <a:latin typeface="Arial"/>
                <a:cs typeface="Arial"/>
              </a:rPr>
              <a:t>Linear</a:t>
            </a:r>
            <a:r>
              <a:rPr dirty="0" sz="4000" spc="-120" b="0">
                <a:latin typeface="Arial"/>
                <a:cs typeface="Arial"/>
              </a:rPr>
              <a:t> </a:t>
            </a:r>
            <a:r>
              <a:rPr dirty="0" sz="4000" spc="-10" b="0">
                <a:latin typeface="Arial"/>
                <a:cs typeface="Arial"/>
              </a:rPr>
              <a:t>regression</a:t>
            </a:r>
            <a:r>
              <a:rPr dirty="0" sz="4000" spc="-114" b="0">
                <a:latin typeface="Arial"/>
                <a:cs typeface="Arial"/>
              </a:rPr>
              <a:t> </a:t>
            </a:r>
            <a:r>
              <a:rPr dirty="0" sz="4000" spc="65" b="0">
                <a:latin typeface="Arial"/>
                <a:cs typeface="Arial"/>
              </a:rPr>
              <a:t>of</a:t>
            </a:r>
            <a:r>
              <a:rPr dirty="0" sz="4000" spc="-114" b="0">
                <a:latin typeface="Arial"/>
                <a:cs typeface="Arial"/>
              </a:rPr>
              <a:t> </a:t>
            </a:r>
            <a:r>
              <a:rPr dirty="0" sz="4800" b="0" i="1">
                <a:latin typeface="Times New Roman"/>
                <a:cs typeface="Times New Roman"/>
              </a:rPr>
              <a:t>y</a:t>
            </a:r>
            <a:r>
              <a:rPr dirty="0" baseline="-19607" sz="5100" b="0" i="1">
                <a:latin typeface="Times New Roman"/>
                <a:cs typeface="Times New Roman"/>
              </a:rPr>
              <a:t>t</a:t>
            </a:r>
            <a:r>
              <a:rPr dirty="0" baseline="-19607" sz="5100" spc="217" b="0" i="1">
                <a:latin typeface="Times New Roman"/>
                <a:cs typeface="Times New Roman"/>
              </a:rPr>
              <a:t> </a:t>
            </a:r>
            <a:r>
              <a:rPr dirty="0" sz="4000" b="0">
                <a:latin typeface="Arial"/>
                <a:cs typeface="Arial"/>
              </a:rPr>
              <a:t>on</a:t>
            </a:r>
            <a:r>
              <a:rPr dirty="0" sz="4000" spc="-120" b="0">
                <a:latin typeface="Arial"/>
                <a:cs typeface="Arial"/>
              </a:rPr>
              <a:t> </a:t>
            </a:r>
            <a:r>
              <a:rPr dirty="0" sz="4800" spc="-25" b="0">
                <a:latin typeface="Cambria"/>
                <a:cs typeface="Cambria"/>
              </a:rPr>
              <a:t>1,</a:t>
            </a:r>
            <a:r>
              <a:rPr dirty="0" sz="4800" spc="-25" b="0" i="1">
                <a:latin typeface="Times New Roman"/>
                <a:cs typeface="Times New Roman"/>
              </a:rPr>
              <a:t>t</a:t>
            </a:r>
            <a:endParaRPr sz="48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0939" y="1692802"/>
            <a:ext cx="11082594" cy="798151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3599" y="461847"/>
            <a:ext cx="12089130" cy="8726805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558165" marR="1001394" indent="-508000">
              <a:lnSpc>
                <a:spcPct val="99100"/>
              </a:lnSpc>
              <a:spcBef>
                <a:spcPts val="434"/>
              </a:spcBef>
              <a:buSzPct val="122500"/>
              <a:buChar char="•"/>
              <a:tabLst>
                <a:tab pos="558165" algn="l"/>
                <a:tab pos="4491990" algn="l"/>
              </a:tabLst>
            </a:pPr>
            <a:r>
              <a:rPr dirty="0" sz="4000">
                <a:latin typeface="Arial"/>
                <a:cs typeface="Arial"/>
              </a:rPr>
              <a:t>For</a:t>
            </a:r>
            <a:r>
              <a:rPr dirty="0" sz="4000" spc="7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the</a:t>
            </a:r>
            <a:r>
              <a:rPr dirty="0" sz="4000" spc="7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US</a:t>
            </a:r>
            <a:r>
              <a:rPr dirty="0" sz="4000" spc="7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population</a:t>
            </a:r>
            <a:r>
              <a:rPr dirty="0" sz="4000" spc="7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dataset,</a:t>
            </a:r>
            <a:r>
              <a:rPr dirty="0" sz="4000" spc="7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simple</a:t>
            </a:r>
            <a:r>
              <a:rPr dirty="0" sz="4000" spc="75">
                <a:latin typeface="Arial"/>
                <a:cs typeface="Arial"/>
              </a:rPr>
              <a:t> </a:t>
            </a:r>
            <a:r>
              <a:rPr dirty="0" sz="4000" spc="-10">
                <a:latin typeface="Arial"/>
                <a:cs typeface="Arial"/>
              </a:rPr>
              <a:t>linear regression</a:t>
            </a:r>
            <a:r>
              <a:rPr dirty="0" sz="4000" spc="-240">
                <a:latin typeface="Arial"/>
                <a:cs typeface="Arial"/>
              </a:rPr>
              <a:t> </a:t>
            </a:r>
            <a:r>
              <a:rPr dirty="0" sz="4000" spc="-20">
                <a:latin typeface="Arial"/>
                <a:cs typeface="Arial"/>
              </a:rPr>
              <a:t>over</a:t>
            </a:r>
            <a:r>
              <a:rPr dirty="0" sz="4000">
                <a:latin typeface="Arial"/>
                <a:cs typeface="Arial"/>
              </a:rPr>
              <a:t>	fits</a:t>
            </a:r>
            <a:r>
              <a:rPr dirty="0" sz="4000" spc="-2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one</a:t>
            </a:r>
            <a:r>
              <a:rPr dirty="0" sz="4000" spc="-2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line</a:t>
            </a:r>
            <a:r>
              <a:rPr dirty="0" sz="4000" spc="-20">
                <a:latin typeface="Arial"/>
                <a:cs typeface="Arial"/>
              </a:rPr>
              <a:t> </a:t>
            </a:r>
            <a:r>
              <a:rPr dirty="0" sz="4000" spc="100">
                <a:latin typeface="Arial"/>
                <a:cs typeface="Arial"/>
              </a:rPr>
              <a:t>to</a:t>
            </a:r>
            <a:r>
              <a:rPr dirty="0" sz="4000" spc="-2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the</a:t>
            </a:r>
            <a:r>
              <a:rPr dirty="0" sz="4000" spc="-2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entire</a:t>
            </a:r>
            <a:r>
              <a:rPr dirty="0" sz="4000" spc="-15">
                <a:latin typeface="Arial"/>
                <a:cs typeface="Arial"/>
              </a:rPr>
              <a:t> </a:t>
            </a:r>
            <a:r>
              <a:rPr dirty="0" sz="4000" spc="-20">
                <a:latin typeface="Arial"/>
                <a:cs typeface="Arial"/>
              </a:rPr>
              <a:t>data </a:t>
            </a:r>
            <a:r>
              <a:rPr dirty="0" sz="4000">
                <a:latin typeface="Arial"/>
                <a:cs typeface="Arial"/>
              </a:rPr>
              <a:t>which</a:t>
            </a:r>
            <a:r>
              <a:rPr dirty="0" sz="4000" spc="2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is</a:t>
            </a:r>
            <a:r>
              <a:rPr dirty="0" sz="4000" spc="3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clearly</a:t>
            </a:r>
            <a:r>
              <a:rPr dirty="0" sz="4000" spc="30">
                <a:latin typeface="Arial"/>
                <a:cs typeface="Arial"/>
              </a:rPr>
              <a:t> </a:t>
            </a:r>
            <a:r>
              <a:rPr dirty="0" sz="4000" spc="-10">
                <a:latin typeface="Arial"/>
                <a:cs typeface="Arial"/>
              </a:rPr>
              <a:t>unrealistic</a:t>
            </a:r>
            <a:endParaRPr sz="4000">
              <a:latin typeface="Arial"/>
              <a:cs typeface="Arial"/>
            </a:endParaRPr>
          </a:p>
          <a:p>
            <a:pPr algn="just" marL="558165" marR="43180" indent="-508000">
              <a:lnSpc>
                <a:spcPts val="4330"/>
              </a:lnSpc>
              <a:spcBef>
                <a:spcPts val="3270"/>
              </a:spcBef>
              <a:buSzPct val="122500"/>
              <a:buChar char="•"/>
              <a:tabLst>
                <a:tab pos="558165" algn="l"/>
              </a:tabLst>
            </a:pPr>
            <a:r>
              <a:rPr dirty="0" sz="4000">
                <a:latin typeface="Arial"/>
                <a:cs typeface="Arial"/>
              </a:rPr>
              <a:t>Quadratic</a:t>
            </a:r>
            <a:r>
              <a:rPr dirty="0" sz="4000" spc="-7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(and</a:t>
            </a:r>
            <a:r>
              <a:rPr dirty="0" sz="4000" spc="-7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higher</a:t>
            </a:r>
            <a:r>
              <a:rPr dirty="0" sz="4000" spc="-7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order</a:t>
            </a:r>
            <a:r>
              <a:rPr dirty="0" sz="4000" spc="-7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polynomial)</a:t>
            </a:r>
            <a:r>
              <a:rPr dirty="0" sz="4000" spc="-70">
                <a:latin typeface="Arial"/>
                <a:cs typeface="Arial"/>
              </a:rPr>
              <a:t> </a:t>
            </a:r>
            <a:r>
              <a:rPr dirty="0" sz="4000" spc="-10">
                <a:latin typeface="Arial"/>
                <a:cs typeface="Arial"/>
              </a:rPr>
              <a:t>regression </a:t>
            </a:r>
            <a:r>
              <a:rPr dirty="0" sz="4000">
                <a:latin typeface="Arial"/>
                <a:cs typeface="Arial"/>
              </a:rPr>
              <a:t>does</a:t>
            </a:r>
            <a:r>
              <a:rPr dirty="0" sz="4000" spc="-90">
                <a:latin typeface="Arial"/>
                <a:cs typeface="Arial"/>
              </a:rPr>
              <a:t> </a:t>
            </a:r>
            <a:r>
              <a:rPr dirty="0" sz="4000" spc="55">
                <a:latin typeface="Arial"/>
                <a:cs typeface="Arial"/>
              </a:rPr>
              <a:t>not</a:t>
            </a:r>
            <a:r>
              <a:rPr dirty="0" sz="4000" spc="-9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seem</a:t>
            </a:r>
            <a:r>
              <a:rPr dirty="0" sz="4000" spc="-8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ideal</a:t>
            </a:r>
            <a:r>
              <a:rPr dirty="0" sz="4000" spc="-90">
                <a:latin typeface="Arial"/>
                <a:cs typeface="Arial"/>
              </a:rPr>
              <a:t> </a:t>
            </a:r>
            <a:r>
              <a:rPr dirty="0" sz="4000" spc="-35">
                <a:latin typeface="Arial"/>
                <a:cs typeface="Arial"/>
              </a:rPr>
              <a:t>either.</a:t>
            </a:r>
            <a:r>
              <a:rPr dirty="0" sz="4000" spc="-90">
                <a:latin typeface="Arial"/>
                <a:cs typeface="Arial"/>
              </a:rPr>
              <a:t> </a:t>
            </a:r>
            <a:r>
              <a:rPr dirty="0" sz="4000" spc="-20">
                <a:latin typeface="Arial"/>
                <a:cs typeface="Arial"/>
              </a:rPr>
              <a:t>These</a:t>
            </a:r>
            <a:r>
              <a:rPr dirty="0" sz="4000" spc="-8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models</a:t>
            </a:r>
            <a:r>
              <a:rPr dirty="0" sz="4000" spc="-9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are</a:t>
            </a:r>
            <a:r>
              <a:rPr dirty="0" sz="4000" spc="-90">
                <a:latin typeface="Arial"/>
                <a:cs typeface="Arial"/>
              </a:rPr>
              <a:t> </a:t>
            </a:r>
            <a:r>
              <a:rPr dirty="0" sz="4000" spc="-20">
                <a:latin typeface="Arial"/>
                <a:cs typeface="Arial"/>
              </a:rPr>
              <a:t>also </a:t>
            </a:r>
            <a:r>
              <a:rPr dirty="0" sz="4000" spc="55">
                <a:latin typeface="Arial"/>
                <a:cs typeface="Arial"/>
              </a:rPr>
              <a:t>not</a:t>
            </a:r>
            <a:r>
              <a:rPr dirty="0" sz="4000" spc="3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very</a:t>
            </a:r>
            <a:r>
              <a:rPr dirty="0" sz="4000" spc="3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interpretable</a:t>
            </a:r>
            <a:r>
              <a:rPr dirty="0" sz="4000" spc="4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in</a:t>
            </a:r>
            <a:r>
              <a:rPr dirty="0" sz="4000" spc="3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terms</a:t>
            </a:r>
            <a:r>
              <a:rPr dirty="0" sz="4000" spc="40">
                <a:latin typeface="Arial"/>
                <a:cs typeface="Arial"/>
              </a:rPr>
              <a:t> </a:t>
            </a:r>
            <a:r>
              <a:rPr dirty="0" sz="4000" spc="65">
                <a:latin typeface="Arial"/>
                <a:cs typeface="Arial"/>
              </a:rPr>
              <a:t>of</a:t>
            </a:r>
            <a:r>
              <a:rPr dirty="0" sz="4000" spc="3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growth</a:t>
            </a:r>
            <a:r>
              <a:rPr dirty="0" sz="4000" spc="40">
                <a:latin typeface="Arial"/>
                <a:cs typeface="Arial"/>
              </a:rPr>
              <a:t> </a:t>
            </a:r>
            <a:r>
              <a:rPr dirty="0" sz="4000" spc="-10">
                <a:latin typeface="Arial"/>
                <a:cs typeface="Arial"/>
              </a:rPr>
              <a:t>rates</a:t>
            </a:r>
            <a:endParaRPr sz="4000">
              <a:latin typeface="Arial"/>
              <a:cs typeface="Arial"/>
            </a:endParaRPr>
          </a:p>
          <a:p>
            <a:pPr marL="558165" indent="-507365">
              <a:lnSpc>
                <a:spcPts val="4550"/>
              </a:lnSpc>
              <a:spcBef>
                <a:spcPts val="2665"/>
              </a:spcBef>
              <a:buSzPct val="122500"/>
              <a:buChar char="•"/>
              <a:tabLst>
                <a:tab pos="558165" algn="l"/>
              </a:tabLst>
            </a:pPr>
            <a:r>
              <a:rPr dirty="0" sz="4000">
                <a:latin typeface="Arial"/>
                <a:cs typeface="Arial"/>
              </a:rPr>
              <a:t>A</a:t>
            </a:r>
            <a:r>
              <a:rPr dirty="0" sz="4000" spc="-4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more</a:t>
            </a:r>
            <a:r>
              <a:rPr dirty="0" sz="4000" spc="-4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realistic</a:t>
            </a:r>
            <a:r>
              <a:rPr dirty="0" sz="4000" spc="-4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model</a:t>
            </a:r>
            <a:r>
              <a:rPr dirty="0" sz="4000" spc="-40">
                <a:latin typeface="Arial"/>
                <a:cs typeface="Arial"/>
              </a:rPr>
              <a:t> </a:t>
            </a:r>
            <a:r>
              <a:rPr dirty="0" sz="4000" spc="-10">
                <a:latin typeface="Arial"/>
                <a:cs typeface="Arial"/>
              </a:rPr>
              <a:t>here</a:t>
            </a:r>
            <a:r>
              <a:rPr dirty="0" sz="4000" spc="-40">
                <a:latin typeface="Arial"/>
                <a:cs typeface="Arial"/>
              </a:rPr>
              <a:t> </a:t>
            </a:r>
            <a:r>
              <a:rPr dirty="0" sz="4000" spc="-25">
                <a:latin typeface="Arial"/>
                <a:cs typeface="Arial"/>
              </a:rPr>
              <a:t>is:</a:t>
            </a:r>
            <a:endParaRPr sz="4000">
              <a:latin typeface="Arial"/>
              <a:cs typeface="Arial"/>
            </a:endParaRPr>
          </a:p>
          <a:p>
            <a:pPr marL="558165">
              <a:lnSpc>
                <a:spcPts val="5510"/>
              </a:lnSpc>
              <a:tabLst>
                <a:tab pos="1101090" algn="l"/>
              </a:tabLst>
            </a:pPr>
            <a:r>
              <a:rPr dirty="0" sz="4800" spc="-25" i="1">
                <a:latin typeface="Times New Roman"/>
                <a:cs typeface="Times New Roman"/>
              </a:rPr>
              <a:t>y</a:t>
            </a:r>
            <a:r>
              <a:rPr dirty="0" baseline="-19607" sz="5100" spc="-37" i="1">
                <a:latin typeface="Times New Roman"/>
                <a:cs typeface="Times New Roman"/>
              </a:rPr>
              <a:t>t</a:t>
            </a:r>
            <a:r>
              <a:rPr dirty="0" baseline="-19607" sz="5100" i="1">
                <a:latin typeface="Times New Roman"/>
                <a:cs typeface="Times New Roman"/>
              </a:rPr>
              <a:t>	</a:t>
            </a:r>
            <a:r>
              <a:rPr dirty="0" sz="4800" spc="635">
                <a:latin typeface="Cambria"/>
                <a:cs typeface="Cambria"/>
              </a:rPr>
              <a:t>=</a:t>
            </a:r>
            <a:r>
              <a:rPr dirty="0" sz="4800" spc="215">
                <a:latin typeface="Cambria"/>
                <a:cs typeface="Cambria"/>
              </a:rPr>
              <a:t> </a:t>
            </a:r>
            <a:r>
              <a:rPr dirty="0" sz="4800" i="1">
                <a:latin typeface="Times New Roman"/>
                <a:cs typeface="Times New Roman"/>
              </a:rPr>
              <a:t>β</a:t>
            </a:r>
            <a:r>
              <a:rPr dirty="0" baseline="-19607" sz="5100">
                <a:latin typeface="Cambria"/>
                <a:cs typeface="Cambria"/>
              </a:rPr>
              <a:t>0</a:t>
            </a:r>
            <a:r>
              <a:rPr dirty="0" baseline="-19607" sz="5100" spc="412">
                <a:latin typeface="Cambria"/>
                <a:cs typeface="Cambria"/>
              </a:rPr>
              <a:t> </a:t>
            </a:r>
            <a:r>
              <a:rPr dirty="0" sz="4800" spc="635">
                <a:latin typeface="Cambria"/>
                <a:cs typeface="Cambria"/>
              </a:rPr>
              <a:t>+</a:t>
            </a:r>
            <a:r>
              <a:rPr dirty="0" sz="4800" spc="-40">
                <a:latin typeface="Cambria"/>
                <a:cs typeface="Cambria"/>
              </a:rPr>
              <a:t> </a:t>
            </a:r>
            <a:r>
              <a:rPr dirty="0" sz="4800" spc="-80" i="1">
                <a:latin typeface="Times New Roman"/>
                <a:cs typeface="Times New Roman"/>
              </a:rPr>
              <a:t>β</a:t>
            </a:r>
            <a:r>
              <a:rPr dirty="0" baseline="-19607" sz="5100" spc="-120">
                <a:latin typeface="Cambria"/>
                <a:cs typeface="Cambria"/>
              </a:rPr>
              <a:t>1</a:t>
            </a:r>
            <a:r>
              <a:rPr dirty="0" sz="4800" spc="-80" i="1">
                <a:latin typeface="Times New Roman"/>
                <a:cs typeface="Times New Roman"/>
              </a:rPr>
              <a:t>t</a:t>
            </a:r>
            <a:r>
              <a:rPr dirty="0" sz="4800" spc="-185" i="1">
                <a:latin typeface="Times New Roman"/>
                <a:cs typeface="Times New Roman"/>
              </a:rPr>
              <a:t> </a:t>
            </a:r>
            <a:r>
              <a:rPr dirty="0" sz="4800" spc="635">
                <a:latin typeface="Cambria"/>
                <a:cs typeface="Cambria"/>
              </a:rPr>
              <a:t>+</a:t>
            </a:r>
            <a:r>
              <a:rPr dirty="0" sz="4800" spc="-35">
                <a:latin typeface="Cambria"/>
                <a:cs typeface="Cambria"/>
              </a:rPr>
              <a:t> </a:t>
            </a:r>
            <a:r>
              <a:rPr dirty="0" sz="4800" spc="-110" i="1">
                <a:latin typeface="Times New Roman"/>
                <a:cs typeface="Times New Roman"/>
              </a:rPr>
              <a:t>α</a:t>
            </a:r>
            <a:r>
              <a:rPr dirty="0" baseline="-19607" sz="5100" spc="-165">
                <a:latin typeface="Cambria"/>
                <a:cs typeface="Cambria"/>
              </a:rPr>
              <a:t>1</a:t>
            </a:r>
            <a:r>
              <a:rPr dirty="0" sz="4800" spc="-110">
                <a:latin typeface="Cambria"/>
                <a:cs typeface="Cambria"/>
              </a:rPr>
              <a:t>(</a:t>
            </a:r>
            <a:r>
              <a:rPr dirty="0" sz="4800" spc="-110" i="1">
                <a:latin typeface="Times New Roman"/>
                <a:cs typeface="Times New Roman"/>
              </a:rPr>
              <a:t>t</a:t>
            </a:r>
            <a:r>
              <a:rPr dirty="0" sz="4800" spc="-185" i="1">
                <a:latin typeface="Times New Roman"/>
                <a:cs typeface="Times New Roman"/>
              </a:rPr>
              <a:t> </a:t>
            </a:r>
            <a:r>
              <a:rPr dirty="0" sz="4800" spc="635">
                <a:latin typeface="Cambria"/>
                <a:cs typeface="Cambria"/>
              </a:rPr>
              <a:t>−</a:t>
            </a:r>
            <a:r>
              <a:rPr dirty="0" sz="4800" spc="-40">
                <a:latin typeface="Cambria"/>
                <a:cs typeface="Cambria"/>
              </a:rPr>
              <a:t> </a:t>
            </a:r>
            <a:r>
              <a:rPr dirty="0" sz="4800" i="1">
                <a:latin typeface="Times New Roman"/>
                <a:cs typeface="Times New Roman"/>
              </a:rPr>
              <a:t>c</a:t>
            </a:r>
            <a:r>
              <a:rPr dirty="0" baseline="-19607" sz="5100">
                <a:latin typeface="Cambria"/>
                <a:cs typeface="Cambria"/>
              </a:rPr>
              <a:t>1</a:t>
            </a:r>
            <a:r>
              <a:rPr dirty="0" sz="4800">
                <a:latin typeface="Cambria"/>
                <a:cs typeface="Cambria"/>
              </a:rPr>
              <a:t>)</a:t>
            </a:r>
            <a:r>
              <a:rPr dirty="0" baseline="-19607" sz="5100">
                <a:latin typeface="Cambria"/>
                <a:cs typeface="Cambria"/>
              </a:rPr>
              <a:t>+</a:t>
            </a:r>
            <a:r>
              <a:rPr dirty="0" baseline="-19607" sz="5100" spc="412">
                <a:latin typeface="Cambria"/>
                <a:cs typeface="Cambria"/>
              </a:rPr>
              <a:t> </a:t>
            </a:r>
            <a:r>
              <a:rPr dirty="0" sz="4800" spc="635">
                <a:latin typeface="Cambria"/>
                <a:cs typeface="Cambria"/>
              </a:rPr>
              <a:t>+</a:t>
            </a:r>
            <a:r>
              <a:rPr dirty="0" sz="4800" spc="-40">
                <a:latin typeface="Cambria"/>
                <a:cs typeface="Cambria"/>
              </a:rPr>
              <a:t> </a:t>
            </a:r>
            <a:r>
              <a:rPr dirty="0" sz="4800" spc="-110" i="1">
                <a:latin typeface="Times New Roman"/>
                <a:cs typeface="Times New Roman"/>
              </a:rPr>
              <a:t>α</a:t>
            </a:r>
            <a:r>
              <a:rPr dirty="0" baseline="-19607" sz="5100" spc="-165">
                <a:latin typeface="Cambria"/>
                <a:cs typeface="Cambria"/>
              </a:rPr>
              <a:t>2</a:t>
            </a:r>
            <a:r>
              <a:rPr dirty="0" sz="4800" spc="-110">
                <a:latin typeface="Cambria"/>
                <a:cs typeface="Cambria"/>
              </a:rPr>
              <a:t>(</a:t>
            </a:r>
            <a:r>
              <a:rPr dirty="0" sz="4800" spc="-110" i="1">
                <a:latin typeface="Times New Roman"/>
                <a:cs typeface="Times New Roman"/>
              </a:rPr>
              <a:t>t</a:t>
            </a:r>
            <a:r>
              <a:rPr dirty="0" sz="4800" spc="-185" i="1">
                <a:latin typeface="Times New Roman"/>
                <a:cs typeface="Times New Roman"/>
              </a:rPr>
              <a:t> </a:t>
            </a:r>
            <a:r>
              <a:rPr dirty="0" sz="4800" spc="635">
                <a:latin typeface="Cambria"/>
                <a:cs typeface="Cambria"/>
              </a:rPr>
              <a:t>−</a:t>
            </a:r>
            <a:r>
              <a:rPr dirty="0" sz="4800" spc="-35">
                <a:latin typeface="Cambria"/>
                <a:cs typeface="Cambria"/>
              </a:rPr>
              <a:t> </a:t>
            </a:r>
            <a:r>
              <a:rPr dirty="0" sz="4800" i="1">
                <a:latin typeface="Times New Roman"/>
                <a:cs typeface="Times New Roman"/>
              </a:rPr>
              <a:t>c</a:t>
            </a:r>
            <a:r>
              <a:rPr dirty="0" baseline="-19607" sz="5100">
                <a:latin typeface="Cambria"/>
                <a:cs typeface="Cambria"/>
              </a:rPr>
              <a:t>2</a:t>
            </a:r>
            <a:r>
              <a:rPr dirty="0" sz="4800">
                <a:latin typeface="Cambria"/>
                <a:cs typeface="Cambria"/>
              </a:rPr>
              <a:t>)</a:t>
            </a:r>
            <a:r>
              <a:rPr dirty="0" baseline="-19607" sz="5100">
                <a:latin typeface="Cambria"/>
                <a:cs typeface="Cambria"/>
              </a:rPr>
              <a:t>+</a:t>
            </a:r>
            <a:r>
              <a:rPr dirty="0" baseline="-19607" sz="5100" spc="405">
                <a:latin typeface="Cambria"/>
                <a:cs typeface="Cambria"/>
              </a:rPr>
              <a:t> </a:t>
            </a:r>
            <a:r>
              <a:rPr dirty="0" sz="4800" spc="635">
                <a:latin typeface="Cambria"/>
                <a:cs typeface="Cambria"/>
              </a:rPr>
              <a:t>+</a:t>
            </a:r>
            <a:r>
              <a:rPr dirty="0" sz="4800" spc="-40">
                <a:latin typeface="Cambria"/>
                <a:cs typeface="Cambria"/>
              </a:rPr>
              <a:t> </a:t>
            </a:r>
            <a:r>
              <a:rPr dirty="0" sz="4000" spc="-10">
                <a:latin typeface="Arial"/>
                <a:cs typeface="Arial"/>
              </a:rPr>
              <a:t>error</a:t>
            </a:r>
            <a:endParaRPr sz="4000">
              <a:latin typeface="Arial"/>
              <a:cs typeface="Arial"/>
            </a:endParaRPr>
          </a:p>
          <a:p>
            <a:pPr marL="558165" marR="1792605" indent="-508000">
              <a:lnSpc>
                <a:spcPts val="4330"/>
              </a:lnSpc>
              <a:spcBef>
                <a:spcPts val="3540"/>
              </a:spcBef>
              <a:buSzPct val="122500"/>
              <a:buChar char="•"/>
              <a:tabLst>
                <a:tab pos="558165" algn="l"/>
              </a:tabLst>
            </a:pPr>
            <a:r>
              <a:rPr dirty="0" sz="4000">
                <a:latin typeface="Arial"/>
                <a:cs typeface="Arial"/>
              </a:rPr>
              <a:t>This</a:t>
            </a:r>
            <a:r>
              <a:rPr dirty="0" sz="4000" spc="3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model</a:t>
            </a:r>
            <a:r>
              <a:rPr dirty="0" sz="4000" spc="3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allows</a:t>
            </a:r>
            <a:r>
              <a:rPr dirty="0" sz="4000" spc="3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for</a:t>
            </a:r>
            <a:r>
              <a:rPr dirty="0" sz="4000" spc="3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three</a:t>
            </a:r>
            <a:r>
              <a:rPr dirty="0" sz="4000" spc="3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diﬀerent</a:t>
            </a:r>
            <a:r>
              <a:rPr dirty="0" sz="4000" spc="35">
                <a:latin typeface="Arial"/>
                <a:cs typeface="Arial"/>
              </a:rPr>
              <a:t> </a:t>
            </a:r>
            <a:r>
              <a:rPr dirty="0" sz="4000" spc="-10">
                <a:latin typeface="Arial"/>
                <a:cs typeface="Arial"/>
              </a:rPr>
              <a:t>slopes </a:t>
            </a:r>
            <a:r>
              <a:rPr dirty="0" sz="4000">
                <a:latin typeface="Arial"/>
                <a:cs typeface="Arial"/>
              </a:rPr>
              <a:t>(growth</a:t>
            </a:r>
            <a:r>
              <a:rPr dirty="0" sz="4000" spc="15">
                <a:latin typeface="Arial"/>
                <a:cs typeface="Arial"/>
              </a:rPr>
              <a:t> </a:t>
            </a:r>
            <a:r>
              <a:rPr dirty="0" sz="4000" spc="-10">
                <a:latin typeface="Arial"/>
                <a:cs typeface="Arial"/>
              </a:rPr>
              <a:t>rates)</a:t>
            </a:r>
            <a:endParaRPr sz="4000">
              <a:latin typeface="Arial"/>
              <a:cs typeface="Arial"/>
            </a:endParaRPr>
          </a:p>
          <a:p>
            <a:pPr marL="558165" marR="2311400" indent="-508000">
              <a:lnSpc>
                <a:spcPts val="5100"/>
              </a:lnSpc>
              <a:spcBef>
                <a:spcPts val="2585"/>
              </a:spcBef>
              <a:buSzPct val="122500"/>
              <a:buChar char="•"/>
              <a:tabLst>
                <a:tab pos="558165" algn="l"/>
              </a:tabLst>
            </a:pPr>
            <a:r>
              <a:rPr dirty="0" sz="4000">
                <a:latin typeface="Arial"/>
                <a:cs typeface="Arial"/>
              </a:rPr>
              <a:t>This</a:t>
            </a:r>
            <a:r>
              <a:rPr dirty="0" sz="4000" spc="-9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is</a:t>
            </a:r>
            <a:r>
              <a:rPr dirty="0" sz="4000" spc="-9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a</a:t>
            </a:r>
            <a:r>
              <a:rPr dirty="0" sz="4000" spc="-9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nonlinear</a:t>
            </a:r>
            <a:r>
              <a:rPr dirty="0" sz="4000" spc="-85">
                <a:latin typeface="Arial"/>
                <a:cs typeface="Arial"/>
              </a:rPr>
              <a:t> </a:t>
            </a:r>
            <a:r>
              <a:rPr dirty="0" sz="4000" spc="-10">
                <a:latin typeface="Arial"/>
                <a:cs typeface="Arial"/>
              </a:rPr>
              <a:t>regression</a:t>
            </a:r>
            <a:r>
              <a:rPr dirty="0" sz="4000" spc="-9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model</a:t>
            </a:r>
            <a:r>
              <a:rPr dirty="0" sz="4000" spc="-90">
                <a:latin typeface="Arial"/>
                <a:cs typeface="Arial"/>
              </a:rPr>
              <a:t> </a:t>
            </a:r>
            <a:r>
              <a:rPr dirty="0" sz="4000" spc="50">
                <a:latin typeface="Arial"/>
                <a:cs typeface="Arial"/>
              </a:rPr>
              <a:t>with </a:t>
            </a:r>
            <a:r>
              <a:rPr dirty="0" sz="4000">
                <a:latin typeface="Arial"/>
                <a:cs typeface="Arial"/>
              </a:rPr>
              <a:t>parameters</a:t>
            </a:r>
            <a:r>
              <a:rPr dirty="0" sz="4000" spc="10">
                <a:latin typeface="Arial"/>
                <a:cs typeface="Arial"/>
              </a:rPr>
              <a:t> </a:t>
            </a:r>
            <a:r>
              <a:rPr dirty="0" sz="4800" spc="-35" i="1">
                <a:latin typeface="Times New Roman"/>
                <a:cs typeface="Times New Roman"/>
              </a:rPr>
              <a:t>β</a:t>
            </a:r>
            <a:r>
              <a:rPr dirty="0" baseline="-19607" sz="5100" spc="-52">
                <a:latin typeface="Cambria"/>
                <a:cs typeface="Cambria"/>
              </a:rPr>
              <a:t>0</a:t>
            </a:r>
            <a:r>
              <a:rPr dirty="0" sz="4800" spc="-35">
                <a:latin typeface="Cambria"/>
                <a:cs typeface="Cambria"/>
              </a:rPr>
              <a:t>,</a:t>
            </a:r>
            <a:r>
              <a:rPr dirty="0" sz="4800" spc="-245">
                <a:latin typeface="Cambria"/>
                <a:cs typeface="Cambria"/>
              </a:rPr>
              <a:t> </a:t>
            </a:r>
            <a:r>
              <a:rPr dirty="0" sz="4800" spc="-35" i="1">
                <a:latin typeface="Times New Roman"/>
                <a:cs typeface="Times New Roman"/>
              </a:rPr>
              <a:t>β</a:t>
            </a:r>
            <a:r>
              <a:rPr dirty="0" baseline="-19607" sz="5100" spc="-52">
                <a:latin typeface="Cambria"/>
                <a:cs typeface="Cambria"/>
              </a:rPr>
              <a:t>1</a:t>
            </a:r>
            <a:r>
              <a:rPr dirty="0" sz="4800" spc="-35">
                <a:latin typeface="Cambria"/>
                <a:cs typeface="Cambria"/>
              </a:rPr>
              <a:t>,</a:t>
            </a:r>
            <a:r>
              <a:rPr dirty="0" sz="4800" spc="-245">
                <a:latin typeface="Cambria"/>
                <a:cs typeface="Cambria"/>
              </a:rPr>
              <a:t> </a:t>
            </a:r>
            <a:r>
              <a:rPr dirty="0" sz="4800" spc="-10" i="1">
                <a:latin typeface="Times New Roman"/>
                <a:cs typeface="Times New Roman"/>
              </a:rPr>
              <a:t>α</a:t>
            </a:r>
            <a:r>
              <a:rPr dirty="0" baseline="-19607" sz="5100" spc="-15">
                <a:latin typeface="Cambria"/>
                <a:cs typeface="Cambria"/>
              </a:rPr>
              <a:t>1</a:t>
            </a:r>
            <a:r>
              <a:rPr dirty="0" sz="4800" spc="-10">
                <a:latin typeface="Cambria"/>
                <a:cs typeface="Cambria"/>
              </a:rPr>
              <a:t>,</a:t>
            </a:r>
            <a:r>
              <a:rPr dirty="0" sz="4800" spc="-245">
                <a:latin typeface="Cambria"/>
                <a:cs typeface="Cambria"/>
              </a:rPr>
              <a:t> </a:t>
            </a:r>
            <a:r>
              <a:rPr dirty="0" sz="4800" spc="-50" i="1">
                <a:latin typeface="Times New Roman"/>
                <a:cs typeface="Times New Roman"/>
              </a:rPr>
              <a:t>c</a:t>
            </a:r>
            <a:r>
              <a:rPr dirty="0" baseline="-19607" sz="5100" spc="-75">
                <a:latin typeface="Cambria"/>
                <a:cs typeface="Cambria"/>
              </a:rPr>
              <a:t>1</a:t>
            </a:r>
            <a:r>
              <a:rPr dirty="0" sz="4800" spc="-50">
                <a:latin typeface="Cambria"/>
                <a:cs typeface="Cambria"/>
              </a:rPr>
              <a:t>,</a:t>
            </a:r>
            <a:r>
              <a:rPr dirty="0" sz="4800" spc="-245">
                <a:latin typeface="Cambria"/>
                <a:cs typeface="Cambria"/>
              </a:rPr>
              <a:t> </a:t>
            </a:r>
            <a:r>
              <a:rPr dirty="0" sz="4800" spc="-10" i="1">
                <a:latin typeface="Times New Roman"/>
                <a:cs typeface="Times New Roman"/>
              </a:rPr>
              <a:t>α</a:t>
            </a:r>
            <a:r>
              <a:rPr dirty="0" baseline="-19607" sz="5100" spc="-15">
                <a:latin typeface="Cambria"/>
                <a:cs typeface="Cambria"/>
              </a:rPr>
              <a:t>2</a:t>
            </a:r>
            <a:r>
              <a:rPr dirty="0" sz="4800" spc="-10">
                <a:latin typeface="Cambria"/>
                <a:cs typeface="Cambria"/>
              </a:rPr>
              <a:t>,</a:t>
            </a:r>
            <a:r>
              <a:rPr dirty="0" sz="4800" spc="-245">
                <a:latin typeface="Cambria"/>
                <a:cs typeface="Cambria"/>
              </a:rPr>
              <a:t> </a:t>
            </a:r>
            <a:r>
              <a:rPr dirty="0" sz="4800" spc="-25" i="1">
                <a:latin typeface="Times New Roman"/>
                <a:cs typeface="Times New Roman"/>
              </a:rPr>
              <a:t>c</a:t>
            </a:r>
            <a:r>
              <a:rPr dirty="0" baseline="-19607" sz="5100" spc="-37">
                <a:latin typeface="Cambria"/>
                <a:cs typeface="Cambria"/>
              </a:rPr>
              <a:t>2</a:t>
            </a:r>
            <a:endParaRPr baseline="-19607" sz="5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22756" rIns="0" bIns="0" rtlCol="0" vert="horz">
            <a:spAutoFit/>
          </a:bodyPr>
          <a:lstStyle/>
          <a:p>
            <a:pPr marL="527685">
              <a:lnSpc>
                <a:spcPct val="100000"/>
              </a:lnSpc>
              <a:spcBef>
                <a:spcPts val="90"/>
              </a:spcBef>
            </a:pPr>
            <a:r>
              <a:rPr dirty="0" spc="-210"/>
              <a:t>Annual</a:t>
            </a:r>
            <a:r>
              <a:rPr dirty="0" spc="-185"/>
              <a:t> </a:t>
            </a:r>
            <a:r>
              <a:rPr dirty="0" spc="-180"/>
              <a:t>Sunspots</a:t>
            </a:r>
            <a:r>
              <a:rPr dirty="0" spc="-185"/>
              <a:t> </a:t>
            </a:r>
            <a:r>
              <a:rPr dirty="0" spc="-20"/>
              <a:t>Data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1326" y="2098604"/>
            <a:ext cx="10782732" cy="725604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345" y="747249"/>
            <a:ext cx="12881457" cy="872538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6299" y="1039229"/>
            <a:ext cx="12017375" cy="8020684"/>
          </a:xfrm>
          <a:prstGeom prst="rect">
            <a:avLst/>
          </a:prstGeom>
        </p:spPr>
        <p:txBody>
          <a:bodyPr wrap="square" lIns="0" tIns="80645" rIns="0" bIns="0" rtlCol="0" vert="horz">
            <a:spAutoFit/>
          </a:bodyPr>
          <a:lstStyle/>
          <a:p>
            <a:pPr marL="545465" marR="30480" indent="-508000">
              <a:lnSpc>
                <a:spcPts val="4330"/>
              </a:lnSpc>
              <a:spcBef>
                <a:spcPts val="635"/>
              </a:spcBef>
              <a:buSzPct val="122500"/>
              <a:buChar char="•"/>
              <a:tabLst>
                <a:tab pos="545465" algn="l"/>
              </a:tabLst>
            </a:pPr>
            <a:r>
              <a:rPr dirty="0" sz="4000">
                <a:latin typeface="Arial"/>
                <a:cs typeface="Arial"/>
              </a:rPr>
              <a:t>Wikipedia</a:t>
            </a:r>
            <a:r>
              <a:rPr dirty="0" sz="4000" spc="6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says</a:t>
            </a:r>
            <a:r>
              <a:rPr dirty="0" sz="4000" spc="60">
                <a:latin typeface="Arial"/>
                <a:cs typeface="Arial"/>
              </a:rPr>
              <a:t> </a:t>
            </a:r>
            <a:r>
              <a:rPr dirty="0" sz="4000" spc="50">
                <a:latin typeface="Arial"/>
                <a:cs typeface="Arial"/>
              </a:rPr>
              <a:t>that</a:t>
            </a:r>
            <a:r>
              <a:rPr dirty="0" sz="4000" spc="6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the</a:t>
            </a:r>
            <a:r>
              <a:rPr dirty="0" sz="4000" spc="6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number</a:t>
            </a:r>
            <a:r>
              <a:rPr dirty="0" sz="4000" spc="60">
                <a:latin typeface="Arial"/>
                <a:cs typeface="Arial"/>
              </a:rPr>
              <a:t> </a:t>
            </a:r>
            <a:r>
              <a:rPr dirty="0" sz="4000" spc="65">
                <a:latin typeface="Arial"/>
                <a:cs typeface="Arial"/>
              </a:rPr>
              <a:t>of </a:t>
            </a:r>
            <a:r>
              <a:rPr dirty="0" sz="4000">
                <a:latin typeface="Arial"/>
                <a:cs typeface="Arial"/>
              </a:rPr>
              <a:t>sunspots</a:t>
            </a:r>
            <a:r>
              <a:rPr dirty="0" sz="4000" spc="60">
                <a:latin typeface="Arial"/>
                <a:cs typeface="Arial"/>
              </a:rPr>
              <a:t> </a:t>
            </a:r>
            <a:r>
              <a:rPr dirty="0" sz="4000" spc="-10">
                <a:latin typeface="Arial"/>
                <a:cs typeface="Arial"/>
              </a:rPr>
              <a:t>varies </a:t>
            </a:r>
            <a:r>
              <a:rPr dirty="0" sz="4000">
                <a:latin typeface="Arial"/>
                <a:cs typeface="Arial"/>
              </a:rPr>
              <a:t>according</a:t>
            </a:r>
            <a:r>
              <a:rPr dirty="0" sz="4000" spc="-10">
                <a:latin typeface="Arial"/>
                <a:cs typeface="Arial"/>
              </a:rPr>
              <a:t> </a:t>
            </a:r>
            <a:r>
              <a:rPr dirty="0" sz="4000" spc="100">
                <a:latin typeface="Arial"/>
                <a:cs typeface="Arial"/>
              </a:rPr>
              <a:t>to</a:t>
            </a:r>
            <a:r>
              <a:rPr dirty="0" sz="4000" spc="-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the</a:t>
            </a:r>
            <a:r>
              <a:rPr dirty="0" sz="4000" spc="-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11</a:t>
            </a:r>
            <a:r>
              <a:rPr dirty="0" sz="4000" spc="-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year</a:t>
            </a:r>
            <a:r>
              <a:rPr dirty="0" sz="4000" spc="-1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solar</a:t>
            </a:r>
            <a:r>
              <a:rPr dirty="0" sz="4000" spc="-5">
                <a:latin typeface="Arial"/>
                <a:cs typeface="Arial"/>
              </a:rPr>
              <a:t> </a:t>
            </a:r>
            <a:r>
              <a:rPr dirty="0" sz="4000" spc="-10">
                <a:latin typeface="Arial"/>
                <a:cs typeface="Arial"/>
              </a:rPr>
              <a:t>cycle</a:t>
            </a:r>
            <a:endParaRPr sz="4000">
              <a:latin typeface="Arial"/>
              <a:cs typeface="Arial"/>
            </a:endParaRPr>
          </a:p>
          <a:p>
            <a:pPr marL="545465" marR="499109" indent="-508000">
              <a:lnSpc>
                <a:spcPts val="4330"/>
              </a:lnSpc>
              <a:spcBef>
                <a:spcPts val="3200"/>
              </a:spcBef>
              <a:buSzPct val="122500"/>
              <a:buChar char="•"/>
              <a:tabLst>
                <a:tab pos="545465" algn="l"/>
              </a:tabLst>
            </a:pPr>
            <a:r>
              <a:rPr dirty="0" sz="4000">
                <a:latin typeface="Arial"/>
                <a:cs typeface="Arial"/>
              </a:rPr>
              <a:t>Why</a:t>
            </a:r>
            <a:r>
              <a:rPr dirty="0" sz="4000" spc="10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should</a:t>
            </a:r>
            <a:r>
              <a:rPr dirty="0" sz="4000" spc="10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the</a:t>
            </a:r>
            <a:r>
              <a:rPr dirty="0" sz="4000" spc="10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periodicity</a:t>
            </a:r>
            <a:r>
              <a:rPr dirty="0" sz="4000" spc="10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be</a:t>
            </a:r>
            <a:r>
              <a:rPr dirty="0" sz="4000" spc="10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exactly</a:t>
            </a:r>
            <a:r>
              <a:rPr dirty="0" sz="4000" spc="10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11?</a:t>
            </a:r>
            <a:r>
              <a:rPr dirty="0" sz="4000" spc="105">
                <a:latin typeface="Arial"/>
                <a:cs typeface="Arial"/>
              </a:rPr>
              <a:t> </a:t>
            </a:r>
            <a:r>
              <a:rPr dirty="0" sz="4000" spc="-25">
                <a:latin typeface="Arial"/>
                <a:cs typeface="Arial"/>
              </a:rPr>
              <a:t>Why </a:t>
            </a:r>
            <a:r>
              <a:rPr dirty="0" sz="4000" spc="55">
                <a:latin typeface="Arial"/>
                <a:cs typeface="Arial"/>
              </a:rPr>
              <a:t>not</a:t>
            </a:r>
            <a:r>
              <a:rPr dirty="0" sz="4000">
                <a:latin typeface="Arial"/>
                <a:cs typeface="Arial"/>
              </a:rPr>
              <a:t> 10.5 or</a:t>
            </a:r>
            <a:r>
              <a:rPr dirty="0" sz="4000" spc="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11.5? What</a:t>
            </a:r>
            <a:r>
              <a:rPr dirty="0" sz="4000" spc="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is the</a:t>
            </a:r>
            <a:r>
              <a:rPr dirty="0" sz="4000" spc="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uncertainty </a:t>
            </a:r>
            <a:r>
              <a:rPr dirty="0" sz="4000" spc="-10">
                <a:latin typeface="Arial"/>
                <a:cs typeface="Arial"/>
              </a:rPr>
              <a:t>around </a:t>
            </a:r>
            <a:r>
              <a:rPr dirty="0" sz="4000" spc="-25">
                <a:latin typeface="Arial"/>
                <a:cs typeface="Arial"/>
              </a:rPr>
              <a:t>11?</a:t>
            </a:r>
            <a:endParaRPr sz="4000">
              <a:latin typeface="Arial"/>
              <a:cs typeface="Arial"/>
            </a:endParaRPr>
          </a:p>
          <a:p>
            <a:pPr marL="545465" marR="1846580" indent="-508000">
              <a:lnSpc>
                <a:spcPts val="4330"/>
              </a:lnSpc>
              <a:spcBef>
                <a:spcPts val="3204"/>
              </a:spcBef>
              <a:buSzPct val="122500"/>
              <a:buChar char="•"/>
              <a:tabLst>
                <a:tab pos="545465" algn="l"/>
              </a:tabLst>
            </a:pPr>
            <a:r>
              <a:rPr dirty="0" sz="4000">
                <a:latin typeface="Arial"/>
                <a:cs typeface="Arial"/>
              </a:rPr>
              <a:t>Can</a:t>
            </a:r>
            <a:r>
              <a:rPr dirty="0" sz="4000" spc="9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the</a:t>
            </a:r>
            <a:r>
              <a:rPr dirty="0" sz="4000" spc="9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periodicity</a:t>
            </a:r>
            <a:r>
              <a:rPr dirty="0" sz="4000" spc="9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be</a:t>
            </a:r>
            <a:r>
              <a:rPr dirty="0" sz="4000" spc="9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figured</a:t>
            </a:r>
            <a:r>
              <a:rPr dirty="0" sz="4000" spc="95">
                <a:latin typeface="Arial"/>
                <a:cs typeface="Arial"/>
              </a:rPr>
              <a:t> </a:t>
            </a:r>
            <a:r>
              <a:rPr dirty="0" sz="4000" spc="55">
                <a:latin typeface="Arial"/>
                <a:cs typeface="Arial"/>
              </a:rPr>
              <a:t>out</a:t>
            </a:r>
            <a:r>
              <a:rPr dirty="0" sz="4000" spc="9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from</a:t>
            </a:r>
            <a:r>
              <a:rPr dirty="0" sz="4000" spc="95">
                <a:latin typeface="Arial"/>
                <a:cs typeface="Arial"/>
              </a:rPr>
              <a:t> </a:t>
            </a:r>
            <a:r>
              <a:rPr dirty="0" sz="4000" spc="-25">
                <a:latin typeface="Arial"/>
                <a:cs typeface="Arial"/>
              </a:rPr>
              <a:t>the </a:t>
            </a:r>
            <a:r>
              <a:rPr dirty="0" sz="4000" spc="-10">
                <a:latin typeface="Arial"/>
                <a:cs typeface="Arial"/>
              </a:rPr>
              <a:t>dataset?</a:t>
            </a:r>
            <a:endParaRPr sz="4000">
              <a:latin typeface="Arial"/>
              <a:cs typeface="Arial"/>
            </a:endParaRPr>
          </a:p>
          <a:p>
            <a:pPr marL="545465" indent="-507365">
              <a:lnSpc>
                <a:spcPts val="4550"/>
              </a:lnSpc>
              <a:spcBef>
                <a:spcPts val="2665"/>
              </a:spcBef>
              <a:buSzPct val="122500"/>
              <a:buChar char="•"/>
              <a:tabLst>
                <a:tab pos="545465" algn="l"/>
              </a:tabLst>
            </a:pPr>
            <a:r>
              <a:rPr dirty="0" sz="4000">
                <a:latin typeface="Arial"/>
                <a:cs typeface="Arial"/>
              </a:rPr>
              <a:t>One</a:t>
            </a:r>
            <a:r>
              <a:rPr dirty="0" sz="4000" spc="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way</a:t>
            </a:r>
            <a:r>
              <a:rPr dirty="0" sz="4000" spc="5">
                <a:latin typeface="Arial"/>
                <a:cs typeface="Arial"/>
              </a:rPr>
              <a:t> </a:t>
            </a:r>
            <a:r>
              <a:rPr dirty="0" sz="4000" spc="100">
                <a:latin typeface="Arial"/>
                <a:cs typeface="Arial"/>
              </a:rPr>
              <a:t>to</a:t>
            </a:r>
            <a:r>
              <a:rPr dirty="0" sz="4000" spc="5">
                <a:latin typeface="Arial"/>
                <a:cs typeface="Arial"/>
              </a:rPr>
              <a:t> </a:t>
            </a:r>
            <a:r>
              <a:rPr dirty="0" sz="4000" spc="85">
                <a:latin typeface="Arial"/>
                <a:cs typeface="Arial"/>
              </a:rPr>
              <a:t>do</a:t>
            </a:r>
            <a:r>
              <a:rPr dirty="0" sz="4000" spc="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this</a:t>
            </a:r>
            <a:r>
              <a:rPr dirty="0" sz="4000" spc="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is</a:t>
            </a:r>
            <a:r>
              <a:rPr dirty="0" sz="4000" spc="5">
                <a:latin typeface="Arial"/>
                <a:cs typeface="Arial"/>
              </a:rPr>
              <a:t> </a:t>
            </a:r>
            <a:r>
              <a:rPr dirty="0" sz="4000" spc="100">
                <a:latin typeface="Arial"/>
                <a:cs typeface="Arial"/>
              </a:rPr>
              <a:t>to</a:t>
            </a:r>
            <a:r>
              <a:rPr dirty="0" sz="4000" spc="5">
                <a:latin typeface="Arial"/>
                <a:cs typeface="Arial"/>
              </a:rPr>
              <a:t> </a:t>
            </a:r>
            <a:r>
              <a:rPr dirty="0" sz="4000" spc="65">
                <a:latin typeface="Arial"/>
                <a:cs typeface="Arial"/>
              </a:rPr>
              <a:t>fit</a:t>
            </a:r>
            <a:r>
              <a:rPr dirty="0" sz="4000" spc="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the</a:t>
            </a:r>
            <a:r>
              <a:rPr dirty="0" sz="4000" spc="5">
                <a:latin typeface="Arial"/>
                <a:cs typeface="Arial"/>
              </a:rPr>
              <a:t> </a:t>
            </a:r>
            <a:r>
              <a:rPr dirty="0" sz="4000" spc="-10">
                <a:latin typeface="Arial"/>
                <a:cs typeface="Arial"/>
              </a:rPr>
              <a:t>model:</a:t>
            </a:r>
            <a:endParaRPr sz="4000">
              <a:latin typeface="Arial"/>
              <a:cs typeface="Arial"/>
            </a:endParaRPr>
          </a:p>
          <a:p>
            <a:pPr marL="545465">
              <a:lnSpc>
                <a:spcPts val="5510"/>
              </a:lnSpc>
              <a:tabLst>
                <a:tab pos="1088390" algn="l"/>
              </a:tabLst>
            </a:pPr>
            <a:r>
              <a:rPr dirty="0" sz="4800" spc="-25" i="1">
                <a:latin typeface="Times New Roman"/>
                <a:cs typeface="Times New Roman"/>
              </a:rPr>
              <a:t>y</a:t>
            </a:r>
            <a:r>
              <a:rPr dirty="0" baseline="-19607" sz="5100" spc="-37" i="1">
                <a:latin typeface="Times New Roman"/>
                <a:cs typeface="Times New Roman"/>
              </a:rPr>
              <a:t>t</a:t>
            </a:r>
            <a:r>
              <a:rPr dirty="0" baseline="-19607" sz="5100" i="1">
                <a:latin typeface="Times New Roman"/>
                <a:cs typeface="Times New Roman"/>
              </a:rPr>
              <a:t>	</a:t>
            </a:r>
            <a:r>
              <a:rPr dirty="0" sz="4800" spc="635">
                <a:latin typeface="Cambria"/>
                <a:cs typeface="Cambria"/>
              </a:rPr>
              <a:t>=</a:t>
            </a:r>
            <a:r>
              <a:rPr dirty="0" sz="4800" spc="155">
                <a:latin typeface="Cambria"/>
                <a:cs typeface="Cambria"/>
              </a:rPr>
              <a:t> </a:t>
            </a:r>
            <a:r>
              <a:rPr dirty="0" sz="4800" i="1">
                <a:latin typeface="Times New Roman"/>
                <a:cs typeface="Times New Roman"/>
              </a:rPr>
              <a:t>β</a:t>
            </a:r>
            <a:r>
              <a:rPr dirty="0" baseline="-19607" sz="5100">
                <a:latin typeface="Cambria"/>
                <a:cs typeface="Cambria"/>
              </a:rPr>
              <a:t>0</a:t>
            </a:r>
            <a:r>
              <a:rPr dirty="0" baseline="-19607" sz="5100" spc="337">
                <a:latin typeface="Cambria"/>
                <a:cs typeface="Cambria"/>
              </a:rPr>
              <a:t> </a:t>
            </a:r>
            <a:r>
              <a:rPr dirty="0" sz="4800" spc="635">
                <a:latin typeface="Cambria"/>
                <a:cs typeface="Cambria"/>
              </a:rPr>
              <a:t>+</a:t>
            </a:r>
            <a:r>
              <a:rPr dirty="0" sz="4800" spc="-85">
                <a:latin typeface="Cambria"/>
                <a:cs typeface="Cambria"/>
              </a:rPr>
              <a:t> </a:t>
            </a:r>
            <a:r>
              <a:rPr dirty="0" sz="4800" spc="-75" i="1">
                <a:latin typeface="Times New Roman"/>
                <a:cs typeface="Times New Roman"/>
              </a:rPr>
              <a:t>β</a:t>
            </a:r>
            <a:r>
              <a:rPr dirty="0" baseline="-19607" sz="5100" spc="-112">
                <a:latin typeface="Cambria"/>
                <a:cs typeface="Cambria"/>
              </a:rPr>
              <a:t>1</a:t>
            </a:r>
            <a:r>
              <a:rPr dirty="0" baseline="-19607" sz="5100" spc="-30">
                <a:latin typeface="Cambria"/>
                <a:cs typeface="Cambria"/>
              </a:rPr>
              <a:t> </a:t>
            </a:r>
            <a:r>
              <a:rPr dirty="0" sz="4800" spc="-110">
                <a:latin typeface="Cambria"/>
                <a:cs typeface="Cambria"/>
              </a:rPr>
              <a:t>cos(</a:t>
            </a:r>
            <a:r>
              <a:rPr dirty="0" sz="4800" spc="-110" i="1">
                <a:latin typeface="Times New Roman"/>
                <a:cs typeface="Times New Roman"/>
              </a:rPr>
              <a:t>ωt</a:t>
            </a:r>
            <a:r>
              <a:rPr dirty="0" sz="4800" spc="-110">
                <a:latin typeface="Cambria"/>
                <a:cs typeface="Cambria"/>
              </a:rPr>
              <a:t>)</a:t>
            </a:r>
            <a:r>
              <a:rPr dirty="0" sz="4800" spc="-85">
                <a:latin typeface="Cambria"/>
                <a:cs typeface="Cambria"/>
              </a:rPr>
              <a:t> </a:t>
            </a:r>
            <a:r>
              <a:rPr dirty="0" sz="4800" spc="635">
                <a:latin typeface="Cambria"/>
                <a:cs typeface="Cambria"/>
              </a:rPr>
              <a:t>+</a:t>
            </a:r>
            <a:r>
              <a:rPr dirty="0" sz="4800" spc="-90">
                <a:latin typeface="Cambria"/>
                <a:cs typeface="Cambria"/>
              </a:rPr>
              <a:t> </a:t>
            </a:r>
            <a:r>
              <a:rPr dirty="0" sz="4800" spc="-75" i="1">
                <a:latin typeface="Times New Roman"/>
                <a:cs typeface="Times New Roman"/>
              </a:rPr>
              <a:t>β</a:t>
            </a:r>
            <a:r>
              <a:rPr dirty="0" baseline="-19607" sz="5100" spc="-112">
                <a:latin typeface="Cambria"/>
                <a:cs typeface="Cambria"/>
              </a:rPr>
              <a:t>2</a:t>
            </a:r>
            <a:r>
              <a:rPr dirty="0" baseline="-19607" sz="5100" spc="-30">
                <a:latin typeface="Cambria"/>
                <a:cs typeface="Cambria"/>
              </a:rPr>
              <a:t> </a:t>
            </a:r>
            <a:r>
              <a:rPr dirty="0" sz="4800" spc="-135">
                <a:latin typeface="Cambria"/>
                <a:cs typeface="Cambria"/>
              </a:rPr>
              <a:t>sin(</a:t>
            </a:r>
            <a:r>
              <a:rPr dirty="0" sz="4800" spc="-135" i="1">
                <a:latin typeface="Times New Roman"/>
                <a:cs typeface="Times New Roman"/>
              </a:rPr>
              <a:t>ωt</a:t>
            </a:r>
            <a:r>
              <a:rPr dirty="0" sz="4800" spc="-135">
                <a:latin typeface="Cambria"/>
                <a:cs typeface="Cambria"/>
              </a:rPr>
              <a:t>)</a:t>
            </a:r>
            <a:r>
              <a:rPr dirty="0" sz="4800" spc="-85">
                <a:latin typeface="Cambria"/>
                <a:cs typeface="Cambria"/>
              </a:rPr>
              <a:t> </a:t>
            </a:r>
            <a:r>
              <a:rPr dirty="0" sz="4800" spc="635">
                <a:latin typeface="Cambria"/>
                <a:cs typeface="Cambria"/>
              </a:rPr>
              <a:t>+</a:t>
            </a:r>
            <a:r>
              <a:rPr dirty="0" sz="4800" spc="-85">
                <a:latin typeface="Cambria"/>
                <a:cs typeface="Cambria"/>
              </a:rPr>
              <a:t> </a:t>
            </a:r>
            <a:r>
              <a:rPr dirty="0" sz="4000" spc="-10">
                <a:latin typeface="Arial"/>
                <a:cs typeface="Arial"/>
              </a:rPr>
              <a:t>error</a:t>
            </a:r>
            <a:endParaRPr sz="4000">
              <a:latin typeface="Arial"/>
              <a:cs typeface="Arial"/>
            </a:endParaRPr>
          </a:p>
          <a:p>
            <a:pPr marL="545465" marR="2252345" indent="-508000">
              <a:lnSpc>
                <a:spcPts val="5100"/>
              </a:lnSpc>
              <a:spcBef>
                <a:spcPts val="2840"/>
              </a:spcBef>
              <a:buSzPct val="122500"/>
              <a:buChar char="•"/>
              <a:tabLst>
                <a:tab pos="545465" algn="l"/>
              </a:tabLst>
            </a:pPr>
            <a:r>
              <a:rPr dirty="0" sz="4000">
                <a:latin typeface="Arial"/>
                <a:cs typeface="Arial"/>
              </a:rPr>
              <a:t>This</a:t>
            </a:r>
            <a:r>
              <a:rPr dirty="0" sz="4000" spc="-9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is</a:t>
            </a:r>
            <a:r>
              <a:rPr dirty="0" sz="4000" spc="-9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a</a:t>
            </a:r>
            <a:r>
              <a:rPr dirty="0" sz="4000" spc="-9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nonlinear</a:t>
            </a:r>
            <a:r>
              <a:rPr dirty="0" sz="4000" spc="-85">
                <a:latin typeface="Arial"/>
                <a:cs typeface="Arial"/>
              </a:rPr>
              <a:t> </a:t>
            </a:r>
            <a:r>
              <a:rPr dirty="0" sz="4000" spc="-10">
                <a:latin typeface="Arial"/>
                <a:cs typeface="Arial"/>
              </a:rPr>
              <a:t>regression</a:t>
            </a:r>
            <a:r>
              <a:rPr dirty="0" sz="4000" spc="-9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model</a:t>
            </a:r>
            <a:r>
              <a:rPr dirty="0" sz="4000" spc="-90">
                <a:latin typeface="Arial"/>
                <a:cs typeface="Arial"/>
              </a:rPr>
              <a:t> </a:t>
            </a:r>
            <a:r>
              <a:rPr dirty="0" sz="4000" spc="50">
                <a:latin typeface="Arial"/>
                <a:cs typeface="Arial"/>
              </a:rPr>
              <a:t>with </a:t>
            </a:r>
            <a:r>
              <a:rPr dirty="0" sz="4000">
                <a:latin typeface="Arial"/>
                <a:cs typeface="Arial"/>
              </a:rPr>
              <a:t>parameters</a:t>
            </a:r>
            <a:r>
              <a:rPr dirty="0" sz="4000" spc="10">
                <a:latin typeface="Arial"/>
                <a:cs typeface="Arial"/>
              </a:rPr>
              <a:t> </a:t>
            </a:r>
            <a:r>
              <a:rPr dirty="0" sz="4800" spc="-35" i="1">
                <a:latin typeface="Times New Roman"/>
                <a:cs typeface="Times New Roman"/>
              </a:rPr>
              <a:t>β</a:t>
            </a:r>
            <a:r>
              <a:rPr dirty="0" baseline="-19607" sz="5100" spc="-52">
                <a:latin typeface="Cambria"/>
                <a:cs typeface="Cambria"/>
              </a:rPr>
              <a:t>0</a:t>
            </a:r>
            <a:r>
              <a:rPr dirty="0" sz="4800" spc="-35">
                <a:latin typeface="Cambria"/>
                <a:cs typeface="Cambria"/>
              </a:rPr>
              <a:t>,</a:t>
            </a:r>
            <a:r>
              <a:rPr dirty="0" sz="4800" spc="-250">
                <a:latin typeface="Cambria"/>
                <a:cs typeface="Cambria"/>
              </a:rPr>
              <a:t> </a:t>
            </a:r>
            <a:r>
              <a:rPr dirty="0" sz="4800" spc="-35" i="1">
                <a:latin typeface="Times New Roman"/>
                <a:cs typeface="Times New Roman"/>
              </a:rPr>
              <a:t>β</a:t>
            </a:r>
            <a:r>
              <a:rPr dirty="0" baseline="-19607" sz="5100" spc="-52">
                <a:latin typeface="Cambria"/>
                <a:cs typeface="Cambria"/>
              </a:rPr>
              <a:t>1</a:t>
            </a:r>
            <a:r>
              <a:rPr dirty="0" sz="4800" spc="-35">
                <a:latin typeface="Cambria"/>
                <a:cs typeface="Cambria"/>
              </a:rPr>
              <a:t>,</a:t>
            </a:r>
            <a:r>
              <a:rPr dirty="0" sz="4800" spc="-245">
                <a:latin typeface="Cambria"/>
                <a:cs typeface="Cambria"/>
              </a:rPr>
              <a:t> </a:t>
            </a:r>
            <a:r>
              <a:rPr dirty="0" sz="4800" spc="-35" i="1">
                <a:latin typeface="Times New Roman"/>
                <a:cs typeface="Times New Roman"/>
              </a:rPr>
              <a:t>β</a:t>
            </a:r>
            <a:r>
              <a:rPr dirty="0" baseline="-19607" sz="5100" spc="-52">
                <a:latin typeface="Cambria"/>
                <a:cs typeface="Cambria"/>
              </a:rPr>
              <a:t>2</a:t>
            </a:r>
            <a:r>
              <a:rPr dirty="0" sz="4800" spc="-35">
                <a:latin typeface="Cambria"/>
                <a:cs typeface="Cambria"/>
              </a:rPr>
              <a:t>,</a:t>
            </a:r>
            <a:r>
              <a:rPr dirty="0" sz="4800" spc="-250">
                <a:latin typeface="Cambria"/>
                <a:cs typeface="Cambria"/>
              </a:rPr>
              <a:t> </a:t>
            </a:r>
            <a:r>
              <a:rPr dirty="0" sz="4800" spc="-50" i="1">
                <a:latin typeface="Times New Roman"/>
                <a:cs typeface="Times New Roman"/>
              </a:rPr>
              <a:t>ω</a:t>
            </a:r>
            <a:endParaRPr sz="4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22756" rIns="0" bIns="0" rtlCol="0" vert="horz">
            <a:spAutoFit/>
          </a:bodyPr>
          <a:lstStyle/>
          <a:p>
            <a:pPr marL="527685">
              <a:lnSpc>
                <a:spcPct val="100000"/>
              </a:lnSpc>
              <a:spcBef>
                <a:spcPts val="90"/>
              </a:spcBef>
            </a:pPr>
            <a:r>
              <a:rPr dirty="0" spc="-305"/>
              <a:t>Lynx</a:t>
            </a:r>
            <a:r>
              <a:rPr dirty="0" spc="-195"/>
              <a:t> </a:t>
            </a:r>
            <a:r>
              <a:rPr dirty="0" spc="-740"/>
              <a:t>T</a:t>
            </a:r>
            <a:r>
              <a:rPr dirty="0" spc="-185"/>
              <a:t>r</a:t>
            </a:r>
            <a:r>
              <a:rPr dirty="0" spc="-180"/>
              <a:t>a</a:t>
            </a:r>
            <a:r>
              <a:rPr dirty="0" spc="-185"/>
              <a:t>pp</a:t>
            </a:r>
            <a:r>
              <a:rPr dirty="0" spc="-195"/>
              <a:t>i</a:t>
            </a:r>
            <a:r>
              <a:rPr dirty="0" spc="-185"/>
              <a:t>ng</a:t>
            </a:r>
            <a:r>
              <a:rPr dirty="0" spc="-60"/>
              <a:t>s</a:t>
            </a:r>
            <a:r>
              <a:rPr dirty="0" spc="-195"/>
              <a:t> </a:t>
            </a:r>
            <a:r>
              <a:rPr dirty="0" spc="-10"/>
              <a:t>Dataset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2405" y="2069588"/>
            <a:ext cx="9694364" cy="7442659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22756" rIns="0" bIns="0" rtlCol="0" vert="horz">
            <a:spAutoFit/>
          </a:bodyPr>
          <a:lstStyle/>
          <a:p>
            <a:pPr marL="527685">
              <a:lnSpc>
                <a:spcPct val="100000"/>
              </a:lnSpc>
              <a:spcBef>
                <a:spcPts val="90"/>
              </a:spcBef>
            </a:pPr>
            <a:r>
              <a:rPr dirty="0" spc="-150"/>
              <a:t>Unemployment</a:t>
            </a:r>
            <a:r>
              <a:rPr dirty="0" spc="-265"/>
              <a:t> </a:t>
            </a:r>
            <a:r>
              <a:rPr dirty="0"/>
              <a:t>Rate</a:t>
            </a:r>
            <a:r>
              <a:rPr dirty="0" spc="-290"/>
              <a:t> </a:t>
            </a:r>
            <a:r>
              <a:rPr dirty="0" spc="-110"/>
              <a:t>from</a:t>
            </a:r>
            <a:r>
              <a:rPr dirty="0" spc="-275"/>
              <a:t> </a:t>
            </a:r>
            <a:r>
              <a:rPr dirty="0" spc="-20"/>
              <a:t>FRED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7820" y="1949992"/>
            <a:ext cx="11803413" cy="7569581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6299" y="1595911"/>
            <a:ext cx="11499215" cy="69462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45465" indent="-507365">
              <a:lnSpc>
                <a:spcPts val="4550"/>
              </a:lnSpc>
              <a:spcBef>
                <a:spcPts val="100"/>
              </a:spcBef>
              <a:buSzPct val="122500"/>
              <a:buChar char="•"/>
              <a:tabLst>
                <a:tab pos="545465" algn="l"/>
              </a:tabLst>
            </a:pPr>
            <a:r>
              <a:rPr dirty="0" sz="4000">
                <a:latin typeface="Arial"/>
                <a:cs typeface="Arial"/>
              </a:rPr>
              <a:t>The</a:t>
            </a:r>
            <a:r>
              <a:rPr dirty="0" sz="4000" spc="-280">
                <a:latin typeface="Arial"/>
                <a:cs typeface="Arial"/>
              </a:rPr>
              <a:t> </a:t>
            </a:r>
            <a:r>
              <a:rPr dirty="0" sz="4000" spc="-10">
                <a:latin typeface="Arial"/>
                <a:cs typeface="Arial"/>
              </a:rPr>
              <a:t>model:</a:t>
            </a:r>
            <a:endParaRPr sz="4000">
              <a:latin typeface="Arial"/>
              <a:cs typeface="Arial"/>
            </a:endParaRPr>
          </a:p>
          <a:p>
            <a:pPr marL="545465" marR="902969">
              <a:lnSpc>
                <a:spcPts val="4680"/>
              </a:lnSpc>
              <a:spcBef>
                <a:spcPts val="800"/>
              </a:spcBef>
              <a:tabLst>
                <a:tab pos="1088390" algn="l"/>
              </a:tabLst>
            </a:pPr>
            <a:r>
              <a:rPr dirty="0" sz="4800" spc="-25" i="1">
                <a:latin typeface="Times New Roman"/>
                <a:cs typeface="Times New Roman"/>
              </a:rPr>
              <a:t>y</a:t>
            </a:r>
            <a:r>
              <a:rPr dirty="0" baseline="-19607" sz="5100" spc="-37" i="1">
                <a:latin typeface="Times New Roman"/>
                <a:cs typeface="Times New Roman"/>
              </a:rPr>
              <a:t>t</a:t>
            </a:r>
            <a:r>
              <a:rPr dirty="0" baseline="-19607" sz="5100" i="1">
                <a:latin typeface="Times New Roman"/>
                <a:cs typeface="Times New Roman"/>
              </a:rPr>
              <a:t>	</a:t>
            </a:r>
            <a:r>
              <a:rPr dirty="0" sz="4800" spc="635">
                <a:latin typeface="Cambria"/>
                <a:cs typeface="Cambria"/>
              </a:rPr>
              <a:t>=</a:t>
            </a:r>
            <a:r>
              <a:rPr dirty="0" sz="4800" spc="150">
                <a:latin typeface="Cambria"/>
                <a:cs typeface="Cambria"/>
              </a:rPr>
              <a:t> </a:t>
            </a:r>
            <a:r>
              <a:rPr dirty="0" sz="4800" i="1">
                <a:latin typeface="Times New Roman"/>
                <a:cs typeface="Times New Roman"/>
              </a:rPr>
              <a:t>β</a:t>
            </a:r>
            <a:r>
              <a:rPr dirty="0" baseline="-19607" sz="5100">
                <a:latin typeface="Cambria"/>
                <a:cs typeface="Cambria"/>
              </a:rPr>
              <a:t>0</a:t>
            </a:r>
            <a:r>
              <a:rPr dirty="0" baseline="-19607" sz="5100" spc="337">
                <a:latin typeface="Cambria"/>
                <a:cs typeface="Cambria"/>
              </a:rPr>
              <a:t> </a:t>
            </a:r>
            <a:r>
              <a:rPr dirty="0" sz="4800" spc="635">
                <a:latin typeface="Cambria"/>
                <a:cs typeface="Cambria"/>
              </a:rPr>
              <a:t>+</a:t>
            </a:r>
            <a:r>
              <a:rPr dirty="0" sz="4800" spc="-90">
                <a:latin typeface="Cambria"/>
                <a:cs typeface="Cambria"/>
              </a:rPr>
              <a:t> </a:t>
            </a:r>
            <a:r>
              <a:rPr dirty="0" sz="4800" spc="-75" i="1">
                <a:latin typeface="Times New Roman"/>
                <a:cs typeface="Times New Roman"/>
              </a:rPr>
              <a:t>β</a:t>
            </a:r>
            <a:r>
              <a:rPr dirty="0" baseline="-19607" sz="5100" spc="-112">
                <a:latin typeface="Cambria"/>
                <a:cs typeface="Cambria"/>
              </a:rPr>
              <a:t>1</a:t>
            </a:r>
            <a:r>
              <a:rPr dirty="0" baseline="-19607" sz="5100" spc="-37">
                <a:latin typeface="Cambria"/>
                <a:cs typeface="Cambria"/>
              </a:rPr>
              <a:t> </a:t>
            </a:r>
            <a:r>
              <a:rPr dirty="0" sz="4800" spc="-110">
                <a:latin typeface="Cambria"/>
                <a:cs typeface="Cambria"/>
              </a:rPr>
              <a:t>cos(</a:t>
            </a:r>
            <a:r>
              <a:rPr dirty="0" sz="4800" spc="-110" i="1">
                <a:latin typeface="Times New Roman"/>
                <a:cs typeface="Times New Roman"/>
              </a:rPr>
              <a:t>ωt</a:t>
            </a:r>
            <a:r>
              <a:rPr dirty="0" sz="4800" spc="-110">
                <a:latin typeface="Cambria"/>
                <a:cs typeface="Cambria"/>
              </a:rPr>
              <a:t>)</a:t>
            </a:r>
            <a:r>
              <a:rPr dirty="0" sz="4800" spc="-90">
                <a:latin typeface="Cambria"/>
                <a:cs typeface="Cambria"/>
              </a:rPr>
              <a:t> </a:t>
            </a:r>
            <a:r>
              <a:rPr dirty="0" sz="4800" spc="635">
                <a:latin typeface="Cambria"/>
                <a:cs typeface="Cambria"/>
              </a:rPr>
              <a:t>+</a:t>
            </a:r>
            <a:r>
              <a:rPr dirty="0" sz="4800" spc="-90">
                <a:latin typeface="Cambria"/>
                <a:cs typeface="Cambria"/>
              </a:rPr>
              <a:t> </a:t>
            </a:r>
            <a:r>
              <a:rPr dirty="0" sz="4800" spc="-75" i="1">
                <a:latin typeface="Times New Roman"/>
                <a:cs typeface="Times New Roman"/>
              </a:rPr>
              <a:t>β</a:t>
            </a:r>
            <a:r>
              <a:rPr dirty="0" baseline="-19607" sz="5100" spc="-112">
                <a:latin typeface="Cambria"/>
                <a:cs typeface="Cambria"/>
              </a:rPr>
              <a:t>2</a:t>
            </a:r>
            <a:r>
              <a:rPr dirty="0" baseline="-19607" sz="5100" spc="-30">
                <a:latin typeface="Cambria"/>
                <a:cs typeface="Cambria"/>
              </a:rPr>
              <a:t> </a:t>
            </a:r>
            <a:r>
              <a:rPr dirty="0" sz="4800" spc="-135">
                <a:latin typeface="Cambria"/>
                <a:cs typeface="Cambria"/>
              </a:rPr>
              <a:t>sin(</a:t>
            </a:r>
            <a:r>
              <a:rPr dirty="0" sz="4800" spc="-135" i="1">
                <a:latin typeface="Times New Roman"/>
                <a:cs typeface="Times New Roman"/>
              </a:rPr>
              <a:t>ωt</a:t>
            </a:r>
            <a:r>
              <a:rPr dirty="0" sz="4800" spc="-135">
                <a:latin typeface="Cambria"/>
                <a:cs typeface="Cambria"/>
              </a:rPr>
              <a:t>)</a:t>
            </a:r>
            <a:r>
              <a:rPr dirty="0" sz="4800" spc="-90">
                <a:latin typeface="Cambria"/>
                <a:cs typeface="Cambria"/>
              </a:rPr>
              <a:t> </a:t>
            </a:r>
            <a:r>
              <a:rPr dirty="0" sz="4800" spc="635">
                <a:latin typeface="Cambria"/>
                <a:cs typeface="Cambria"/>
              </a:rPr>
              <a:t>+</a:t>
            </a:r>
            <a:r>
              <a:rPr dirty="0" sz="4800" spc="-90">
                <a:latin typeface="Cambria"/>
                <a:cs typeface="Cambria"/>
              </a:rPr>
              <a:t> </a:t>
            </a:r>
            <a:r>
              <a:rPr dirty="0" sz="4000">
                <a:latin typeface="Arial"/>
                <a:cs typeface="Arial"/>
              </a:rPr>
              <a:t>error</a:t>
            </a:r>
            <a:r>
              <a:rPr dirty="0" sz="4000" spc="-110">
                <a:latin typeface="Arial"/>
                <a:cs typeface="Arial"/>
              </a:rPr>
              <a:t> </a:t>
            </a:r>
            <a:r>
              <a:rPr dirty="0" sz="4000" spc="-25">
                <a:latin typeface="Arial"/>
                <a:cs typeface="Arial"/>
              </a:rPr>
              <a:t>is </a:t>
            </a:r>
            <a:r>
              <a:rPr dirty="0" sz="4000">
                <a:latin typeface="Arial"/>
                <a:cs typeface="Arial"/>
              </a:rPr>
              <a:t>closely</a:t>
            </a:r>
            <a:r>
              <a:rPr dirty="0" sz="4000" spc="-5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related</a:t>
            </a:r>
            <a:r>
              <a:rPr dirty="0" sz="4000" spc="-55">
                <a:latin typeface="Arial"/>
                <a:cs typeface="Arial"/>
              </a:rPr>
              <a:t> </a:t>
            </a:r>
            <a:r>
              <a:rPr dirty="0" sz="4000" spc="100">
                <a:latin typeface="Arial"/>
                <a:cs typeface="Arial"/>
              </a:rPr>
              <a:t>to</a:t>
            </a:r>
            <a:r>
              <a:rPr dirty="0" sz="4000" spc="-55">
                <a:latin typeface="Arial"/>
                <a:cs typeface="Arial"/>
              </a:rPr>
              <a:t> </a:t>
            </a:r>
            <a:r>
              <a:rPr dirty="0" sz="4000">
                <a:solidFill>
                  <a:srgbClr val="EE220C"/>
                </a:solidFill>
                <a:latin typeface="Arial"/>
                <a:cs typeface="Arial"/>
              </a:rPr>
              <a:t>Fourier</a:t>
            </a:r>
            <a:r>
              <a:rPr dirty="0" sz="4000" spc="-55">
                <a:solidFill>
                  <a:srgbClr val="EE220C"/>
                </a:solidFill>
                <a:latin typeface="Arial"/>
                <a:cs typeface="Arial"/>
              </a:rPr>
              <a:t> </a:t>
            </a:r>
            <a:r>
              <a:rPr dirty="0" sz="4000" spc="-10">
                <a:solidFill>
                  <a:srgbClr val="EE220C"/>
                </a:solidFill>
                <a:latin typeface="Arial"/>
                <a:cs typeface="Arial"/>
              </a:rPr>
              <a:t>Analysis</a:t>
            </a:r>
            <a:endParaRPr sz="4000">
              <a:latin typeface="Arial"/>
              <a:cs typeface="Arial"/>
            </a:endParaRPr>
          </a:p>
          <a:p>
            <a:pPr marL="545465" marR="30480" indent="-508000">
              <a:lnSpc>
                <a:spcPts val="4330"/>
              </a:lnSpc>
              <a:spcBef>
                <a:spcPts val="3135"/>
              </a:spcBef>
              <a:buSzPct val="122500"/>
              <a:buChar char="•"/>
              <a:tabLst>
                <a:tab pos="545465" algn="l"/>
              </a:tabLst>
            </a:pPr>
            <a:r>
              <a:rPr dirty="0" sz="4000" spc="-120">
                <a:latin typeface="Arial"/>
                <a:cs typeface="Arial"/>
              </a:rPr>
              <a:t>We</a:t>
            </a:r>
            <a:r>
              <a:rPr dirty="0" sz="4000" spc="-1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will</a:t>
            </a:r>
            <a:r>
              <a:rPr dirty="0" sz="4000" spc="-5">
                <a:latin typeface="Arial"/>
                <a:cs typeface="Arial"/>
              </a:rPr>
              <a:t> </a:t>
            </a:r>
            <a:r>
              <a:rPr dirty="0" sz="4000" spc="55">
                <a:latin typeface="Arial"/>
                <a:cs typeface="Arial"/>
              </a:rPr>
              <a:t>study</a:t>
            </a:r>
            <a:r>
              <a:rPr dirty="0" sz="4000" spc="-5">
                <a:latin typeface="Arial"/>
                <a:cs typeface="Arial"/>
              </a:rPr>
              <a:t> </a:t>
            </a:r>
            <a:r>
              <a:rPr dirty="0" sz="4000" spc="60">
                <a:latin typeface="Arial"/>
                <a:cs typeface="Arial"/>
              </a:rPr>
              <a:t>concepts</a:t>
            </a:r>
            <a:r>
              <a:rPr dirty="0" sz="4000" spc="-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such</a:t>
            </a:r>
            <a:r>
              <a:rPr dirty="0" sz="4000" spc="-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as</a:t>
            </a:r>
            <a:r>
              <a:rPr dirty="0" sz="4000" spc="-5">
                <a:latin typeface="Arial"/>
                <a:cs typeface="Arial"/>
              </a:rPr>
              <a:t> </a:t>
            </a:r>
            <a:r>
              <a:rPr dirty="0" sz="4000" spc="-10">
                <a:solidFill>
                  <a:srgbClr val="EE220C"/>
                </a:solidFill>
                <a:latin typeface="Arial"/>
                <a:cs typeface="Arial"/>
              </a:rPr>
              <a:t>Fourier </a:t>
            </a:r>
            <a:r>
              <a:rPr dirty="0" sz="4000">
                <a:solidFill>
                  <a:srgbClr val="EE220C"/>
                </a:solidFill>
                <a:latin typeface="Arial"/>
                <a:cs typeface="Arial"/>
              </a:rPr>
              <a:t>Frequencies</a:t>
            </a:r>
            <a:r>
              <a:rPr dirty="0" sz="4000">
                <a:latin typeface="Arial"/>
                <a:cs typeface="Arial"/>
              </a:rPr>
              <a:t>,</a:t>
            </a:r>
            <a:r>
              <a:rPr dirty="0" sz="4000" spc="-155">
                <a:latin typeface="Arial"/>
                <a:cs typeface="Arial"/>
              </a:rPr>
              <a:t> </a:t>
            </a:r>
            <a:r>
              <a:rPr dirty="0" sz="4000">
                <a:solidFill>
                  <a:srgbClr val="EE220C"/>
                </a:solidFill>
                <a:latin typeface="Arial"/>
                <a:cs typeface="Arial"/>
              </a:rPr>
              <a:t>Discrete</a:t>
            </a:r>
            <a:r>
              <a:rPr dirty="0" sz="4000" spc="-155">
                <a:solidFill>
                  <a:srgbClr val="EE220C"/>
                </a:solidFill>
                <a:latin typeface="Arial"/>
                <a:cs typeface="Arial"/>
              </a:rPr>
              <a:t> </a:t>
            </a:r>
            <a:r>
              <a:rPr dirty="0" sz="4000">
                <a:solidFill>
                  <a:srgbClr val="EE220C"/>
                </a:solidFill>
                <a:latin typeface="Arial"/>
                <a:cs typeface="Arial"/>
              </a:rPr>
              <a:t>Fourier</a:t>
            </a:r>
            <a:r>
              <a:rPr dirty="0" sz="4000" spc="-155">
                <a:solidFill>
                  <a:srgbClr val="EE220C"/>
                </a:solidFill>
                <a:latin typeface="Arial"/>
                <a:cs typeface="Arial"/>
              </a:rPr>
              <a:t> </a:t>
            </a:r>
            <a:r>
              <a:rPr dirty="0" sz="4000" spc="-35">
                <a:solidFill>
                  <a:srgbClr val="EE220C"/>
                </a:solidFill>
                <a:latin typeface="Arial"/>
                <a:cs typeface="Arial"/>
              </a:rPr>
              <a:t>Transform</a:t>
            </a:r>
            <a:r>
              <a:rPr dirty="0" sz="4000" spc="-155">
                <a:solidFill>
                  <a:srgbClr val="EE220C"/>
                </a:solidFill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and</a:t>
            </a:r>
            <a:r>
              <a:rPr dirty="0" sz="4000" spc="-150">
                <a:latin typeface="Arial"/>
                <a:cs typeface="Arial"/>
              </a:rPr>
              <a:t> </a:t>
            </a:r>
            <a:r>
              <a:rPr dirty="0" sz="4000" spc="-25">
                <a:latin typeface="Arial"/>
                <a:cs typeface="Arial"/>
              </a:rPr>
              <a:t>the </a:t>
            </a:r>
            <a:r>
              <a:rPr dirty="0" sz="4000" spc="-10">
                <a:solidFill>
                  <a:srgbClr val="EE220C"/>
                </a:solidFill>
                <a:latin typeface="Arial"/>
                <a:cs typeface="Arial"/>
              </a:rPr>
              <a:t>Periodogram</a:t>
            </a:r>
            <a:endParaRPr sz="4000">
              <a:latin typeface="Arial"/>
              <a:cs typeface="Arial"/>
            </a:endParaRPr>
          </a:p>
          <a:p>
            <a:pPr marL="545465" marR="378460" indent="-508000">
              <a:lnSpc>
                <a:spcPts val="4330"/>
              </a:lnSpc>
              <a:spcBef>
                <a:spcPts val="3200"/>
              </a:spcBef>
              <a:buSzPct val="122500"/>
              <a:buChar char="•"/>
              <a:tabLst>
                <a:tab pos="545465" algn="l"/>
              </a:tabLst>
            </a:pPr>
            <a:r>
              <a:rPr dirty="0" sz="4000" spc="-20">
                <a:latin typeface="Arial"/>
                <a:cs typeface="Arial"/>
              </a:rPr>
              <a:t>These</a:t>
            </a:r>
            <a:r>
              <a:rPr dirty="0" sz="4000" spc="-16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are</a:t>
            </a:r>
            <a:r>
              <a:rPr dirty="0" sz="4000" spc="-15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extensively</a:t>
            </a:r>
            <a:r>
              <a:rPr dirty="0" sz="4000" spc="-16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used</a:t>
            </a:r>
            <a:r>
              <a:rPr dirty="0" sz="4000" spc="-15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in</a:t>
            </a:r>
            <a:r>
              <a:rPr dirty="0" sz="4000" spc="-16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engineering</a:t>
            </a:r>
            <a:r>
              <a:rPr dirty="0" sz="4000" spc="-155">
                <a:latin typeface="Arial"/>
                <a:cs typeface="Arial"/>
              </a:rPr>
              <a:t> </a:t>
            </a:r>
            <a:r>
              <a:rPr dirty="0" sz="4000" spc="-20">
                <a:latin typeface="Arial"/>
                <a:cs typeface="Arial"/>
              </a:rPr>
              <a:t>time </a:t>
            </a:r>
            <a:r>
              <a:rPr dirty="0" sz="4000">
                <a:latin typeface="Arial"/>
                <a:cs typeface="Arial"/>
              </a:rPr>
              <a:t>series</a:t>
            </a:r>
            <a:r>
              <a:rPr dirty="0" sz="4000" spc="-215">
                <a:latin typeface="Arial"/>
                <a:cs typeface="Arial"/>
              </a:rPr>
              <a:t> </a:t>
            </a:r>
            <a:r>
              <a:rPr dirty="0" sz="4000" spc="-10">
                <a:latin typeface="Arial"/>
                <a:cs typeface="Arial"/>
              </a:rPr>
              <a:t>analysis</a:t>
            </a:r>
            <a:endParaRPr sz="4000">
              <a:latin typeface="Arial"/>
              <a:cs typeface="Arial"/>
            </a:endParaRPr>
          </a:p>
          <a:p>
            <a:pPr marL="545465" marR="426720" indent="-508000">
              <a:lnSpc>
                <a:spcPts val="4330"/>
              </a:lnSpc>
              <a:spcBef>
                <a:spcPts val="3204"/>
              </a:spcBef>
              <a:buSzPct val="122500"/>
              <a:buChar char="•"/>
              <a:tabLst>
                <a:tab pos="545465" algn="l"/>
              </a:tabLst>
            </a:pPr>
            <a:r>
              <a:rPr dirty="0" sz="4000" spc="-120">
                <a:latin typeface="Arial"/>
                <a:cs typeface="Arial"/>
              </a:rPr>
              <a:t>We</a:t>
            </a:r>
            <a:r>
              <a:rPr dirty="0" sz="4000" spc="9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shall</a:t>
            </a:r>
            <a:r>
              <a:rPr dirty="0" sz="4000" spc="10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look</a:t>
            </a:r>
            <a:r>
              <a:rPr dirty="0" sz="4000" spc="10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at</a:t>
            </a:r>
            <a:r>
              <a:rPr dirty="0" sz="4000" spc="10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some</a:t>
            </a:r>
            <a:r>
              <a:rPr dirty="0" sz="4000" spc="10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practical</a:t>
            </a:r>
            <a:r>
              <a:rPr dirty="0" sz="4000" spc="10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applications</a:t>
            </a:r>
            <a:r>
              <a:rPr dirty="0" sz="4000" spc="100">
                <a:latin typeface="Arial"/>
                <a:cs typeface="Arial"/>
              </a:rPr>
              <a:t> </a:t>
            </a:r>
            <a:r>
              <a:rPr dirty="0" sz="4000" spc="40">
                <a:latin typeface="Arial"/>
                <a:cs typeface="Arial"/>
              </a:rPr>
              <a:t>of </a:t>
            </a:r>
            <a:r>
              <a:rPr dirty="0" sz="4000">
                <a:latin typeface="Arial"/>
                <a:cs typeface="Arial"/>
              </a:rPr>
              <a:t>these</a:t>
            </a:r>
            <a:r>
              <a:rPr dirty="0" sz="4000" spc="-100">
                <a:latin typeface="Arial"/>
                <a:cs typeface="Arial"/>
              </a:rPr>
              <a:t> </a:t>
            </a:r>
            <a:r>
              <a:rPr dirty="0" sz="4000" spc="50">
                <a:latin typeface="Arial"/>
                <a:cs typeface="Arial"/>
              </a:rPr>
              <a:t>concepts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19547" rIns="0" bIns="0" rtlCol="0" vert="horz">
            <a:spAutoFit/>
          </a:bodyPr>
          <a:lstStyle/>
          <a:p>
            <a:pPr marL="527685">
              <a:lnSpc>
                <a:spcPct val="100000"/>
              </a:lnSpc>
              <a:spcBef>
                <a:spcPts val="120"/>
              </a:spcBef>
            </a:pPr>
            <a:r>
              <a:rPr dirty="0" sz="4600" spc="-620"/>
              <a:t>T</a:t>
            </a:r>
            <a:r>
              <a:rPr dirty="0" sz="4600" spc="-105"/>
              <a:t>op</a:t>
            </a:r>
            <a:r>
              <a:rPr dirty="0" sz="4600" spc="-114"/>
              <a:t>i</a:t>
            </a:r>
            <a:r>
              <a:rPr dirty="0" sz="4600" spc="-10"/>
              <a:t>c</a:t>
            </a:r>
            <a:r>
              <a:rPr dirty="0" sz="4600" spc="-150"/>
              <a:t> </a:t>
            </a:r>
            <a:r>
              <a:rPr dirty="0" sz="4600" spc="-130"/>
              <a:t>Three:</a:t>
            </a:r>
            <a:r>
              <a:rPr dirty="0" sz="4600" spc="-145"/>
              <a:t> </a:t>
            </a:r>
            <a:r>
              <a:rPr dirty="0" sz="4600" spc="-95"/>
              <a:t>High-</a:t>
            </a:r>
            <a:r>
              <a:rPr dirty="0" sz="4600" spc="-90"/>
              <a:t>dimensional</a:t>
            </a:r>
            <a:r>
              <a:rPr dirty="0" sz="4600" spc="-145"/>
              <a:t> </a:t>
            </a:r>
            <a:r>
              <a:rPr dirty="0" sz="4600" spc="-80"/>
              <a:t>Regression</a:t>
            </a:r>
            <a:endParaRPr sz="46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3950" y="1592163"/>
            <a:ext cx="10795000" cy="76708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36600" y="458487"/>
            <a:ext cx="11384915" cy="729615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4600" spc="-620"/>
              <a:t>T</a:t>
            </a:r>
            <a:r>
              <a:rPr dirty="0" sz="4600" spc="-105"/>
              <a:t>op</a:t>
            </a:r>
            <a:r>
              <a:rPr dirty="0" sz="4600" spc="-114"/>
              <a:t>i</a:t>
            </a:r>
            <a:r>
              <a:rPr dirty="0" sz="4600" spc="-10"/>
              <a:t>c</a:t>
            </a:r>
            <a:r>
              <a:rPr dirty="0" sz="4600" spc="-150"/>
              <a:t> </a:t>
            </a:r>
            <a:r>
              <a:rPr dirty="0" sz="4600" spc="-130"/>
              <a:t>Three:</a:t>
            </a:r>
            <a:r>
              <a:rPr dirty="0" sz="4600" spc="-145"/>
              <a:t> </a:t>
            </a:r>
            <a:r>
              <a:rPr dirty="0" sz="4600" spc="-95"/>
              <a:t>High-</a:t>
            </a:r>
            <a:r>
              <a:rPr dirty="0" sz="4600" spc="-90"/>
              <a:t>dimensional</a:t>
            </a:r>
            <a:r>
              <a:rPr dirty="0" sz="4600" spc="-145"/>
              <a:t> </a:t>
            </a:r>
            <a:r>
              <a:rPr dirty="0" sz="4600" spc="-80"/>
              <a:t>Regression</a:t>
            </a:r>
            <a:endParaRPr sz="4600"/>
          </a:p>
        </p:txBody>
      </p:sp>
      <p:sp>
        <p:nvSpPr>
          <p:cNvPr id="3" name="object 3"/>
          <p:cNvSpPr txBox="1"/>
          <p:nvPr/>
        </p:nvSpPr>
        <p:spPr>
          <a:xfrm>
            <a:off x="843557" y="1815045"/>
            <a:ext cx="11102975" cy="2683510"/>
          </a:xfrm>
          <a:prstGeom prst="rect">
            <a:avLst/>
          </a:prstGeom>
        </p:spPr>
        <p:txBody>
          <a:bodyPr wrap="square" lIns="0" tIns="80645" rIns="0" bIns="0" rtlCol="0" vert="horz">
            <a:spAutoFit/>
          </a:bodyPr>
          <a:lstStyle/>
          <a:p>
            <a:pPr marL="558800" marR="17780" indent="-508000">
              <a:lnSpc>
                <a:spcPts val="4330"/>
              </a:lnSpc>
              <a:spcBef>
                <a:spcPts val="635"/>
              </a:spcBef>
              <a:buSzPct val="122500"/>
              <a:buChar char="•"/>
              <a:tabLst>
                <a:tab pos="558800" algn="l"/>
              </a:tabLst>
            </a:pPr>
            <a:r>
              <a:rPr dirty="0" sz="4000" spc="-265">
                <a:latin typeface="Arial"/>
                <a:cs typeface="Arial"/>
              </a:rPr>
              <a:t>To</a:t>
            </a:r>
            <a:r>
              <a:rPr dirty="0" sz="4000" spc="1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get</a:t>
            </a:r>
            <a:r>
              <a:rPr dirty="0" sz="4000" spc="1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a</a:t>
            </a:r>
            <a:r>
              <a:rPr dirty="0" sz="4000" spc="15">
                <a:latin typeface="Arial"/>
                <a:cs typeface="Arial"/>
              </a:rPr>
              <a:t> </a:t>
            </a:r>
            <a:r>
              <a:rPr dirty="0" sz="4000" spc="85">
                <a:latin typeface="Arial"/>
                <a:cs typeface="Arial"/>
              </a:rPr>
              <a:t>good</a:t>
            </a:r>
            <a:r>
              <a:rPr dirty="0" sz="4000" spc="1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idea</a:t>
            </a:r>
            <a:r>
              <a:rPr dirty="0" sz="4000" spc="15">
                <a:latin typeface="Arial"/>
                <a:cs typeface="Arial"/>
              </a:rPr>
              <a:t> </a:t>
            </a:r>
            <a:r>
              <a:rPr dirty="0" sz="4000" spc="65">
                <a:latin typeface="Arial"/>
                <a:cs typeface="Arial"/>
              </a:rPr>
              <a:t>of</a:t>
            </a:r>
            <a:r>
              <a:rPr dirty="0" sz="4000" spc="1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the</a:t>
            </a:r>
            <a:r>
              <a:rPr dirty="0" sz="4000" spc="2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underlying</a:t>
            </a:r>
            <a:r>
              <a:rPr dirty="0" sz="4000" spc="1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trend</a:t>
            </a:r>
            <a:r>
              <a:rPr dirty="0" sz="4000" spc="15">
                <a:latin typeface="Arial"/>
                <a:cs typeface="Arial"/>
              </a:rPr>
              <a:t> </a:t>
            </a:r>
            <a:r>
              <a:rPr dirty="0" sz="4000" spc="-25">
                <a:latin typeface="Arial"/>
                <a:cs typeface="Arial"/>
              </a:rPr>
              <a:t>in </a:t>
            </a:r>
            <a:r>
              <a:rPr dirty="0" sz="4000">
                <a:latin typeface="Arial"/>
                <a:cs typeface="Arial"/>
              </a:rPr>
              <a:t>this</a:t>
            </a:r>
            <a:r>
              <a:rPr dirty="0" sz="4000" spc="-2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data,</a:t>
            </a:r>
            <a:r>
              <a:rPr dirty="0" sz="4000" spc="-25">
                <a:latin typeface="Arial"/>
                <a:cs typeface="Arial"/>
              </a:rPr>
              <a:t> </a:t>
            </a:r>
            <a:r>
              <a:rPr dirty="0" sz="4000" spc="50">
                <a:latin typeface="Arial"/>
                <a:cs typeface="Arial"/>
              </a:rPr>
              <a:t>fitting</a:t>
            </a:r>
            <a:r>
              <a:rPr dirty="0" sz="4000" spc="-2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a</a:t>
            </a:r>
            <a:r>
              <a:rPr dirty="0" sz="4000" spc="-2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single</a:t>
            </a:r>
            <a:r>
              <a:rPr dirty="0" sz="4000" spc="-2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line</a:t>
            </a:r>
            <a:r>
              <a:rPr dirty="0" sz="4000" spc="-2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is</a:t>
            </a:r>
            <a:r>
              <a:rPr dirty="0" sz="4000" spc="-2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clearly</a:t>
            </a:r>
            <a:r>
              <a:rPr dirty="0" sz="4000" spc="-25">
                <a:latin typeface="Arial"/>
                <a:cs typeface="Arial"/>
              </a:rPr>
              <a:t> </a:t>
            </a:r>
            <a:r>
              <a:rPr dirty="0" sz="4000" spc="55">
                <a:latin typeface="Arial"/>
                <a:cs typeface="Arial"/>
              </a:rPr>
              <a:t>not</a:t>
            </a:r>
            <a:r>
              <a:rPr dirty="0" sz="4000" spc="-25">
                <a:latin typeface="Arial"/>
                <a:cs typeface="Arial"/>
              </a:rPr>
              <a:t> </a:t>
            </a:r>
            <a:r>
              <a:rPr dirty="0" sz="4000" spc="-10">
                <a:latin typeface="Arial"/>
                <a:cs typeface="Arial"/>
              </a:rPr>
              <a:t>ideal</a:t>
            </a:r>
            <a:endParaRPr sz="4000">
              <a:latin typeface="Arial"/>
              <a:cs typeface="Arial"/>
            </a:endParaRPr>
          </a:p>
          <a:p>
            <a:pPr algn="ctr" marL="1319530">
              <a:lnSpc>
                <a:spcPct val="100000"/>
              </a:lnSpc>
              <a:spcBef>
                <a:spcPts val="1839"/>
              </a:spcBef>
            </a:pPr>
            <a:r>
              <a:rPr dirty="0" sz="3400" spc="-50" i="1">
                <a:latin typeface="Times New Roman"/>
                <a:cs typeface="Times New Roman"/>
              </a:rPr>
              <a:t>k</a:t>
            </a:r>
            <a:endParaRPr sz="3400">
              <a:latin typeface="Times New Roman"/>
              <a:cs typeface="Times New Roman"/>
            </a:endParaRPr>
          </a:p>
          <a:p>
            <a:pPr marL="558165" indent="-507365">
              <a:lnSpc>
                <a:spcPct val="100000"/>
              </a:lnSpc>
              <a:spcBef>
                <a:spcPts val="25"/>
              </a:spcBef>
              <a:buSzPct val="122500"/>
              <a:buChar char="•"/>
              <a:tabLst>
                <a:tab pos="558165" algn="l"/>
                <a:tab pos="2653030" algn="l"/>
              </a:tabLst>
            </a:pPr>
            <a:r>
              <a:rPr dirty="0" sz="4000">
                <a:latin typeface="Arial"/>
                <a:cs typeface="Arial"/>
              </a:rPr>
              <a:t>Fitting</a:t>
            </a:r>
            <a:r>
              <a:rPr dirty="0" sz="4000" spc="215">
                <a:latin typeface="Arial"/>
                <a:cs typeface="Arial"/>
              </a:rPr>
              <a:t> </a:t>
            </a:r>
            <a:r>
              <a:rPr dirty="0" sz="4800" spc="-25" i="1">
                <a:latin typeface="Times New Roman"/>
                <a:cs typeface="Times New Roman"/>
              </a:rPr>
              <a:t>y</a:t>
            </a:r>
            <a:r>
              <a:rPr dirty="0" baseline="-19607" sz="5100" spc="-37" i="1">
                <a:latin typeface="Times New Roman"/>
                <a:cs typeface="Times New Roman"/>
              </a:rPr>
              <a:t>t</a:t>
            </a:r>
            <a:r>
              <a:rPr dirty="0" baseline="-19607" sz="5100" i="1">
                <a:latin typeface="Times New Roman"/>
                <a:cs typeface="Times New Roman"/>
              </a:rPr>
              <a:t>	</a:t>
            </a:r>
            <a:r>
              <a:rPr dirty="0" sz="4800" spc="635">
                <a:latin typeface="Cambria"/>
                <a:cs typeface="Cambria"/>
              </a:rPr>
              <a:t>=</a:t>
            </a:r>
            <a:r>
              <a:rPr dirty="0" sz="4800" spc="204">
                <a:latin typeface="Cambria"/>
                <a:cs typeface="Cambria"/>
              </a:rPr>
              <a:t> </a:t>
            </a:r>
            <a:r>
              <a:rPr dirty="0" sz="4800" i="1">
                <a:latin typeface="Times New Roman"/>
                <a:cs typeface="Times New Roman"/>
              </a:rPr>
              <a:t>β</a:t>
            </a:r>
            <a:r>
              <a:rPr dirty="0" baseline="-19607" sz="5100">
                <a:latin typeface="Cambria"/>
                <a:cs typeface="Cambria"/>
              </a:rPr>
              <a:t>0</a:t>
            </a:r>
            <a:r>
              <a:rPr dirty="0" baseline="-19607" sz="5100" spc="434">
                <a:latin typeface="Cambria"/>
                <a:cs typeface="Cambria"/>
              </a:rPr>
              <a:t> </a:t>
            </a:r>
            <a:r>
              <a:rPr dirty="0" sz="4800" spc="635">
                <a:latin typeface="Cambria"/>
                <a:cs typeface="Cambria"/>
              </a:rPr>
              <a:t>+</a:t>
            </a:r>
            <a:r>
              <a:rPr dirty="0" sz="4800" spc="-25">
                <a:latin typeface="Cambria"/>
                <a:cs typeface="Cambria"/>
              </a:rPr>
              <a:t> </a:t>
            </a:r>
            <a:r>
              <a:rPr dirty="0" sz="4800" spc="-80" i="1">
                <a:latin typeface="Times New Roman"/>
                <a:cs typeface="Times New Roman"/>
              </a:rPr>
              <a:t>β</a:t>
            </a:r>
            <a:r>
              <a:rPr dirty="0" baseline="-19607" sz="5100" spc="-120">
                <a:latin typeface="Cambria"/>
                <a:cs typeface="Cambria"/>
              </a:rPr>
              <a:t>1</a:t>
            </a:r>
            <a:r>
              <a:rPr dirty="0" sz="4800" spc="-80" i="1">
                <a:latin typeface="Times New Roman"/>
                <a:cs typeface="Times New Roman"/>
              </a:rPr>
              <a:t>t</a:t>
            </a:r>
            <a:r>
              <a:rPr dirty="0" sz="4800" spc="-165" i="1">
                <a:latin typeface="Times New Roman"/>
                <a:cs typeface="Times New Roman"/>
              </a:rPr>
              <a:t> </a:t>
            </a:r>
            <a:r>
              <a:rPr dirty="0" sz="4800" spc="635">
                <a:latin typeface="Cambria"/>
                <a:cs typeface="Cambria"/>
              </a:rPr>
              <a:t>+</a:t>
            </a:r>
            <a:r>
              <a:rPr dirty="0" sz="4800" spc="-25">
                <a:latin typeface="Cambria"/>
                <a:cs typeface="Cambria"/>
              </a:rPr>
              <a:t> </a:t>
            </a:r>
            <a:r>
              <a:rPr dirty="0" baseline="-28935" sz="7200" spc="2160">
                <a:latin typeface="HY견고딕"/>
                <a:cs typeface="HY견고딕"/>
              </a:rPr>
              <a:t>∑</a:t>
            </a:r>
            <a:r>
              <a:rPr dirty="0" baseline="-28935" sz="7200" spc="-1192">
                <a:latin typeface="HY견고딕"/>
                <a:cs typeface="HY견고딕"/>
              </a:rPr>
              <a:t> </a:t>
            </a:r>
            <a:r>
              <a:rPr dirty="0" sz="4800" spc="-45" i="1">
                <a:latin typeface="Times New Roman"/>
                <a:cs typeface="Times New Roman"/>
              </a:rPr>
              <a:t>α</a:t>
            </a:r>
            <a:r>
              <a:rPr dirty="0" baseline="-19607" sz="5100" spc="-67" i="1">
                <a:latin typeface="Times New Roman"/>
                <a:cs typeface="Times New Roman"/>
              </a:rPr>
              <a:t>j</a:t>
            </a:r>
            <a:r>
              <a:rPr dirty="0" sz="4800" spc="-45">
                <a:latin typeface="Cambria"/>
                <a:cs typeface="Cambria"/>
              </a:rPr>
              <a:t>(</a:t>
            </a:r>
            <a:r>
              <a:rPr dirty="0" sz="4800" spc="-45" i="1">
                <a:latin typeface="Times New Roman"/>
                <a:cs typeface="Times New Roman"/>
              </a:rPr>
              <a:t>t</a:t>
            </a:r>
            <a:r>
              <a:rPr dirty="0" sz="4800" spc="-165" i="1">
                <a:latin typeface="Times New Roman"/>
                <a:cs typeface="Times New Roman"/>
              </a:rPr>
              <a:t> </a:t>
            </a:r>
            <a:r>
              <a:rPr dirty="0" sz="4800" spc="635">
                <a:latin typeface="Cambria"/>
                <a:cs typeface="Cambria"/>
              </a:rPr>
              <a:t>−</a:t>
            </a:r>
            <a:r>
              <a:rPr dirty="0" sz="4800" spc="-25">
                <a:latin typeface="Cambria"/>
                <a:cs typeface="Cambria"/>
              </a:rPr>
              <a:t> </a:t>
            </a:r>
            <a:r>
              <a:rPr dirty="0" sz="4800" i="1">
                <a:latin typeface="Times New Roman"/>
                <a:cs typeface="Times New Roman"/>
              </a:rPr>
              <a:t>c</a:t>
            </a:r>
            <a:r>
              <a:rPr dirty="0" baseline="-19607" sz="5100" i="1">
                <a:latin typeface="Times New Roman"/>
                <a:cs typeface="Times New Roman"/>
              </a:rPr>
              <a:t>j</a:t>
            </a:r>
            <a:r>
              <a:rPr dirty="0" sz="4800">
                <a:latin typeface="Cambria"/>
                <a:cs typeface="Cambria"/>
              </a:rPr>
              <a:t>)</a:t>
            </a:r>
            <a:r>
              <a:rPr dirty="0" baseline="-19607" sz="5100">
                <a:latin typeface="Cambria"/>
                <a:cs typeface="Cambria"/>
              </a:rPr>
              <a:t>+</a:t>
            </a:r>
            <a:r>
              <a:rPr dirty="0" baseline="-19607" sz="5100" spc="434">
                <a:latin typeface="Cambria"/>
                <a:cs typeface="Cambria"/>
              </a:rPr>
              <a:t> </a:t>
            </a:r>
            <a:r>
              <a:rPr dirty="0" sz="4800" spc="635">
                <a:latin typeface="Cambria"/>
                <a:cs typeface="Cambria"/>
              </a:rPr>
              <a:t>+</a:t>
            </a:r>
            <a:r>
              <a:rPr dirty="0" sz="4800" spc="-25">
                <a:latin typeface="Cambria"/>
                <a:cs typeface="Cambria"/>
              </a:rPr>
              <a:t> </a:t>
            </a:r>
            <a:r>
              <a:rPr dirty="0" sz="4800" spc="190" i="1">
                <a:latin typeface="Times New Roman"/>
                <a:cs typeface="Times New Roman"/>
              </a:rPr>
              <a:t>ϵ</a:t>
            </a:r>
            <a:r>
              <a:rPr dirty="0" sz="4800" spc="-130" i="1">
                <a:latin typeface="Times New Roman"/>
                <a:cs typeface="Times New Roman"/>
              </a:rPr>
              <a:t> </a:t>
            </a:r>
            <a:r>
              <a:rPr dirty="0" sz="4000" spc="-25">
                <a:latin typeface="Arial"/>
                <a:cs typeface="Arial"/>
              </a:rPr>
              <a:t>is</a:t>
            </a:r>
            <a:endParaRPr sz="4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23360" y="4661977"/>
            <a:ext cx="662940" cy="5486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400" spc="60" i="1">
                <a:latin typeface="Times New Roman"/>
                <a:cs typeface="Times New Roman"/>
              </a:rPr>
              <a:t>j</a:t>
            </a:r>
            <a:r>
              <a:rPr dirty="0" sz="3400" spc="60">
                <a:latin typeface="Cambria"/>
                <a:cs typeface="Cambria"/>
              </a:rPr>
              <a:t>=1</a:t>
            </a:r>
            <a:endParaRPr sz="34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81657" y="4995798"/>
            <a:ext cx="11226800" cy="2915920"/>
          </a:xfrm>
          <a:prstGeom prst="rect">
            <a:avLst/>
          </a:prstGeom>
        </p:spPr>
        <p:txBody>
          <a:bodyPr wrap="square" lIns="0" tIns="97155" rIns="0" bIns="0" rtlCol="0" vert="horz">
            <a:spAutoFit/>
          </a:bodyPr>
          <a:lstStyle/>
          <a:p>
            <a:pPr marL="520700" marR="452120">
              <a:lnSpc>
                <a:spcPct val="89000"/>
              </a:lnSpc>
              <a:spcBef>
                <a:spcPts val="765"/>
              </a:spcBef>
            </a:pPr>
            <a:r>
              <a:rPr dirty="0" sz="4000">
                <a:latin typeface="Arial"/>
                <a:cs typeface="Arial"/>
              </a:rPr>
              <a:t>also </a:t>
            </a:r>
            <a:r>
              <a:rPr dirty="0" sz="4000" spc="55">
                <a:latin typeface="Arial"/>
                <a:cs typeface="Arial"/>
              </a:rPr>
              <a:t>not</a:t>
            </a:r>
            <a:r>
              <a:rPr dirty="0" sz="4000">
                <a:latin typeface="Arial"/>
                <a:cs typeface="Arial"/>
              </a:rPr>
              <a:t> likely </a:t>
            </a:r>
            <a:r>
              <a:rPr dirty="0" sz="4000" spc="100">
                <a:latin typeface="Arial"/>
                <a:cs typeface="Arial"/>
              </a:rPr>
              <a:t>to</a:t>
            </a:r>
            <a:r>
              <a:rPr dirty="0" sz="4000">
                <a:latin typeface="Arial"/>
                <a:cs typeface="Arial"/>
              </a:rPr>
              <a:t> be </a:t>
            </a:r>
            <a:r>
              <a:rPr dirty="0" sz="4000" spc="85">
                <a:latin typeface="Arial"/>
                <a:cs typeface="Arial"/>
              </a:rPr>
              <a:t>good</a:t>
            </a:r>
            <a:r>
              <a:rPr dirty="0" sz="4000">
                <a:latin typeface="Arial"/>
                <a:cs typeface="Arial"/>
              </a:rPr>
              <a:t> if </a:t>
            </a:r>
            <a:r>
              <a:rPr dirty="0" sz="4800" i="1">
                <a:latin typeface="Times New Roman"/>
                <a:cs typeface="Times New Roman"/>
              </a:rPr>
              <a:t>k</a:t>
            </a:r>
            <a:r>
              <a:rPr dirty="0" sz="4800" spc="-90" i="1">
                <a:latin typeface="Times New Roman"/>
                <a:cs typeface="Times New Roman"/>
              </a:rPr>
              <a:t> </a:t>
            </a:r>
            <a:r>
              <a:rPr dirty="0" sz="4000">
                <a:latin typeface="Arial"/>
                <a:cs typeface="Arial"/>
              </a:rPr>
              <a:t>is small. </a:t>
            </a:r>
            <a:r>
              <a:rPr dirty="0" sz="4000" spc="60">
                <a:latin typeface="Arial"/>
                <a:cs typeface="Arial"/>
              </a:rPr>
              <a:t>But</a:t>
            </a:r>
            <a:r>
              <a:rPr dirty="0" sz="4000">
                <a:latin typeface="Arial"/>
                <a:cs typeface="Arial"/>
              </a:rPr>
              <a:t> if </a:t>
            </a:r>
            <a:r>
              <a:rPr dirty="0" sz="4800" spc="-50" i="1">
                <a:latin typeface="Times New Roman"/>
                <a:cs typeface="Times New Roman"/>
              </a:rPr>
              <a:t>k</a:t>
            </a:r>
            <a:r>
              <a:rPr dirty="0" sz="4800" spc="-50" i="1">
                <a:latin typeface="Times New Roman"/>
                <a:cs typeface="Times New Roman"/>
              </a:rPr>
              <a:t> </a:t>
            </a:r>
            <a:r>
              <a:rPr dirty="0" sz="4000">
                <a:latin typeface="Arial"/>
                <a:cs typeface="Arial"/>
              </a:rPr>
              <a:t>is</a:t>
            </a:r>
            <a:r>
              <a:rPr dirty="0" sz="4000" spc="-6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large,</a:t>
            </a:r>
            <a:r>
              <a:rPr dirty="0" sz="4000" spc="-6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there</a:t>
            </a:r>
            <a:r>
              <a:rPr dirty="0" sz="4000" spc="-6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is</a:t>
            </a:r>
            <a:r>
              <a:rPr dirty="0" sz="4000" spc="-6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risk</a:t>
            </a:r>
            <a:r>
              <a:rPr dirty="0" sz="4000" spc="-55">
                <a:latin typeface="Arial"/>
                <a:cs typeface="Arial"/>
              </a:rPr>
              <a:t> </a:t>
            </a:r>
            <a:r>
              <a:rPr dirty="0" sz="4000" spc="65">
                <a:latin typeface="Arial"/>
                <a:cs typeface="Arial"/>
              </a:rPr>
              <a:t>of</a:t>
            </a:r>
            <a:r>
              <a:rPr dirty="0" sz="4000" spc="-60">
                <a:latin typeface="Arial"/>
                <a:cs typeface="Arial"/>
              </a:rPr>
              <a:t> </a:t>
            </a:r>
            <a:r>
              <a:rPr dirty="0" sz="4000" spc="-10">
                <a:latin typeface="Arial"/>
                <a:cs typeface="Arial"/>
              </a:rPr>
              <a:t>overfitting</a:t>
            </a:r>
            <a:endParaRPr sz="4000">
              <a:latin typeface="Arial"/>
              <a:cs typeface="Arial"/>
            </a:endParaRPr>
          </a:p>
          <a:p>
            <a:pPr marL="520700" marR="5080" indent="-508000">
              <a:lnSpc>
                <a:spcPct val="89000"/>
              </a:lnSpc>
              <a:spcBef>
                <a:spcPts val="3325"/>
              </a:spcBef>
              <a:buSzPct val="122500"/>
              <a:buChar char="•"/>
              <a:tabLst>
                <a:tab pos="520700" algn="l"/>
              </a:tabLst>
            </a:pPr>
            <a:r>
              <a:rPr dirty="0" sz="4000">
                <a:latin typeface="Arial"/>
                <a:cs typeface="Arial"/>
              </a:rPr>
              <a:t>In</a:t>
            </a:r>
            <a:r>
              <a:rPr dirty="0" sz="4000" spc="-2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such</a:t>
            </a:r>
            <a:r>
              <a:rPr dirty="0" sz="4000" spc="-2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cases,</a:t>
            </a:r>
            <a:r>
              <a:rPr dirty="0" sz="4000" spc="-2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we</a:t>
            </a:r>
            <a:r>
              <a:rPr dirty="0" sz="4000" spc="-2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take</a:t>
            </a:r>
            <a:r>
              <a:rPr dirty="0" sz="4000" spc="-20">
                <a:latin typeface="Arial"/>
                <a:cs typeface="Arial"/>
              </a:rPr>
              <a:t> </a:t>
            </a:r>
            <a:r>
              <a:rPr dirty="0" sz="4800" i="1">
                <a:latin typeface="Times New Roman"/>
                <a:cs typeface="Times New Roman"/>
              </a:rPr>
              <a:t>k</a:t>
            </a:r>
            <a:r>
              <a:rPr dirty="0" sz="4800" spc="-110" i="1">
                <a:latin typeface="Times New Roman"/>
                <a:cs typeface="Times New Roman"/>
              </a:rPr>
              <a:t> </a:t>
            </a:r>
            <a:r>
              <a:rPr dirty="0" sz="4000" spc="100">
                <a:latin typeface="Arial"/>
                <a:cs typeface="Arial"/>
              </a:rPr>
              <a:t>to</a:t>
            </a:r>
            <a:r>
              <a:rPr dirty="0" sz="4000" spc="-2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be</a:t>
            </a:r>
            <a:r>
              <a:rPr dirty="0" sz="4000" spc="-2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large,</a:t>
            </a:r>
            <a:r>
              <a:rPr dirty="0" sz="4000" spc="-2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and</a:t>
            </a:r>
            <a:r>
              <a:rPr dirty="0" sz="4000" spc="-15">
                <a:latin typeface="Arial"/>
                <a:cs typeface="Arial"/>
              </a:rPr>
              <a:t> </a:t>
            </a:r>
            <a:r>
              <a:rPr dirty="0" sz="4000" spc="65">
                <a:latin typeface="Arial"/>
                <a:cs typeface="Arial"/>
              </a:rPr>
              <a:t>fit</a:t>
            </a:r>
            <a:r>
              <a:rPr dirty="0" sz="4000" spc="-20">
                <a:latin typeface="Arial"/>
                <a:cs typeface="Arial"/>
              </a:rPr>
              <a:t> </a:t>
            </a:r>
            <a:r>
              <a:rPr dirty="0" sz="4000" spc="-25">
                <a:latin typeface="Arial"/>
                <a:cs typeface="Arial"/>
              </a:rPr>
              <a:t>the </a:t>
            </a:r>
            <a:r>
              <a:rPr dirty="0" sz="4000">
                <a:latin typeface="Arial"/>
                <a:cs typeface="Arial"/>
              </a:rPr>
              <a:t>model</a:t>
            </a:r>
            <a:r>
              <a:rPr dirty="0" sz="4000" spc="5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using</a:t>
            </a:r>
            <a:r>
              <a:rPr dirty="0" sz="4000" spc="55">
                <a:latin typeface="Arial"/>
                <a:cs typeface="Arial"/>
              </a:rPr>
              <a:t> </a:t>
            </a:r>
            <a:r>
              <a:rPr dirty="0" sz="4000" spc="-10">
                <a:solidFill>
                  <a:srgbClr val="FF2600"/>
                </a:solidFill>
                <a:latin typeface="Arial"/>
                <a:cs typeface="Arial"/>
              </a:rPr>
              <a:t>regularization</a:t>
            </a:r>
            <a:r>
              <a:rPr dirty="0" sz="4000" spc="-10">
                <a:latin typeface="Arial"/>
                <a:cs typeface="Arial"/>
              </a:rPr>
              <a:t>.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19547" rIns="0" bIns="0" rtlCol="0" vert="horz">
            <a:spAutoFit/>
          </a:bodyPr>
          <a:lstStyle/>
          <a:p>
            <a:pPr marL="527685">
              <a:lnSpc>
                <a:spcPct val="100000"/>
              </a:lnSpc>
              <a:spcBef>
                <a:spcPts val="120"/>
              </a:spcBef>
            </a:pPr>
            <a:r>
              <a:rPr dirty="0" sz="4600" spc="-620"/>
              <a:t>T</a:t>
            </a:r>
            <a:r>
              <a:rPr dirty="0" sz="4600" spc="-105"/>
              <a:t>op</a:t>
            </a:r>
            <a:r>
              <a:rPr dirty="0" sz="4600" spc="-114"/>
              <a:t>i</a:t>
            </a:r>
            <a:r>
              <a:rPr dirty="0" sz="4600" spc="-10"/>
              <a:t>c</a:t>
            </a:r>
            <a:r>
              <a:rPr dirty="0" sz="4600" spc="-150"/>
              <a:t> </a:t>
            </a:r>
            <a:r>
              <a:rPr dirty="0" sz="4600" spc="-130"/>
              <a:t>Three:</a:t>
            </a:r>
            <a:r>
              <a:rPr dirty="0" sz="4600" spc="-145"/>
              <a:t> </a:t>
            </a:r>
            <a:r>
              <a:rPr dirty="0" sz="4600" spc="-95"/>
              <a:t>High-</a:t>
            </a:r>
            <a:r>
              <a:rPr dirty="0" sz="4600" spc="-90"/>
              <a:t>dimensional</a:t>
            </a:r>
            <a:r>
              <a:rPr dirty="0" sz="4600" spc="-145"/>
              <a:t> </a:t>
            </a:r>
            <a:r>
              <a:rPr dirty="0" sz="4600" spc="-80"/>
              <a:t>Regression</a:t>
            </a:r>
            <a:endParaRPr sz="46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053465" indent="-507365">
              <a:lnSpc>
                <a:spcPct val="100000"/>
              </a:lnSpc>
              <a:spcBef>
                <a:spcPts val="100"/>
              </a:spcBef>
              <a:buSzPct val="122500"/>
              <a:buChar char="•"/>
              <a:tabLst>
                <a:tab pos="1054100" algn="l"/>
              </a:tabLst>
            </a:pPr>
            <a:r>
              <a:rPr dirty="0" sz="4000" spc="-120"/>
              <a:t>We</a:t>
            </a:r>
            <a:r>
              <a:rPr dirty="0" sz="4000" spc="-55"/>
              <a:t> </a:t>
            </a:r>
            <a:r>
              <a:rPr dirty="0" sz="4000" spc="60"/>
              <a:t>work</a:t>
            </a:r>
            <a:r>
              <a:rPr dirty="0" sz="4000" spc="-55"/>
              <a:t> </a:t>
            </a:r>
            <a:r>
              <a:rPr dirty="0" sz="4000" spc="-10"/>
              <a:t>here</a:t>
            </a:r>
            <a:r>
              <a:rPr dirty="0" sz="4000" spc="-50"/>
              <a:t> </a:t>
            </a:r>
            <a:r>
              <a:rPr dirty="0" sz="4000" spc="70"/>
              <a:t>with</a:t>
            </a:r>
            <a:r>
              <a:rPr dirty="0" sz="4000" spc="-55"/>
              <a:t> </a:t>
            </a:r>
            <a:r>
              <a:rPr dirty="0" sz="4000"/>
              <a:t>the</a:t>
            </a:r>
            <a:r>
              <a:rPr dirty="0" sz="4000" spc="-55"/>
              <a:t> </a:t>
            </a:r>
            <a:r>
              <a:rPr dirty="0" sz="4000" spc="80"/>
              <a:t>‘full’</a:t>
            </a:r>
            <a:r>
              <a:rPr dirty="0" sz="4000" spc="-50"/>
              <a:t> </a:t>
            </a:r>
            <a:r>
              <a:rPr dirty="0" sz="4000" spc="-10"/>
              <a:t>model:</a:t>
            </a:r>
            <a:endParaRPr sz="4000"/>
          </a:p>
          <a:p>
            <a:pPr marL="1054100">
              <a:lnSpc>
                <a:spcPct val="100000"/>
              </a:lnSpc>
              <a:spcBef>
                <a:spcPts val="180"/>
              </a:spcBef>
            </a:pPr>
            <a:r>
              <a:rPr dirty="0" sz="3350" i="1">
                <a:latin typeface="Times New Roman"/>
                <a:cs typeface="Times New Roman"/>
              </a:rPr>
              <a:t>y</a:t>
            </a:r>
            <a:r>
              <a:rPr dirty="0" baseline="-19675" sz="3600" i="1">
                <a:latin typeface="Times New Roman"/>
                <a:cs typeface="Times New Roman"/>
              </a:rPr>
              <a:t>t</a:t>
            </a:r>
            <a:r>
              <a:rPr dirty="0" baseline="-19675" sz="3600" spc="457" i="1">
                <a:latin typeface="Times New Roman"/>
                <a:cs typeface="Times New Roman"/>
              </a:rPr>
              <a:t> </a:t>
            </a:r>
            <a:r>
              <a:rPr dirty="0" sz="3350" spc="459">
                <a:latin typeface="Cambria"/>
                <a:cs typeface="Cambria"/>
              </a:rPr>
              <a:t>=</a:t>
            </a:r>
            <a:r>
              <a:rPr dirty="0" sz="3350" spc="175">
                <a:latin typeface="Cambria"/>
                <a:cs typeface="Cambria"/>
              </a:rPr>
              <a:t> </a:t>
            </a:r>
            <a:r>
              <a:rPr dirty="0" sz="3350" i="1">
                <a:latin typeface="Times New Roman"/>
                <a:cs typeface="Times New Roman"/>
              </a:rPr>
              <a:t>β</a:t>
            </a:r>
            <a:r>
              <a:rPr dirty="0" baseline="-19675" sz="3600">
                <a:latin typeface="Cambria"/>
                <a:cs typeface="Cambria"/>
              </a:rPr>
              <a:t>0</a:t>
            </a:r>
            <a:r>
              <a:rPr dirty="0" baseline="-19675" sz="3600" spc="300">
                <a:latin typeface="Cambria"/>
                <a:cs typeface="Cambria"/>
              </a:rPr>
              <a:t> </a:t>
            </a:r>
            <a:r>
              <a:rPr dirty="0" sz="3350" spc="459">
                <a:latin typeface="Cambria"/>
                <a:cs typeface="Cambria"/>
              </a:rPr>
              <a:t>+</a:t>
            </a:r>
            <a:r>
              <a:rPr dirty="0" sz="3350" spc="-10">
                <a:latin typeface="Cambria"/>
                <a:cs typeface="Cambria"/>
              </a:rPr>
              <a:t> </a:t>
            </a:r>
            <a:r>
              <a:rPr dirty="0" sz="3350" spc="-50" i="1">
                <a:latin typeface="Times New Roman"/>
                <a:cs typeface="Times New Roman"/>
              </a:rPr>
              <a:t>β</a:t>
            </a:r>
            <a:r>
              <a:rPr dirty="0" baseline="-19675" sz="3600" spc="-75">
                <a:latin typeface="Cambria"/>
                <a:cs typeface="Cambria"/>
              </a:rPr>
              <a:t>1</a:t>
            </a:r>
            <a:r>
              <a:rPr dirty="0" sz="3350" spc="-50" i="1">
                <a:latin typeface="Times New Roman"/>
                <a:cs typeface="Times New Roman"/>
              </a:rPr>
              <a:t>t</a:t>
            </a:r>
            <a:r>
              <a:rPr dirty="0" sz="3350" spc="-110" i="1">
                <a:latin typeface="Times New Roman"/>
                <a:cs typeface="Times New Roman"/>
              </a:rPr>
              <a:t> </a:t>
            </a:r>
            <a:r>
              <a:rPr dirty="0" sz="3350" spc="459">
                <a:latin typeface="Cambria"/>
                <a:cs typeface="Cambria"/>
              </a:rPr>
              <a:t>+</a:t>
            </a:r>
            <a:r>
              <a:rPr dirty="0" sz="3350" spc="-15">
                <a:latin typeface="Cambria"/>
                <a:cs typeface="Cambria"/>
              </a:rPr>
              <a:t> </a:t>
            </a:r>
            <a:r>
              <a:rPr dirty="0" sz="3350" spc="-85" i="1">
                <a:latin typeface="Times New Roman"/>
                <a:cs typeface="Times New Roman"/>
              </a:rPr>
              <a:t>β</a:t>
            </a:r>
            <a:r>
              <a:rPr dirty="0" baseline="-19675" sz="3600" spc="-127">
                <a:latin typeface="Cambria"/>
                <a:cs typeface="Cambria"/>
              </a:rPr>
              <a:t>2</a:t>
            </a:r>
            <a:r>
              <a:rPr dirty="0" sz="3350" spc="-85">
                <a:latin typeface="Cambria"/>
                <a:cs typeface="Cambria"/>
              </a:rPr>
              <a:t>(</a:t>
            </a:r>
            <a:r>
              <a:rPr dirty="0" sz="3350" spc="-85" i="1">
                <a:latin typeface="Times New Roman"/>
                <a:cs typeface="Times New Roman"/>
              </a:rPr>
              <a:t>t</a:t>
            </a:r>
            <a:r>
              <a:rPr dirty="0" sz="3350" spc="-110" i="1">
                <a:latin typeface="Times New Roman"/>
                <a:cs typeface="Times New Roman"/>
              </a:rPr>
              <a:t> </a:t>
            </a:r>
            <a:r>
              <a:rPr dirty="0" sz="3350" spc="459">
                <a:latin typeface="Cambria"/>
                <a:cs typeface="Cambria"/>
              </a:rPr>
              <a:t>−</a:t>
            </a:r>
            <a:r>
              <a:rPr dirty="0" sz="3350" spc="-10">
                <a:latin typeface="Cambria"/>
                <a:cs typeface="Cambria"/>
              </a:rPr>
              <a:t> </a:t>
            </a:r>
            <a:r>
              <a:rPr dirty="0" sz="3350">
                <a:latin typeface="Cambria"/>
                <a:cs typeface="Cambria"/>
              </a:rPr>
              <a:t>2)</a:t>
            </a:r>
            <a:r>
              <a:rPr dirty="0" baseline="-19675" sz="3600">
                <a:latin typeface="Cambria"/>
                <a:cs typeface="Cambria"/>
              </a:rPr>
              <a:t>+</a:t>
            </a:r>
            <a:r>
              <a:rPr dirty="0" baseline="-19675" sz="3600" spc="300">
                <a:latin typeface="Cambria"/>
                <a:cs typeface="Cambria"/>
              </a:rPr>
              <a:t> </a:t>
            </a:r>
            <a:r>
              <a:rPr dirty="0" sz="3350" spc="459">
                <a:latin typeface="Cambria"/>
                <a:cs typeface="Cambria"/>
              </a:rPr>
              <a:t>+</a:t>
            </a:r>
            <a:r>
              <a:rPr dirty="0" sz="3350" spc="-10">
                <a:latin typeface="Cambria"/>
                <a:cs typeface="Cambria"/>
              </a:rPr>
              <a:t> </a:t>
            </a:r>
            <a:r>
              <a:rPr dirty="0" sz="3350" spc="-85" i="1">
                <a:latin typeface="Times New Roman"/>
                <a:cs typeface="Times New Roman"/>
              </a:rPr>
              <a:t>β</a:t>
            </a:r>
            <a:r>
              <a:rPr dirty="0" baseline="-19675" sz="3600" spc="-127">
                <a:latin typeface="Cambria"/>
                <a:cs typeface="Cambria"/>
              </a:rPr>
              <a:t>3</a:t>
            </a:r>
            <a:r>
              <a:rPr dirty="0" sz="3350" spc="-85">
                <a:latin typeface="Cambria"/>
                <a:cs typeface="Cambria"/>
              </a:rPr>
              <a:t>(</a:t>
            </a:r>
            <a:r>
              <a:rPr dirty="0" sz="3350" spc="-85" i="1">
                <a:latin typeface="Times New Roman"/>
                <a:cs typeface="Times New Roman"/>
              </a:rPr>
              <a:t>t</a:t>
            </a:r>
            <a:r>
              <a:rPr dirty="0" sz="3350" spc="-110" i="1">
                <a:latin typeface="Times New Roman"/>
                <a:cs typeface="Times New Roman"/>
              </a:rPr>
              <a:t> </a:t>
            </a:r>
            <a:r>
              <a:rPr dirty="0" sz="3350" spc="459">
                <a:latin typeface="Cambria"/>
                <a:cs typeface="Cambria"/>
              </a:rPr>
              <a:t>−</a:t>
            </a:r>
            <a:r>
              <a:rPr dirty="0" sz="3350" spc="-15">
                <a:latin typeface="Cambria"/>
                <a:cs typeface="Cambria"/>
              </a:rPr>
              <a:t> </a:t>
            </a:r>
            <a:r>
              <a:rPr dirty="0" sz="3350">
                <a:latin typeface="Cambria"/>
                <a:cs typeface="Cambria"/>
              </a:rPr>
              <a:t>3)</a:t>
            </a:r>
            <a:r>
              <a:rPr dirty="0" baseline="-19675" sz="3600">
                <a:latin typeface="Cambria"/>
                <a:cs typeface="Cambria"/>
              </a:rPr>
              <a:t>+</a:t>
            </a:r>
            <a:r>
              <a:rPr dirty="0" baseline="-19675" sz="3600" spc="300">
                <a:latin typeface="Cambria"/>
                <a:cs typeface="Cambria"/>
              </a:rPr>
              <a:t> </a:t>
            </a:r>
            <a:r>
              <a:rPr dirty="0" sz="3350" spc="459">
                <a:latin typeface="Cambria"/>
                <a:cs typeface="Cambria"/>
              </a:rPr>
              <a:t>+</a:t>
            </a:r>
            <a:r>
              <a:rPr dirty="0" sz="3350" spc="-10">
                <a:latin typeface="Cambria"/>
                <a:cs typeface="Cambria"/>
              </a:rPr>
              <a:t> </a:t>
            </a:r>
            <a:r>
              <a:rPr dirty="0" sz="3350" spc="830">
                <a:latin typeface="Cambria"/>
                <a:cs typeface="Cambria"/>
              </a:rPr>
              <a:t>…</a:t>
            </a:r>
            <a:r>
              <a:rPr dirty="0" sz="3350" spc="-10">
                <a:latin typeface="Cambria"/>
                <a:cs typeface="Cambria"/>
              </a:rPr>
              <a:t> </a:t>
            </a:r>
            <a:r>
              <a:rPr dirty="0" sz="3350" spc="459">
                <a:latin typeface="Cambria"/>
                <a:cs typeface="Cambria"/>
              </a:rPr>
              <a:t>+</a:t>
            </a:r>
            <a:r>
              <a:rPr dirty="0" sz="3350" spc="-10">
                <a:latin typeface="Cambria"/>
                <a:cs typeface="Cambria"/>
              </a:rPr>
              <a:t> </a:t>
            </a:r>
            <a:r>
              <a:rPr dirty="0" sz="3350" i="1">
                <a:latin typeface="Times New Roman"/>
                <a:cs typeface="Times New Roman"/>
              </a:rPr>
              <a:t>β</a:t>
            </a:r>
            <a:r>
              <a:rPr dirty="0" baseline="-19675" sz="3600" i="1">
                <a:latin typeface="Times New Roman"/>
                <a:cs typeface="Times New Roman"/>
              </a:rPr>
              <a:t>n</a:t>
            </a:r>
            <a:r>
              <a:rPr dirty="0" baseline="-19675" sz="3600">
                <a:latin typeface="Cambria"/>
                <a:cs typeface="Cambria"/>
              </a:rPr>
              <a:t>−1</a:t>
            </a:r>
            <a:r>
              <a:rPr dirty="0" sz="3350">
                <a:latin typeface="Cambria"/>
                <a:cs typeface="Cambria"/>
              </a:rPr>
              <a:t>(</a:t>
            </a:r>
            <a:r>
              <a:rPr dirty="0" sz="3350" i="1">
                <a:latin typeface="Times New Roman"/>
                <a:cs typeface="Times New Roman"/>
              </a:rPr>
              <a:t>t</a:t>
            </a:r>
            <a:r>
              <a:rPr dirty="0" sz="3350" spc="-110" i="1">
                <a:latin typeface="Times New Roman"/>
                <a:cs typeface="Times New Roman"/>
              </a:rPr>
              <a:t> </a:t>
            </a:r>
            <a:r>
              <a:rPr dirty="0" sz="3350" spc="459">
                <a:latin typeface="Cambria"/>
                <a:cs typeface="Cambria"/>
              </a:rPr>
              <a:t>−</a:t>
            </a:r>
            <a:r>
              <a:rPr dirty="0" sz="3350" spc="-15">
                <a:latin typeface="Cambria"/>
                <a:cs typeface="Cambria"/>
              </a:rPr>
              <a:t> </a:t>
            </a:r>
            <a:r>
              <a:rPr dirty="0" sz="3350" i="1">
                <a:latin typeface="Times New Roman"/>
                <a:cs typeface="Times New Roman"/>
              </a:rPr>
              <a:t>n</a:t>
            </a:r>
            <a:r>
              <a:rPr dirty="0" sz="3350" spc="-110" i="1">
                <a:latin typeface="Times New Roman"/>
                <a:cs typeface="Times New Roman"/>
              </a:rPr>
              <a:t> </a:t>
            </a:r>
            <a:r>
              <a:rPr dirty="0" sz="3350" spc="459">
                <a:latin typeface="Cambria"/>
                <a:cs typeface="Cambria"/>
              </a:rPr>
              <a:t>+</a:t>
            </a:r>
            <a:r>
              <a:rPr dirty="0" sz="3350" spc="-10">
                <a:latin typeface="Cambria"/>
                <a:cs typeface="Cambria"/>
              </a:rPr>
              <a:t> </a:t>
            </a:r>
            <a:r>
              <a:rPr dirty="0" sz="3350">
                <a:latin typeface="Cambria"/>
                <a:cs typeface="Cambria"/>
              </a:rPr>
              <a:t>1)</a:t>
            </a:r>
            <a:r>
              <a:rPr dirty="0" baseline="-19675" sz="3600">
                <a:latin typeface="Cambria"/>
                <a:cs typeface="Cambria"/>
              </a:rPr>
              <a:t>+</a:t>
            </a:r>
            <a:r>
              <a:rPr dirty="0" baseline="-19675" sz="3600" spc="300">
                <a:latin typeface="Cambria"/>
                <a:cs typeface="Cambria"/>
              </a:rPr>
              <a:t> </a:t>
            </a:r>
            <a:r>
              <a:rPr dirty="0" sz="3350" spc="459">
                <a:latin typeface="Cambria"/>
                <a:cs typeface="Cambria"/>
              </a:rPr>
              <a:t>+</a:t>
            </a:r>
            <a:r>
              <a:rPr dirty="0" sz="3350" spc="-10">
                <a:latin typeface="Cambria"/>
                <a:cs typeface="Cambria"/>
              </a:rPr>
              <a:t> </a:t>
            </a:r>
            <a:r>
              <a:rPr dirty="0" sz="3350" spc="95" i="1">
                <a:latin typeface="Times New Roman"/>
                <a:cs typeface="Times New Roman"/>
              </a:rPr>
              <a:t>ϵ</a:t>
            </a:r>
            <a:endParaRPr sz="3350">
              <a:latin typeface="Times New Roman"/>
              <a:cs typeface="Times New Roman"/>
            </a:endParaRPr>
          </a:p>
          <a:p>
            <a:pPr marL="1054100" marR="586740" indent="-508000">
              <a:lnSpc>
                <a:spcPts val="4330"/>
              </a:lnSpc>
              <a:spcBef>
                <a:spcPts val="3520"/>
              </a:spcBef>
              <a:buSzPct val="122500"/>
              <a:buChar char="•"/>
              <a:tabLst>
                <a:tab pos="1054735" algn="l"/>
              </a:tabLst>
            </a:pPr>
            <a:r>
              <a:rPr dirty="0" sz="4000" spc="-120"/>
              <a:t>We</a:t>
            </a:r>
            <a:r>
              <a:rPr dirty="0" sz="4000" spc="-55"/>
              <a:t> </a:t>
            </a:r>
            <a:r>
              <a:rPr dirty="0" sz="4000" spc="55"/>
              <a:t>study</a:t>
            </a:r>
            <a:r>
              <a:rPr dirty="0" sz="4000" spc="-55"/>
              <a:t> </a:t>
            </a:r>
            <a:r>
              <a:rPr dirty="0" sz="4000"/>
              <a:t>the</a:t>
            </a:r>
            <a:r>
              <a:rPr dirty="0" sz="4000" spc="-55"/>
              <a:t> </a:t>
            </a:r>
            <a:r>
              <a:rPr dirty="0" sz="4000">
                <a:solidFill>
                  <a:srgbClr val="FF2600"/>
                </a:solidFill>
              </a:rPr>
              <a:t>Ridge</a:t>
            </a:r>
            <a:r>
              <a:rPr dirty="0" sz="4000" spc="-55">
                <a:solidFill>
                  <a:srgbClr val="FF2600"/>
                </a:solidFill>
              </a:rPr>
              <a:t> </a:t>
            </a:r>
            <a:r>
              <a:rPr dirty="0" sz="4000"/>
              <a:t>and</a:t>
            </a:r>
            <a:r>
              <a:rPr dirty="0" sz="4000" spc="-55"/>
              <a:t> </a:t>
            </a:r>
            <a:r>
              <a:rPr dirty="0" sz="4000" spc="-40">
                <a:solidFill>
                  <a:srgbClr val="FF2600"/>
                </a:solidFill>
              </a:rPr>
              <a:t>LASSO</a:t>
            </a:r>
            <a:r>
              <a:rPr dirty="0" sz="4000" spc="-50">
                <a:solidFill>
                  <a:srgbClr val="FF2600"/>
                </a:solidFill>
              </a:rPr>
              <a:t> </a:t>
            </a:r>
            <a:r>
              <a:rPr dirty="0" sz="4000" spc="-10"/>
              <a:t>regularizations </a:t>
            </a:r>
            <a:r>
              <a:rPr dirty="0" sz="4000"/>
              <a:t>for</a:t>
            </a:r>
            <a:r>
              <a:rPr dirty="0" sz="4000" spc="75"/>
              <a:t> </a:t>
            </a:r>
            <a:r>
              <a:rPr dirty="0" sz="4000" spc="50"/>
              <a:t>fitting</a:t>
            </a:r>
            <a:r>
              <a:rPr dirty="0" sz="4000" spc="75"/>
              <a:t> </a:t>
            </a:r>
            <a:r>
              <a:rPr dirty="0" sz="4000"/>
              <a:t>this</a:t>
            </a:r>
            <a:r>
              <a:rPr dirty="0" sz="4000" spc="80"/>
              <a:t> </a:t>
            </a:r>
            <a:r>
              <a:rPr dirty="0" sz="4000" spc="-10"/>
              <a:t>model</a:t>
            </a:r>
            <a:endParaRPr sz="4000"/>
          </a:p>
          <a:p>
            <a:pPr marL="1054100" marR="621665" indent="-508000">
              <a:lnSpc>
                <a:spcPts val="4330"/>
              </a:lnSpc>
              <a:spcBef>
                <a:spcPts val="3204"/>
              </a:spcBef>
              <a:buSzPct val="122500"/>
              <a:buChar char="•"/>
              <a:tabLst>
                <a:tab pos="1054735" algn="l"/>
              </a:tabLst>
            </a:pPr>
            <a:r>
              <a:rPr dirty="0" sz="4000"/>
              <a:t>This</a:t>
            </a:r>
            <a:r>
              <a:rPr dirty="0" sz="4000" spc="-45"/>
              <a:t> </a:t>
            </a:r>
            <a:r>
              <a:rPr dirty="0" sz="4000"/>
              <a:t>model</a:t>
            </a:r>
            <a:r>
              <a:rPr dirty="0" sz="4000" spc="-45"/>
              <a:t> </a:t>
            </a:r>
            <a:r>
              <a:rPr dirty="0" sz="4000"/>
              <a:t>gives</a:t>
            </a:r>
            <a:r>
              <a:rPr dirty="0" sz="4000" spc="-45"/>
              <a:t> </a:t>
            </a:r>
            <a:r>
              <a:rPr dirty="0" sz="4000"/>
              <a:t>a</a:t>
            </a:r>
            <a:r>
              <a:rPr dirty="0" sz="4000" spc="-45"/>
              <a:t> </a:t>
            </a:r>
            <a:r>
              <a:rPr dirty="0" sz="4000" spc="85"/>
              <a:t>good</a:t>
            </a:r>
            <a:r>
              <a:rPr dirty="0" sz="4000" spc="-45"/>
              <a:t> </a:t>
            </a:r>
            <a:r>
              <a:rPr dirty="0" sz="4000"/>
              <a:t>representation</a:t>
            </a:r>
            <a:r>
              <a:rPr dirty="0" sz="4000" spc="-45"/>
              <a:t> </a:t>
            </a:r>
            <a:r>
              <a:rPr dirty="0" sz="4000" spc="65"/>
              <a:t>of</a:t>
            </a:r>
            <a:r>
              <a:rPr dirty="0" sz="4000" spc="-45"/>
              <a:t> </a:t>
            </a:r>
            <a:r>
              <a:rPr dirty="0" sz="4000" spc="-25"/>
              <a:t>the </a:t>
            </a:r>
            <a:r>
              <a:rPr dirty="0" sz="4000"/>
              <a:t>trend</a:t>
            </a:r>
            <a:r>
              <a:rPr dirty="0" sz="4000" spc="15"/>
              <a:t> </a:t>
            </a:r>
            <a:r>
              <a:rPr dirty="0" sz="4000"/>
              <a:t>present</a:t>
            </a:r>
            <a:r>
              <a:rPr dirty="0" sz="4000" spc="15"/>
              <a:t> </a:t>
            </a:r>
            <a:r>
              <a:rPr dirty="0" sz="4000"/>
              <a:t>in</a:t>
            </a:r>
            <a:r>
              <a:rPr dirty="0" sz="4000" spc="20"/>
              <a:t> </a:t>
            </a:r>
            <a:r>
              <a:rPr dirty="0" sz="4000"/>
              <a:t>the</a:t>
            </a:r>
            <a:r>
              <a:rPr dirty="0" sz="4000" spc="15"/>
              <a:t> </a:t>
            </a:r>
            <a:r>
              <a:rPr dirty="0" sz="4000"/>
              <a:t>data</a:t>
            </a:r>
            <a:r>
              <a:rPr dirty="0" sz="4000" spc="15"/>
              <a:t> </a:t>
            </a:r>
            <a:r>
              <a:rPr dirty="0" sz="4000"/>
              <a:t>removing</a:t>
            </a:r>
            <a:r>
              <a:rPr dirty="0" sz="4000" spc="20"/>
              <a:t> </a:t>
            </a:r>
            <a:r>
              <a:rPr dirty="0" sz="4000"/>
              <a:t>the</a:t>
            </a:r>
            <a:r>
              <a:rPr dirty="0" sz="4000" spc="15"/>
              <a:t> </a:t>
            </a:r>
            <a:r>
              <a:rPr dirty="0" sz="4000" spc="-10"/>
              <a:t>artifacts </a:t>
            </a:r>
            <a:r>
              <a:rPr dirty="0" sz="4000" spc="65"/>
              <a:t>of</a:t>
            </a:r>
            <a:r>
              <a:rPr dirty="0" sz="4000"/>
              <a:t> </a:t>
            </a:r>
            <a:r>
              <a:rPr dirty="0" sz="4000" spc="-10"/>
              <a:t>noise</a:t>
            </a:r>
            <a:endParaRPr sz="40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815" y="2427125"/>
            <a:ext cx="11842447" cy="6945087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113181" y="651054"/>
            <a:ext cx="10471150" cy="1185545"/>
          </a:xfrm>
          <a:prstGeom prst="rect"/>
        </p:spPr>
        <p:txBody>
          <a:bodyPr wrap="square" lIns="0" tIns="80645" rIns="0" bIns="0" rtlCol="0" vert="horz">
            <a:spAutoFit/>
          </a:bodyPr>
          <a:lstStyle/>
          <a:p>
            <a:pPr marL="12700" marR="5080">
              <a:lnSpc>
                <a:spcPts val="4330"/>
              </a:lnSpc>
              <a:spcBef>
                <a:spcPts val="635"/>
              </a:spcBef>
            </a:pPr>
            <a:r>
              <a:rPr dirty="0" sz="4000" spc="-10" b="0">
                <a:latin typeface="Arial"/>
                <a:cs typeface="Arial"/>
              </a:rPr>
              <a:t>Here</a:t>
            </a:r>
            <a:r>
              <a:rPr dirty="0" sz="4000" spc="-35" b="0">
                <a:latin typeface="Arial"/>
                <a:cs typeface="Arial"/>
              </a:rPr>
              <a:t> </a:t>
            </a:r>
            <a:r>
              <a:rPr dirty="0" sz="4000" b="0">
                <a:latin typeface="Arial"/>
                <a:cs typeface="Arial"/>
              </a:rPr>
              <a:t>is</a:t>
            </a:r>
            <a:r>
              <a:rPr dirty="0" sz="4000" spc="-35" b="0">
                <a:latin typeface="Arial"/>
                <a:cs typeface="Arial"/>
              </a:rPr>
              <a:t> </a:t>
            </a:r>
            <a:r>
              <a:rPr dirty="0" sz="4000" b="0">
                <a:latin typeface="Arial"/>
                <a:cs typeface="Arial"/>
              </a:rPr>
              <a:t>this</a:t>
            </a:r>
            <a:r>
              <a:rPr dirty="0" sz="4000" spc="-35" b="0">
                <a:latin typeface="Arial"/>
                <a:cs typeface="Arial"/>
              </a:rPr>
              <a:t> </a:t>
            </a:r>
            <a:r>
              <a:rPr dirty="0" sz="4000" b="0">
                <a:latin typeface="Arial"/>
                <a:cs typeface="Arial"/>
              </a:rPr>
              <a:t>model</a:t>
            </a:r>
            <a:r>
              <a:rPr dirty="0" sz="4000" spc="-35" b="0">
                <a:latin typeface="Arial"/>
                <a:cs typeface="Arial"/>
              </a:rPr>
              <a:t> </a:t>
            </a:r>
            <a:r>
              <a:rPr dirty="0" sz="4000" b="0">
                <a:latin typeface="Arial"/>
                <a:cs typeface="Arial"/>
              </a:rPr>
              <a:t>(with</a:t>
            </a:r>
            <a:r>
              <a:rPr dirty="0" sz="4000" spc="-35" b="0">
                <a:latin typeface="Arial"/>
                <a:cs typeface="Arial"/>
              </a:rPr>
              <a:t> </a:t>
            </a:r>
            <a:r>
              <a:rPr dirty="0" sz="4000" b="0">
                <a:latin typeface="Arial"/>
                <a:cs typeface="Arial"/>
              </a:rPr>
              <a:t>Ridge</a:t>
            </a:r>
            <a:r>
              <a:rPr dirty="0" sz="4000" spc="-35" b="0">
                <a:latin typeface="Arial"/>
                <a:cs typeface="Arial"/>
              </a:rPr>
              <a:t> </a:t>
            </a:r>
            <a:r>
              <a:rPr dirty="0" sz="4000" spc="-10" b="0">
                <a:latin typeface="Arial"/>
                <a:cs typeface="Arial"/>
              </a:rPr>
              <a:t>regularization) </a:t>
            </a:r>
            <a:r>
              <a:rPr dirty="0" sz="4000" b="0">
                <a:latin typeface="Arial"/>
                <a:cs typeface="Arial"/>
              </a:rPr>
              <a:t>applied</a:t>
            </a:r>
            <a:r>
              <a:rPr dirty="0" sz="4000" spc="30" b="0">
                <a:latin typeface="Arial"/>
                <a:cs typeface="Arial"/>
              </a:rPr>
              <a:t> </a:t>
            </a:r>
            <a:r>
              <a:rPr dirty="0" sz="4000" spc="100" b="0">
                <a:latin typeface="Arial"/>
                <a:cs typeface="Arial"/>
              </a:rPr>
              <a:t>to</a:t>
            </a:r>
            <a:r>
              <a:rPr dirty="0" sz="4000" spc="30" b="0">
                <a:latin typeface="Arial"/>
                <a:cs typeface="Arial"/>
              </a:rPr>
              <a:t> </a:t>
            </a:r>
            <a:r>
              <a:rPr dirty="0" sz="4000" b="0">
                <a:latin typeface="Arial"/>
                <a:cs typeface="Arial"/>
              </a:rPr>
              <a:t>the</a:t>
            </a:r>
            <a:r>
              <a:rPr dirty="0" sz="4000" spc="35" b="0">
                <a:latin typeface="Arial"/>
                <a:cs typeface="Arial"/>
              </a:rPr>
              <a:t> </a:t>
            </a:r>
            <a:r>
              <a:rPr dirty="0" sz="4000" b="0">
                <a:latin typeface="Arial"/>
                <a:cs typeface="Arial"/>
              </a:rPr>
              <a:t>temperature</a:t>
            </a:r>
            <a:r>
              <a:rPr dirty="0" sz="4000" spc="30" b="0">
                <a:latin typeface="Arial"/>
                <a:cs typeface="Arial"/>
              </a:rPr>
              <a:t> </a:t>
            </a:r>
            <a:r>
              <a:rPr dirty="0" sz="4000" b="0">
                <a:latin typeface="Arial"/>
                <a:cs typeface="Arial"/>
              </a:rPr>
              <a:t>anomalies</a:t>
            </a:r>
            <a:r>
              <a:rPr dirty="0" sz="4000" spc="35" b="0">
                <a:latin typeface="Arial"/>
                <a:cs typeface="Arial"/>
              </a:rPr>
              <a:t> </a:t>
            </a:r>
            <a:r>
              <a:rPr dirty="0" sz="4000" spc="-10" b="0">
                <a:latin typeface="Arial"/>
                <a:cs typeface="Arial"/>
              </a:rPr>
              <a:t>dataset: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527685">
              <a:lnSpc>
                <a:spcPct val="100000"/>
              </a:lnSpc>
              <a:spcBef>
                <a:spcPts val="90"/>
              </a:spcBef>
            </a:pPr>
            <a:r>
              <a:rPr dirty="0" sz="5650" spc="-100"/>
              <a:t>Comparing</a:t>
            </a:r>
            <a:r>
              <a:rPr dirty="0" sz="5650" spc="-220"/>
              <a:t> </a:t>
            </a:r>
            <a:r>
              <a:rPr dirty="0" sz="5650" spc="-690"/>
              <a:t>T</a:t>
            </a:r>
            <a:r>
              <a:rPr dirty="0" sz="5650" spc="-265"/>
              <a:t>r</a:t>
            </a:r>
            <a:r>
              <a:rPr dirty="0" sz="5650" spc="-160"/>
              <a:t>e</a:t>
            </a:r>
            <a:r>
              <a:rPr dirty="0" sz="5650" spc="-165"/>
              <a:t>nd</a:t>
            </a:r>
            <a:r>
              <a:rPr dirty="0" sz="5650" spc="-45"/>
              <a:t>s</a:t>
            </a:r>
            <a:r>
              <a:rPr dirty="0" sz="5650" spc="-220"/>
              <a:t> </a:t>
            </a:r>
            <a:r>
              <a:rPr dirty="0" sz="5650" spc="-185"/>
              <a:t>in</a:t>
            </a:r>
            <a:r>
              <a:rPr dirty="0" sz="5650" spc="-220"/>
              <a:t> </a:t>
            </a:r>
            <a:r>
              <a:rPr dirty="0" sz="5650" spc="-700"/>
              <a:t>T</a:t>
            </a:r>
            <a:r>
              <a:rPr dirty="0" sz="5650" spc="-85"/>
              <a:t>w</a:t>
            </a:r>
            <a:r>
              <a:rPr dirty="0" sz="5650" spc="30"/>
              <a:t>o</a:t>
            </a:r>
            <a:r>
              <a:rPr dirty="0" sz="5650" spc="-220"/>
              <a:t> </a:t>
            </a:r>
            <a:r>
              <a:rPr dirty="0" sz="5650" spc="-30"/>
              <a:t>Datasets</a:t>
            </a:r>
            <a:endParaRPr sz="56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0350" y="1412734"/>
            <a:ext cx="12509500" cy="8239302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3350" y="1282700"/>
            <a:ext cx="10248900" cy="71247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942" y="2516850"/>
            <a:ext cx="10210800" cy="712248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113181" y="83922"/>
            <a:ext cx="11080750" cy="1735455"/>
          </a:xfrm>
          <a:prstGeom prst="rect"/>
        </p:spPr>
        <p:txBody>
          <a:bodyPr wrap="square" lIns="0" tIns="80645" rIns="0" bIns="0" rtlCol="0" vert="horz">
            <a:spAutoFit/>
          </a:bodyPr>
          <a:lstStyle/>
          <a:p>
            <a:pPr marL="12700" marR="5080">
              <a:lnSpc>
                <a:spcPts val="4330"/>
              </a:lnSpc>
              <a:spcBef>
                <a:spcPts val="635"/>
              </a:spcBef>
            </a:pPr>
            <a:r>
              <a:rPr dirty="0" sz="4000" b="0">
                <a:latin typeface="Arial"/>
                <a:cs typeface="Arial"/>
              </a:rPr>
              <a:t>The</a:t>
            </a:r>
            <a:r>
              <a:rPr dirty="0" sz="4000" spc="-30" b="0">
                <a:latin typeface="Arial"/>
                <a:cs typeface="Arial"/>
              </a:rPr>
              <a:t> </a:t>
            </a:r>
            <a:r>
              <a:rPr dirty="0" sz="4000" b="0">
                <a:latin typeface="Arial"/>
                <a:cs typeface="Arial"/>
              </a:rPr>
              <a:t>diﬀerences</a:t>
            </a:r>
            <a:r>
              <a:rPr dirty="0" sz="4000" spc="-25" b="0">
                <a:latin typeface="Arial"/>
                <a:cs typeface="Arial"/>
              </a:rPr>
              <a:t> </a:t>
            </a:r>
            <a:r>
              <a:rPr dirty="0" sz="4000" b="0">
                <a:latin typeface="Arial"/>
                <a:cs typeface="Arial"/>
              </a:rPr>
              <a:t>can</a:t>
            </a:r>
            <a:r>
              <a:rPr dirty="0" sz="4000" spc="-25" b="0">
                <a:latin typeface="Arial"/>
                <a:cs typeface="Arial"/>
              </a:rPr>
              <a:t> </a:t>
            </a:r>
            <a:r>
              <a:rPr dirty="0" sz="4000" b="0">
                <a:latin typeface="Arial"/>
                <a:cs typeface="Arial"/>
              </a:rPr>
              <a:t>be</a:t>
            </a:r>
            <a:r>
              <a:rPr dirty="0" sz="4000" spc="-30" b="0">
                <a:latin typeface="Arial"/>
                <a:cs typeface="Arial"/>
              </a:rPr>
              <a:t> </a:t>
            </a:r>
            <a:r>
              <a:rPr dirty="0" sz="4000" b="0">
                <a:latin typeface="Arial"/>
                <a:cs typeface="Arial"/>
              </a:rPr>
              <a:t>seen</a:t>
            </a:r>
            <a:r>
              <a:rPr dirty="0" sz="4000" spc="-25" b="0">
                <a:latin typeface="Arial"/>
                <a:cs typeface="Arial"/>
              </a:rPr>
              <a:t> </a:t>
            </a:r>
            <a:r>
              <a:rPr dirty="0" sz="4000" b="0">
                <a:latin typeface="Arial"/>
                <a:cs typeface="Arial"/>
              </a:rPr>
              <a:t>much</a:t>
            </a:r>
            <a:r>
              <a:rPr dirty="0" sz="4000" spc="-25" b="0">
                <a:latin typeface="Arial"/>
                <a:cs typeface="Arial"/>
              </a:rPr>
              <a:t> </a:t>
            </a:r>
            <a:r>
              <a:rPr dirty="0" sz="4000" b="0">
                <a:latin typeface="Arial"/>
                <a:cs typeface="Arial"/>
              </a:rPr>
              <a:t>more</a:t>
            </a:r>
            <a:r>
              <a:rPr dirty="0" sz="4000" spc="-25" b="0">
                <a:latin typeface="Arial"/>
                <a:cs typeface="Arial"/>
              </a:rPr>
              <a:t> </a:t>
            </a:r>
            <a:r>
              <a:rPr dirty="0" sz="4000" spc="-10" b="0">
                <a:latin typeface="Arial"/>
                <a:cs typeface="Arial"/>
              </a:rPr>
              <a:t>clearly</a:t>
            </a:r>
            <a:r>
              <a:rPr dirty="0" sz="4000" spc="1000" b="0">
                <a:latin typeface="Arial"/>
                <a:cs typeface="Arial"/>
              </a:rPr>
              <a:t> </a:t>
            </a:r>
            <a:r>
              <a:rPr dirty="0" sz="4000" b="0">
                <a:latin typeface="Arial"/>
                <a:cs typeface="Arial"/>
              </a:rPr>
              <a:t>if</a:t>
            </a:r>
            <a:r>
              <a:rPr dirty="0" sz="4000" spc="60" b="0">
                <a:latin typeface="Arial"/>
                <a:cs typeface="Arial"/>
              </a:rPr>
              <a:t> </a:t>
            </a:r>
            <a:r>
              <a:rPr dirty="0" sz="4000" b="0">
                <a:latin typeface="Arial"/>
                <a:cs typeface="Arial"/>
              </a:rPr>
              <a:t>we</a:t>
            </a:r>
            <a:r>
              <a:rPr dirty="0" sz="4000" spc="60" b="0">
                <a:latin typeface="Arial"/>
                <a:cs typeface="Arial"/>
              </a:rPr>
              <a:t> </a:t>
            </a:r>
            <a:r>
              <a:rPr dirty="0" sz="4000" b="0">
                <a:latin typeface="Arial"/>
                <a:cs typeface="Arial"/>
              </a:rPr>
              <a:t>use</a:t>
            </a:r>
            <a:r>
              <a:rPr dirty="0" sz="4000" spc="65" b="0">
                <a:latin typeface="Arial"/>
                <a:cs typeface="Arial"/>
              </a:rPr>
              <a:t> </a:t>
            </a:r>
            <a:r>
              <a:rPr dirty="0" sz="4000" b="0">
                <a:latin typeface="Arial"/>
                <a:cs typeface="Arial"/>
              </a:rPr>
              <a:t>this</a:t>
            </a:r>
            <a:r>
              <a:rPr dirty="0" sz="4000" spc="60" b="0">
                <a:latin typeface="Arial"/>
                <a:cs typeface="Arial"/>
              </a:rPr>
              <a:t> </a:t>
            </a:r>
            <a:r>
              <a:rPr dirty="0" sz="4000" b="0">
                <a:latin typeface="Arial"/>
                <a:cs typeface="Arial"/>
              </a:rPr>
              <a:t>high-dimensional</a:t>
            </a:r>
            <a:r>
              <a:rPr dirty="0" sz="4000" spc="60" b="0">
                <a:latin typeface="Arial"/>
                <a:cs typeface="Arial"/>
              </a:rPr>
              <a:t> </a:t>
            </a:r>
            <a:r>
              <a:rPr dirty="0" sz="4000" b="0">
                <a:latin typeface="Arial"/>
                <a:cs typeface="Arial"/>
              </a:rPr>
              <a:t>model</a:t>
            </a:r>
            <a:r>
              <a:rPr dirty="0" sz="4000" spc="65" b="0">
                <a:latin typeface="Arial"/>
                <a:cs typeface="Arial"/>
              </a:rPr>
              <a:t> </a:t>
            </a:r>
            <a:r>
              <a:rPr dirty="0" sz="4000" b="0">
                <a:latin typeface="Arial"/>
                <a:cs typeface="Arial"/>
              </a:rPr>
              <a:t>(with</a:t>
            </a:r>
            <a:r>
              <a:rPr dirty="0" sz="4000" spc="60" b="0">
                <a:latin typeface="Arial"/>
                <a:cs typeface="Arial"/>
              </a:rPr>
              <a:t> </a:t>
            </a:r>
            <a:r>
              <a:rPr dirty="0" sz="4000" spc="-10" b="0">
                <a:latin typeface="Arial"/>
                <a:cs typeface="Arial"/>
              </a:rPr>
              <a:t>ridge </a:t>
            </a:r>
            <a:r>
              <a:rPr dirty="0" sz="4000" spc="-25" b="0">
                <a:latin typeface="Arial"/>
                <a:cs typeface="Arial"/>
              </a:rPr>
              <a:t>regularization)</a:t>
            </a:r>
            <a:r>
              <a:rPr dirty="0" sz="4000" spc="-30" b="0">
                <a:latin typeface="Arial"/>
                <a:cs typeface="Arial"/>
              </a:rPr>
              <a:t> </a:t>
            </a:r>
            <a:r>
              <a:rPr dirty="0" sz="4000" spc="100" b="0">
                <a:latin typeface="Arial"/>
                <a:cs typeface="Arial"/>
              </a:rPr>
              <a:t>to</a:t>
            </a:r>
            <a:r>
              <a:rPr dirty="0" sz="4000" spc="-30" b="0">
                <a:latin typeface="Arial"/>
                <a:cs typeface="Arial"/>
              </a:rPr>
              <a:t> </a:t>
            </a:r>
            <a:r>
              <a:rPr dirty="0" sz="4000" b="0">
                <a:latin typeface="Arial"/>
                <a:cs typeface="Arial"/>
              </a:rPr>
              <a:t>estimate</a:t>
            </a:r>
            <a:r>
              <a:rPr dirty="0" sz="4000" spc="-25" b="0">
                <a:latin typeface="Arial"/>
                <a:cs typeface="Arial"/>
              </a:rPr>
              <a:t> </a:t>
            </a:r>
            <a:r>
              <a:rPr dirty="0" sz="4000" b="0">
                <a:latin typeface="Arial"/>
                <a:cs typeface="Arial"/>
              </a:rPr>
              <a:t>the</a:t>
            </a:r>
            <a:r>
              <a:rPr dirty="0" sz="4000" spc="-30" b="0">
                <a:latin typeface="Arial"/>
                <a:cs typeface="Arial"/>
              </a:rPr>
              <a:t> </a:t>
            </a:r>
            <a:r>
              <a:rPr dirty="0" sz="4000" b="0">
                <a:latin typeface="Arial"/>
                <a:cs typeface="Arial"/>
              </a:rPr>
              <a:t>underlying</a:t>
            </a:r>
            <a:r>
              <a:rPr dirty="0" sz="4000" spc="-25" b="0">
                <a:latin typeface="Arial"/>
                <a:cs typeface="Arial"/>
              </a:rPr>
              <a:t> </a:t>
            </a:r>
            <a:r>
              <a:rPr dirty="0" sz="4000" spc="-10" b="0">
                <a:latin typeface="Arial"/>
                <a:cs typeface="Arial"/>
              </a:rPr>
              <a:t>trends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/>
          <p:nvPr/>
        </p:nvSpPr>
        <p:spPr>
          <a:xfrm>
            <a:off x="736600" y="249606"/>
            <a:ext cx="10443210" cy="9309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5950" spc="-819" b="1">
                <a:latin typeface="Arial"/>
                <a:cs typeface="Arial"/>
              </a:rPr>
              <a:t>T</a:t>
            </a:r>
            <a:r>
              <a:rPr dirty="0" sz="5950" spc="-155" b="1">
                <a:latin typeface="Arial"/>
                <a:cs typeface="Arial"/>
              </a:rPr>
              <a:t>op</a:t>
            </a:r>
            <a:r>
              <a:rPr dirty="0" sz="5950" spc="-165" b="1">
                <a:latin typeface="Arial"/>
                <a:cs typeface="Arial"/>
              </a:rPr>
              <a:t>i</a:t>
            </a:r>
            <a:r>
              <a:rPr dirty="0" sz="5950" spc="-30" b="1">
                <a:latin typeface="Arial"/>
                <a:cs typeface="Arial"/>
              </a:rPr>
              <a:t>c</a:t>
            </a:r>
            <a:r>
              <a:rPr dirty="0" sz="5950" spc="-204" b="1">
                <a:latin typeface="Arial"/>
                <a:cs typeface="Arial"/>
              </a:rPr>
              <a:t> </a:t>
            </a:r>
            <a:r>
              <a:rPr dirty="0" sz="5950" spc="-225" b="1">
                <a:latin typeface="Arial"/>
                <a:cs typeface="Arial"/>
              </a:rPr>
              <a:t>Four:</a:t>
            </a:r>
            <a:r>
              <a:rPr dirty="0" sz="5950" spc="-204" b="1">
                <a:latin typeface="Arial"/>
                <a:cs typeface="Arial"/>
              </a:rPr>
              <a:t> </a:t>
            </a:r>
            <a:r>
              <a:rPr dirty="0" sz="5950" spc="-185" b="1">
                <a:latin typeface="Arial"/>
                <a:cs typeface="Arial"/>
              </a:rPr>
              <a:t>Variance</a:t>
            </a:r>
            <a:r>
              <a:rPr dirty="0" sz="5950" spc="-204" b="1">
                <a:latin typeface="Arial"/>
                <a:cs typeface="Arial"/>
              </a:rPr>
              <a:t> </a:t>
            </a:r>
            <a:r>
              <a:rPr dirty="0" sz="5950" spc="-50" b="1">
                <a:latin typeface="Arial"/>
                <a:cs typeface="Arial"/>
              </a:rPr>
              <a:t>Modeling</a:t>
            </a:r>
            <a:endParaRPr sz="59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60347" y="1607310"/>
            <a:ext cx="10662285" cy="5778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20"/>
              </a:spcBef>
            </a:pPr>
            <a:r>
              <a:rPr dirty="0" sz="3000">
                <a:latin typeface="Arial"/>
                <a:cs typeface="Arial"/>
              </a:rPr>
              <a:t>Daily</a:t>
            </a:r>
            <a:r>
              <a:rPr dirty="0" sz="3000" spc="-15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closing</a:t>
            </a:r>
            <a:r>
              <a:rPr dirty="0" sz="3000" spc="-1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prices</a:t>
            </a:r>
            <a:r>
              <a:rPr dirty="0" sz="3000" spc="-10">
                <a:latin typeface="Arial"/>
                <a:cs typeface="Arial"/>
              </a:rPr>
              <a:t> </a:t>
            </a:r>
            <a:r>
              <a:rPr dirty="0" sz="3600" i="1">
                <a:latin typeface="Times New Roman"/>
                <a:cs typeface="Times New Roman"/>
              </a:rPr>
              <a:t>P</a:t>
            </a:r>
            <a:r>
              <a:rPr dirty="0" baseline="-19607" sz="3825" i="1">
                <a:latin typeface="Times New Roman"/>
                <a:cs typeface="Times New Roman"/>
              </a:rPr>
              <a:t>t</a:t>
            </a:r>
            <a:r>
              <a:rPr dirty="0" baseline="-19607" sz="3825" spc="277" i="1">
                <a:latin typeface="Times New Roman"/>
                <a:cs typeface="Times New Roman"/>
              </a:rPr>
              <a:t> </a:t>
            </a:r>
            <a:r>
              <a:rPr dirty="0" sz="3000" spc="50">
                <a:latin typeface="Arial"/>
                <a:cs typeface="Arial"/>
              </a:rPr>
              <a:t>of</a:t>
            </a:r>
            <a:r>
              <a:rPr dirty="0" sz="3000" spc="-10">
                <a:latin typeface="Arial"/>
                <a:cs typeface="Arial"/>
              </a:rPr>
              <a:t> </a:t>
            </a:r>
            <a:r>
              <a:rPr dirty="0" sz="3000" spc="-20">
                <a:latin typeface="Arial"/>
                <a:cs typeface="Arial"/>
              </a:rPr>
              <a:t>S&amp;P</a:t>
            </a:r>
            <a:r>
              <a:rPr dirty="0" sz="3000" spc="-1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500</a:t>
            </a:r>
            <a:r>
              <a:rPr dirty="0" sz="3000" spc="-15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(2000-01-01</a:t>
            </a:r>
            <a:r>
              <a:rPr dirty="0" sz="3000" spc="-10">
                <a:latin typeface="Arial"/>
                <a:cs typeface="Arial"/>
              </a:rPr>
              <a:t> </a:t>
            </a:r>
            <a:r>
              <a:rPr dirty="0" sz="3000" spc="75">
                <a:latin typeface="Arial"/>
                <a:cs typeface="Arial"/>
              </a:rPr>
              <a:t>to</a:t>
            </a:r>
            <a:r>
              <a:rPr dirty="0" sz="3000" spc="-1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2024-01-</a:t>
            </a:r>
            <a:r>
              <a:rPr dirty="0" sz="3000" spc="-25">
                <a:latin typeface="Arial"/>
                <a:cs typeface="Arial"/>
              </a:rPr>
              <a:t>01)</a:t>
            </a:r>
            <a:endParaRPr sz="30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7800" y="2734067"/>
            <a:ext cx="12674600" cy="66421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36600" y="337155"/>
            <a:ext cx="4222115" cy="793750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5050" spc="-35"/>
              <a:t>Stock</a:t>
            </a:r>
            <a:r>
              <a:rPr dirty="0" sz="5050" spc="-315"/>
              <a:t> </a:t>
            </a:r>
            <a:r>
              <a:rPr dirty="0" sz="5050" spc="-105"/>
              <a:t>Returns</a:t>
            </a:r>
            <a:endParaRPr sz="5050"/>
          </a:p>
        </p:txBody>
      </p:sp>
      <p:sp>
        <p:nvSpPr>
          <p:cNvPr id="3" name="object 3"/>
          <p:cNvSpPr txBox="1"/>
          <p:nvPr/>
        </p:nvSpPr>
        <p:spPr>
          <a:xfrm>
            <a:off x="5363921" y="640012"/>
            <a:ext cx="170180" cy="650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100" spc="-50" i="1">
                <a:latin typeface="Times New Roman"/>
                <a:cs typeface="Times New Roman"/>
              </a:rPr>
              <a:t>t</a:t>
            </a:r>
            <a:endParaRPr sz="41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4650" y="3000573"/>
            <a:ext cx="12306300" cy="63881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78650" y="1566813"/>
            <a:ext cx="4501515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395605" algn="l"/>
                <a:tab pos="3183255" algn="l"/>
              </a:tabLst>
            </a:pPr>
            <a:r>
              <a:rPr dirty="0" sz="3400" spc="-50" i="1">
                <a:latin typeface="Times New Roman"/>
                <a:cs typeface="Times New Roman"/>
              </a:rPr>
              <a:t>r</a:t>
            </a:r>
            <a:r>
              <a:rPr dirty="0" sz="3400" i="1">
                <a:latin typeface="Times New Roman"/>
                <a:cs typeface="Times New Roman"/>
              </a:rPr>
              <a:t>	</a:t>
            </a:r>
            <a:r>
              <a:rPr dirty="0" sz="3400" spc="430">
                <a:latin typeface="Cambria"/>
                <a:cs typeface="Cambria"/>
              </a:rPr>
              <a:t>=</a:t>
            </a:r>
            <a:r>
              <a:rPr dirty="0" sz="3400" spc="210">
                <a:latin typeface="Cambria"/>
                <a:cs typeface="Cambria"/>
              </a:rPr>
              <a:t> </a:t>
            </a:r>
            <a:r>
              <a:rPr dirty="0" sz="3400" spc="-195">
                <a:latin typeface="Cambria"/>
                <a:cs typeface="Cambria"/>
              </a:rPr>
              <a:t>100</a:t>
            </a:r>
            <a:r>
              <a:rPr dirty="0" sz="3400" spc="20">
                <a:latin typeface="Cambria"/>
                <a:cs typeface="Cambria"/>
              </a:rPr>
              <a:t> </a:t>
            </a:r>
            <a:r>
              <a:rPr dirty="0" sz="3400" spc="280">
                <a:latin typeface="Cambria"/>
                <a:cs typeface="Cambria"/>
              </a:rPr>
              <a:t>×</a:t>
            </a:r>
            <a:r>
              <a:rPr dirty="0" sz="3400" spc="15">
                <a:latin typeface="Cambria"/>
                <a:cs typeface="Cambria"/>
              </a:rPr>
              <a:t> </a:t>
            </a:r>
            <a:r>
              <a:rPr dirty="0" baseline="-10620" sz="5100" spc="-37">
                <a:latin typeface="HY견고딕"/>
                <a:cs typeface="HY견고딕"/>
              </a:rPr>
              <a:t>(</a:t>
            </a:r>
            <a:r>
              <a:rPr dirty="0" sz="3400" spc="-25">
                <a:latin typeface="Cambria"/>
                <a:cs typeface="Cambria"/>
              </a:rPr>
              <a:t>log</a:t>
            </a:r>
            <a:r>
              <a:rPr dirty="0" sz="3400" spc="-175">
                <a:latin typeface="Cambria"/>
                <a:cs typeface="Cambria"/>
              </a:rPr>
              <a:t> </a:t>
            </a:r>
            <a:r>
              <a:rPr dirty="0" sz="3400" spc="-50" i="1">
                <a:latin typeface="Times New Roman"/>
                <a:cs typeface="Times New Roman"/>
              </a:rPr>
              <a:t>P</a:t>
            </a:r>
            <a:r>
              <a:rPr dirty="0" sz="3400" i="1">
                <a:latin typeface="Times New Roman"/>
                <a:cs typeface="Times New Roman"/>
              </a:rPr>
              <a:t>	</a:t>
            </a:r>
            <a:r>
              <a:rPr dirty="0" sz="3400" spc="430">
                <a:latin typeface="Cambria"/>
                <a:cs typeface="Cambria"/>
              </a:rPr>
              <a:t>−</a:t>
            </a:r>
            <a:r>
              <a:rPr dirty="0" sz="3400" spc="15">
                <a:latin typeface="Cambria"/>
                <a:cs typeface="Cambria"/>
              </a:rPr>
              <a:t> </a:t>
            </a:r>
            <a:r>
              <a:rPr dirty="0" sz="3400" spc="-35">
                <a:latin typeface="Cambria"/>
                <a:cs typeface="Cambria"/>
              </a:rPr>
              <a:t>log</a:t>
            </a:r>
            <a:r>
              <a:rPr dirty="0" sz="3400" spc="-175">
                <a:latin typeface="Cambria"/>
                <a:cs typeface="Cambria"/>
              </a:rPr>
              <a:t> </a:t>
            </a:r>
            <a:r>
              <a:rPr dirty="0" sz="3400" spc="-50" i="1">
                <a:latin typeface="Times New Roman"/>
                <a:cs typeface="Times New Roman"/>
              </a:rPr>
              <a:t>P</a:t>
            </a:r>
            <a:endParaRPr sz="3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56849" y="1799985"/>
            <a:ext cx="4731385" cy="3937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2823845" algn="l"/>
                <a:tab pos="4269105" algn="l"/>
              </a:tabLst>
            </a:pPr>
            <a:r>
              <a:rPr dirty="0" sz="2400" spc="-50" i="1">
                <a:latin typeface="Times New Roman"/>
                <a:cs typeface="Times New Roman"/>
              </a:rPr>
              <a:t>t</a:t>
            </a:r>
            <a:r>
              <a:rPr dirty="0" sz="2400" i="1">
                <a:latin typeface="Times New Roman"/>
                <a:cs typeface="Times New Roman"/>
              </a:rPr>
              <a:t>	</a:t>
            </a:r>
            <a:r>
              <a:rPr dirty="0" sz="2400" spc="-50" i="1">
                <a:latin typeface="Times New Roman"/>
                <a:cs typeface="Times New Roman"/>
              </a:rPr>
              <a:t>t</a:t>
            </a:r>
            <a:r>
              <a:rPr dirty="0" sz="2400" i="1">
                <a:latin typeface="Times New Roman"/>
                <a:cs typeface="Times New Roman"/>
              </a:rPr>
              <a:t>	</a:t>
            </a:r>
            <a:r>
              <a:rPr dirty="0" sz="2400" spc="40" i="1">
                <a:latin typeface="Times New Roman"/>
                <a:cs typeface="Times New Roman"/>
              </a:rPr>
              <a:t>t</a:t>
            </a:r>
            <a:r>
              <a:rPr dirty="0" sz="2400" spc="40">
                <a:latin typeface="Cambria"/>
                <a:cs typeface="Cambria"/>
              </a:rPr>
              <a:t>−1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62461" y="1652309"/>
            <a:ext cx="227965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400" spc="-50">
                <a:latin typeface="HY견고딕"/>
                <a:cs typeface="HY견고딕"/>
              </a:rPr>
              <a:t>)</a:t>
            </a:r>
            <a:endParaRPr sz="3400">
              <a:latin typeface="HY견고딕"/>
              <a:cs typeface="HY견고딕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791096" y="1777576"/>
            <a:ext cx="113664" cy="4044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450" spc="-50" i="1">
                <a:latin typeface="Times New Roman"/>
                <a:cs typeface="Times New Roman"/>
              </a:rPr>
              <a:t>t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555447" y="1537546"/>
            <a:ext cx="2950845" cy="558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59230" algn="l"/>
              </a:tabLst>
            </a:pPr>
            <a:r>
              <a:rPr dirty="0" sz="3500">
                <a:latin typeface="Arial"/>
                <a:cs typeface="Arial"/>
              </a:rPr>
              <a:t>Note</a:t>
            </a:r>
            <a:r>
              <a:rPr dirty="0" sz="3500" spc="70">
                <a:latin typeface="Arial"/>
                <a:cs typeface="Arial"/>
              </a:rPr>
              <a:t> </a:t>
            </a:r>
            <a:r>
              <a:rPr dirty="0" sz="3500" spc="-50" i="1">
                <a:latin typeface="Times New Roman"/>
                <a:cs typeface="Times New Roman"/>
              </a:rPr>
              <a:t>r</a:t>
            </a:r>
            <a:r>
              <a:rPr dirty="0" sz="3500" i="1">
                <a:latin typeface="Times New Roman"/>
                <a:cs typeface="Times New Roman"/>
              </a:rPr>
              <a:t>	</a:t>
            </a:r>
            <a:r>
              <a:rPr dirty="0" sz="3500" spc="445">
                <a:latin typeface="Cambria"/>
                <a:cs typeface="Cambria"/>
              </a:rPr>
              <a:t>≈</a:t>
            </a:r>
            <a:r>
              <a:rPr dirty="0" sz="3500" spc="210">
                <a:latin typeface="Cambria"/>
                <a:cs typeface="Cambria"/>
              </a:rPr>
              <a:t> </a:t>
            </a:r>
            <a:r>
              <a:rPr dirty="0" sz="3500" spc="-200">
                <a:latin typeface="Cambria"/>
                <a:cs typeface="Cambria"/>
              </a:rPr>
              <a:t>100</a:t>
            </a:r>
            <a:r>
              <a:rPr dirty="0" sz="3500" spc="10">
                <a:latin typeface="Cambria"/>
                <a:cs typeface="Cambria"/>
              </a:rPr>
              <a:t> </a:t>
            </a:r>
            <a:r>
              <a:rPr dirty="0" sz="3500" spc="240">
                <a:latin typeface="Cambria"/>
                <a:cs typeface="Cambria"/>
              </a:rPr>
              <a:t>×</a:t>
            </a:r>
            <a:endParaRPr sz="35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879466" y="1447841"/>
            <a:ext cx="113664" cy="4044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450" spc="-50" i="1">
                <a:latin typeface="Times New Roman"/>
                <a:cs typeface="Times New Roman"/>
              </a:rPr>
              <a:t>t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623495" y="1207811"/>
            <a:ext cx="1130300" cy="558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4659" algn="l"/>
              </a:tabLst>
            </a:pPr>
            <a:r>
              <a:rPr dirty="0" sz="3500" spc="-50" i="1">
                <a:latin typeface="Times New Roman"/>
                <a:cs typeface="Times New Roman"/>
              </a:rPr>
              <a:t>P</a:t>
            </a:r>
            <a:r>
              <a:rPr dirty="0" sz="3500" i="1">
                <a:latin typeface="Times New Roman"/>
                <a:cs typeface="Times New Roman"/>
              </a:rPr>
              <a:t>	</a:t>
            </a:r>
            <a:r>
              <a:rPr dirty="0" sz="3500" spc="445">
                <a:latin typeface="Cambria"/>
                <a:cs typeface="Cambria"/>
              </a:rPr>
              <a:t>−</a:t>
            </a:r>
            <a:r>
              <a:rPr dirty="0" sz="3500" spc="5">
                <a:latin typeface="Cambria"/>
                <a:cs typeface="Cambria"/>
              </a:rPr>
              <a:t> </a:t>
            </a:r>
            <a:r>
              <a:rPr dirty="0" sz="3500" spc="-50" i="1">
                <a:latin typeface="Times New Roman"/>
                <a:cs typeface="Times New Roman"/>
              </a:rPr>
              <a:t>P</a:t>
            </a:r>
            <a:endParaRPr sz="35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725212" y="1447841"/>
            <a:ext cx="487680" cy="4044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450" spc="45" i="1">
                <a:latin typeface="Times New Roman"/>
                <a:cs typeface="Times New Roman"/>
              </a:rPr>
              <a:t>t</a:t>
            </a:r>
            <a:r>
              <a:rPr dirty="0" sz="2450" spc="45">
                <a:latin typeface="Cambria"/>
                <a:cs typeface="Cambria"/>
              </a:rPr>
              <a:t>−1</a:t>
            </a:r>
            <a:endParaRPr sz="2450">
              <a:latin typeface="Cambria"/>
              <a:cs typeface="Cambri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0591744" y="1867618"/>
            <a:ext cx="1652905" cy="29845"/>
          </a:xfrm>
          <a:custGeom>
            <a:avLst/>
            <a:gdLst/>
            <a:ahLst/>
            <a:cxnLst/>
            <a:rect l="l" t="t" r="r" b="b"/>
            <a:pathLst>
              <a:path w="1652904" h="29844">
                <a:moveTo>
                  <a:pt x="1652332" y="0"/>
                </a:moveTo>
                <a:lnTo>
                  <a:pt x="0" y="0"/>
                </a:lnTo>
                <a:lnTo>
                  <a:pt x="0" y="29336"/>
                </a:lnTo>
                <a:lnTo>
                  <a:pt x="1652332" y="29336"/>
                </a:lnTo>
                <a:lnTo>
                  <a:pt x="16523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1020029" y="1968711"/>
            <a:ext cx="796290" cy="558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11904" sz="5250" spc="-30" i="1">
                <a:latin typeface="Times New Roman"/>
                <a:cs typeface="Times New Roman"/>
              </a:rPr>
              <a:t>P</a:t>
            </a:r>
            <a:r>
              <a:rPr dirty="0" sz="2450" spc="-20" i="1">
                <a:latin typeface="Times New Roman"/>
                <a:cs typeface="Times New Roman"/>
              </a:rPr>
              <a:t>t</a:t>
            </a:r>
            <a:r>
              <a:rPr dirty="0" sz="2450" spc="-20">
                <a:latin typeface="Cambria"/>
                <a:cs typeface="Cambria"/>
              </a:rPr>
              <a:t>−1</a:t>
            </a:r>
            <a:endParaRPr sz="24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1657" y="2090172"/>
            <a:ext cx="10480040" cy="2165350"/>
          </a:xfrm>
          <a:prstGeom prst="rect">
            <a:avLst/>
          </a:prstGeom>
        </p:spPr>
        <p:txBody>
          <a:bodyPr wrap="square" lIns="0" tIns="80645" rIns="0" bIns="0" rtlCol="0" vert="horz">
            <a:spAutoFit/>
          </a:bodyPr>
          <a:lstStyle/>
          <a:p>
            <a:pPr marL="520700" marR="43815" indent="-508000">
              <a:lnSpc>
                <a:spcPts val="4330"/>
              </a:lnSpc>
              <a:spcBef>
                <a:spcPts val="635"/>
              </a:spcBef>
              <a:buSzPct val="122500"/>
              <a:buChar char="•"/>
              <a:tabLst>
                <a:tab pos="520700" algn="l"/>
              </a:tabLst>
            </a:pPr>
            <a:r>
              <a:rPr dirty="0" sz="4000">
                <a:latin typeface="Arial"/>
                <a:cs typeface="Arial"/>
              </a:rPr>
              <a:t>Financial</a:t>
            </a:r>
            <a:r>
              <a:rPr dirty="0" sz="4000" spc="-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analysts</a:t>
            </a:r>
            <a:r>
              <a:rPr dirty="0" sz="4000" spc="-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also</a:t>
            </a:r>
            <a:r>
              <a:rPr dirty="0" sz="4000" spc="-5">
                <a:latin typeface="Arial"/>
                <a:cs typeface="Arial"/>
              </a:rPr>
              <a:t> </a:t>
            </a:r>
            <a:r>
              <a:rPr dirty="0" sz="4000" spc="55">
                <a:latin typeface="Arial"/>
                <a:cs typeface="Arial"/>
              </a:rPr>
              <a:t>study</a:t>
            </a:r>
            <a:r>
              <a:rPr dirty="0" sz="4000" spc="-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the</a:t>
            </a:r>
            <a:r>
              <a:rPr dirty="0" sz="4000" spc="-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volatility</a:t>
            </a:r>
            <a:r>
              <a:rPr dirty="0" sz="4000" spc="-5">
                <a:latin typeface="Arial"/>
                <a:cs typeface="Arial"/>
              </a:rPr>
              <a:t> </a:t>
            </a:r>
            <a:r>
              <a:rPr dirty="0" sz="4000" spc="40">
                <a:latin typeface="Arial"/>
                <a:cs typeface="Arial"/>
              </a:rPr>
              <a:t>of </a:t>
            </a:r>
            <a:r>
              <a:rPr dirty="0" sz="4000" spc="70">
                <a:latin typeface="Arial"/>
                <a:cs typeface="Arial"/>
              </a:rPr>
              <a:t>stock</a:t>
            </a:r>
            <a:r>
              <a:rPr dirty="0" sz="4000" spc="9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price</a:t>
            </a:r>
            <a:r>
              <a:rPr dirty="0" sz="4000" spc="100">
                <a:latin typeface="Arial"/>
                <a:cs typeface="Arial"/>
              </a:rPr>
              <a:t> </a:t>
            </a:r>
            <a:r>
              <a:rPr dirty="0" sz="4000" spc="-10">
                <a:latin typeface="Arial"/>
                <a:cs typeface="Arial"/>
              </a:rPr>
              <a:t>returns</a:t>
            </a:r>
            <a:endParaRPr sz="4000">
              <a:latin typeface="Arial"/>
              <a:cs typeface="Arial"/>
            </a:endParaRPr>
          </a:p>
          <a:p>
            <a:pPr marL="520065" indent="-507365">
              <a:lnSpc>
                <a:spcPct val="100000"/>
              </a:lnSpc>
              <a:spcBef>
                <a:spcPts val="2665"/>
              </a:spcBef>
              <a:buSzPct val="122500"/>
              <a:buChar char="•"/>
              <a:tabLst>
                <a:tab pos="520065" algn="l"/>
              </a:tabLst>
            </a:pPr>
            <a:r>
              <a:rPr dirty="0" sz="4000">
                <a:latin typeface="Arial"/>
                <a:cs typeface="Arial"/>
              </a:rPr>
              <a:t>For estimating volatility, </a:t>
            </a:r>
            <a:r>
              <a:rPr dirty="0" sz="4000" spc="70">
                <a:latin typeface="Arial"/>
                <a:cs typeface="Arial"/>
              </a:rPr>
              <a:t>it</a:t>
            </a:r>
            <a:r>
              <a:rPr dirty="0" sz="4000">
                <a:latin typeface="Arial"/>
                <a:cs typeface="Arial"/>
              </a:rPr>
              <a:t> is </a:t>
            </a:r>
            <a:r>
              <a:rPr dirty="0" sz="4000" spc="50">
                <a:latin typeface="Arial"/>
                <a:cs typeface="Arial"/>
              </a:rPr>
              <a:t>common</a:t>
            </a:r>
            <a:r>
              <a:rPr dirty="0" sz="4000">
                <a:latin typeface="Arial"/>
                <a:cs typeface="Arial"/>
              </a:rPr>
              <a:t> </a:t>
            </a:r>
            <a:r>
              <a:rPr dirty="0" sz="4000" spc="100">
                <a:latin typeface="Arial"/>
                <a:cs typeface="Arial"/>
              </a:rPr>
              <a:t>to</a:t>
            </a:r>
            <a:r>
              <a:rPr dirty="0" sz="4000">
                <a:latin typeface="Arial"/>
                <a:cs typeface="Arial"/>
              </a:rPr>
              <a:t> </a:t>
            </a:r>
            <a:r>
              <a:rPr dirty="0" sz="4000" spc="-25">
                <a:latin typeface="Arial"/>
                <a:cs typeface="Arial"/>
              </a:rPr>
              <a:t>use</a:t>
            </a:r>
            <a:endParaRPr sz="4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81657" y="4738276"/>
            <a:ext cx="10843895" cy="2898140"/>
          </a:xfrm>
          <a:prstGeom prst="rect">
            <a:avLst/>
          </a:prstGeom>
        </p:spPr>
        <p:txBody>
          <a:bodyPr wrap="square" lIns="0" tIns="208279" rIns="0" bIns="0" rtlCol="0" vert="horz">
            <a:spAutoFit/>
          </a:bodyPr>
          <a:lstStyle/>
          <a:p>
            <a:pPr marL="520700">
              <a:lnSpc>
                <a:spcPct val="100000"/>
              </a:lnSpc>
              <a:spcBef>
                <a:spcPts val="1639"/>
              </a:spcBef>
            </a:pPr>
            <a:r>
              <a:rPr dirty="0" sz="4000">
                <a:latin typeface="Arial"/>
                <a:cs typeface="Arial"/>
              </a:rPr>
              <a:t>(which</a:t>
            </a:r>
            <a:r>
              <a:rPr dirty="0" sz="4000" spc="-3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is</a:t>
            </a:r>
            <a:r>
              <a:rPr dirty="0" sz="4000" spc="-3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a</a:t>
            </a:r>
            <a:r>
              <a:rPr dirty="0" sz="4000" spc="-3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proxy</a:t>
            </a:r>
            <a:r>
              <a:rPr dirty="0" sz="4000" spc="-3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for</a:t>
            </a:r>
            <a:r>
              <a:rPr dirty="0" sz="4000" spc="-3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volatility)</a:t>
            </a:r>
            <a:r>
              <a:rPr dirty="0" sz="4000" spc="-3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as</a:t>
            </a:r>
            <a:r>
              <a:rPr dirty="0" sz="4000" spc="-2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a</a:t>
            </a:r>
            <a:r>
              <a:rPr dirty="0" sz="4000" spc="-30">
                <a:latin typeface="Arial"/>
                <a:cs typeface="Arial"/>
              </a:rPr>
              <a:t> </a:t>
            </a:r>
            <a:r>
              <a:rPr dirty="0" sz="4000" spc="50">
                <a:latin typeface="Arial"/>
                <a:cs typeface="Arial"/>
              </a:rPr>
              <a:t>function</a:t>
            </a:r>
            <a:r>
              <a:rPr dirty="0" sz="4000" spc="-30">
                <a:latin typeface="Arial"/>
                <a:cs typeface="Arial"/>
              </a:rPr>
              <a:t> </a:t>
            </a:r>
            <a:r>
              <a:rPr dirty="0" sz="4000" spc="40">
                <a:latin typeface="Arial"/>
                <a:cs typeface="Arial"/>
              </a:rPr>
              <a:t>of</a:t>
            </a:r>
            <a:endParaRPr sz="4000">
              <a:latin typeface="Arial"/>
              <a:cs typeface="Arial"/>
            </a:endParaRPr>
          </a:p>
          <a:p>
            <a:pPr marL="520700" marR="86995" indent="-508000">
              <a:lnSpc>
                <a:spcPts val="4330"/>
              </a:lnSpc>
              <a:spcBef>
                <a:spcPts val="3350"/>
              </a:spcBef>
              <a:buSzPct val="122500"/>
              <a:buChar char="•"/>
              <a:tabLst>
                <a:tab pos="520700" algn="l"/>
              </a:tabLst>
            </a:pPr>
            <a:r>
              <a:rPr dirty="0" sz="4000" spc="-20">
                <a:latin typeface="Arial"/>
                <a:cs typeface="Arial"/>
              </a:rPr>
              <a:t>These</a:t>
            </a:r>
            <a:r>
              <a:rPr dirty="0" sz="4000" spc="-9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are</a:t>
            </a:r>
            <a:r>
              <a:rPr dirty="0" sz="4000" spc="-8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examples</a:t>
            </a:r>
            <a:r>
              <a:rPr dirty="0" sz="4000" spc="-90">
                <a:latin typeface="Arial"/>
                <a:cs typeface="Arial"/>
              </a:rPr>
              <a:t> </a:t>
            </a:r>
            <a:r>
              <a:rPr dirty="0" sz="4000" spc="65">
                <a:latin typeface="Arial"/>
                <a:cs typeface="Arial"/>
              </a:rPr>
              <a:t>of</a:t>
            </a:r>
            <a:r>
              <a:rPr dirty="0" sz="4000" spc="-8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variance</a:t>
            </a:r>
            <a:r>
              <a:rPr dirty="0" sz="4000" spc="-9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models</a:t>
            </a:r>
            <a:r>
              <a:rPr dirty="0" sz="4000" spc="-85">
                <a:latin typeface="Arial"/>
                <a:cs typeface="Arial"/>
              </a:rPr>
              <a:t> </a:t>
            </a:r>
            <a:r>
              <a:rPr dirty="0" sz="4000" spc="-25">
                <a:latin typeface="Arial"/>
                <a:cs typeface="Arial"/>
              </a:rPr>
              <a:t>as </a:t>
            </a:r>
            <a:r>
              <a:rPr dirty="0" sz="4000" spc="65">
                <a:latin typeface="Arial"/>
                <a:cs typeface="Arial"/>
              </a:rPr>
              <a:t>opposed</a:t>
            </a:r>
            <a:r>
              <a:rPr dirty="0" sz="4000" spc="-20">
                <a:latin typeface="Arial"/>
                <a:cs typeface="Arial"/>
              </a:rPr>
              <a:t> </a:t>
            </a:r>
            <a:r>
              <a:rPr dirty="0" sz="4000" spc="100">
                <a:latin typeface="Arial"/>
                <a:cs typeface="Arial"/>
              </a:rPr>
              <a:t>to</a:t>
            </a:r>
            <a:r>
              <a:rPr dirty="0" sz="4000" spc="-2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the</a:t>
            </a:r>
            <a:r>
              <a:rPr dirty="0" sz="4000" spc="-1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mean</a:t>
            </a:r>
            <a:r>
              <a:rPr dirty="0" sz="4000" spc="-20">
                <a:latin typeface="Arial"/>
                <a:cs typeface="Arial"/>
              </a:rPr>
              <a:t> </a:t>
            </a:r>
            <a:r>
              <a:rPr dirty="0" sz="4000" spc="-60">
                <a:latin typeface="Arial"/>
                <a:cs typeface="Arial"/>
              </a:rPr>
              <a:t>(regression)</a:t>
            </a:r>
            <a:r>
              <a:rPr dirty="0" sz="4000" spc="-1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models</a:t>
            </a:r>
            <a:r>
              <a:rPr dirty="0" sz="4000" spc="-20">
                <a:latin typeface="Arial"/>
                <a:cs typeface="Arial"/>
              </a:rPr>
              <a:t> </a:t>
            </a:r>
            <a:r>
              <a:rPr dirty="0" sz="4000" spc="-25">
                <a:latin typeface="Arial"/>
                <a:cs typeface="Arial"/>
              </a:rPr>
              <a:t>we </a:t>
            </a:r>
            <a:r>
              <a:rPr dirty="0" sz="4000">
                <a:latin typeface="Arial"/>
                <a:cs typeface="Arial"/>
              </a:rPr>
              <a:t>saw</a:t>
            </a:r>
            <a:r>
              <a:rPr dirty="0" sz="4000" spc="2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so</a:t>
            </a:r>
            <a:r>
              <a:rPr dirty="0" sz="4000" spc="20">
                <a:latin typeface="Arial"/>
                <a:cs typeface="Arial"/>
              </a:rPr>
              <a:t> </a:t>
            </a:r>
            <a:r>
              <a:rPr dirty="0" sz="4000" spc="-25">
                <a:latin typeface="Arial"/>
                <a:cs typeface="Arial"/>
              </a:rPr>
              <a:t>far</a:t>
            </a:r>
            <a:endParaRPr sz="4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51200" y="4089037"/>
            <a:ext cx="243840" cy="5486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400" spc="-125">
                <a:latin typeface="Cambria"/>
                <a:cs typeface="Cambria"/>
              </a:rPr>
              <a:t>2</a:t>
            </a:r>
            <a:endParaRPr sz="34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89658" y="4138129"/>
            <a:ext cx="9791700" cy="7620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3071495" algn="l"/>
                <a:tab pos="5291455" algn="l"/>
              </a:tabLst>
            </a:pPr>
            <a:r>
              <a:rPr dirty="0" sz="4000">
                <a:latin typeface="Arial"/>
                <a:cs typeface="Arial"/>
              </a:rPr>
              <a:t>the</a:t>
            </a:r>
            <a:r>
              <a:rPr dirty="0" sz="4000" spc="8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model:</a:t>
            </a:r>
            <a:r>
              <a:rPr dirty="0" sz="4000" spc="90">
                <a:latin typeface="Arial"/>
                <a:cs typeface="Arial"/>
              </a:rPr>
              <a:t> </a:t>
            </a:r>
            <a:r>
              <a:rPr dirty="0" sz="4800" spc="-50" i="1">
                <a:latin typeface="Times New Roman"/>
                <a:cs typeface="Times New Roman"/>
              </a:rPr>
              <a:t>r</a:t>
            </a:r>
            <a:r>
              <a:rPr dirty="0" sz="4800" i="1">
                <a:latin typeface="Times New Roman"/>
                <a:cs typeface="Times New Roman"/>
              </a:rPr>
              <a:t>	</a:t>
            </a:r>
            <a:r>
              <a:rPr dirty="0" sz="4800">
                <a:latin typeface="Cambria"/>
                <a:cs typeface="Cambria"/>
              </a:rPr>
              <a:t>∼</a:t>
            </a:r>
            <a:r>
              <a:rPr dirty="0" sz="4800" spc="145">
                <a:latin typeface="Cambria"/>
                <a:cs typeface="Cambria"/>
              </a:rPr>
              <a:t> </a:t>
            </a:r>
            <a:r>
              <a:rPr dirty="0" sz="4800" spc="-10" i="1">
                <a:latin typeface="Times New Roman"/>
                <a:cs typeface="Times New Roman"/>
              </a:rPr>
              <a:t>N</a:t>
            </a:r>
            <a:r>
              <a:rPr dirty="0" sz="4800" spc="-10">
                <a:latin typeface="Cambria"/>
                <a:cs typeface="Cambria"/>
              </a:rPr>
              <a:t>(0,</a:t>
            </a:r>
            <a:r>
              <a:rPr dirty="0" sz="4800" spc="-10" i="1">
                <a:latin typeface="Times New Roman"/>
                <a:cs typeface="Times New Roman"/>
              </a:rPr>
              <a:t>σ</a:t>
            </a:r>
            <a:r>
              <a:rPr dirty="0" sz="4800" i="1">
                <a:latin typeface="Times New Roman"/>
                <a:cs typeface="Times New Roman"/>
              </a:rPr>
              <a:t>	</a:t>
            </a:r>
            <a:r>
              <a:rPr dirty="0" sz="4800">
                <a:latin typeface="Cambria"/>
                <a:cs typeface="Cambria"/>
              </a:rPr>
              <a:t>)</a:t>
            </a:r>
            <a:r>
              <a:rPr dirty="0" sz="4800" spc="10">
                <a:latin typeface="Cambria"/>
                <a:cs typeface="Cambria"/>
              </a:rPr>
              <a:t> </a:t>
            </a:r>
            <a:r>
              <a:rPr dirty="0" sz="4000">
                <a:latin typeface="Arial"/>
                <a:cs typeface="Arial"/>
              </a:rPr>
              <a:t>and</a:t>
            </a:r>
            <a:r>
              <a:rPr dirty="0" sz="4000" spc="-4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then</a:t>
            </a:r>
            <a:r>
              <a:rPr dirty="0" sz="4000" spc="-40">
                <a:latin typeface="Arial"/>
                <a:cs typeface="Arial"/>
              </a:rPr>
              <a:t> </a:t>
            </a:r>
            <a:r>
              <a:rPr dirty="0" sz="4000" spc="100">
                <a:latin typeface="Arial"/>
                <a:cs typeface="Arial"/>
              </a:rPr>
              <a:t>to</a:t>
            </a:r>
            <a:r>
              <a:rPr dirty="0" sz="4000" spc="-45">
                <a:latin typeface="Arial"/>
                <a:cs typeface="Arial"/>
              </a:rPr>
              <a:t> </a:t>
            </a:r>
            <a:r>
              <a:rPr dirty="0" sz="4000" spc="-10">
                <a:latin typeface="Arial"/>
                <a:cs typeface="Arial"/>
              </a:rPr>
              <a:t>model</a:t>
            </a:r>
            <a:endParaRPr sz="4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57470" y="4469491"/>
            <a:ext cx="7570470" cy="5486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252345" algn="l"/>
                <a:tab pos="7435850" algn="l"/>
              </a:tabLst>
            </a:pPr>
            <a:r>
              <a:rPr dirty="0" sz="3400" spc="-50" i="1">
                <a:latin typeface="Times New Roman"/>
                <a:cs typeface="Times New Roman"/>
              </a:rPr>
              <a:t>t</a:t>
            </a:r>
            <a:r>
              <a:rPr dirty="0" sz="3400" i="1">
                <a:latin typeface="Times New Roman"/>
                <a:cs typeface="Times New Roman"/>
              </a:rPr>
              <a:t>	</a:t>
            </a:r>
            <a:r>
              <a:rPr dirty="0" sz="3400" spc="-50" i="1">
                <a:latin typeface="Times New Roman"/>
                <a:cs typeface="Times New Roman"/>
              </a:rPr>
              <a:t>t</a:t>
            </a:r>
            <a:r>
              <a:rPr dirty="0" sz="3400" i="1">
                <a:latin typeface="Times New Roman"/>
                <a:cs typeface="Times New Roman"/>
              </a:rPr>
              <a:t>	</a:t>
            </a:r>
            <a:r>
              <a:rPr dirty="0" sz="3400" spc="-50" i="1">
                <a:latin typeface="Times New Roman"/>
                <a:cs typeface="Times New Roman"/>
              </a:rPr>
              <a:t>t</a:t>
            </a:r>
            <a:endParaRPr sz="3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61288" rIns="0" bIns="0" rtlCol="0" vert="horz">
            <a:spAutoFit/>
          </a:bodyPr>
          <a:lstStyle/>
          <a:p>
            <a:pPr marL="255270">
              <a:lnSpc>
                <a:spcPct val="100000"/>
              </a:lnSpc>
              <a:spcBef>
                <a:spcPts val="95"/>
              </a:spcBef>
            </a:pPr>
            <a:r>
              <a:rPr dirty="0" sz="3600" b="0">
                <a:latin typeface="Arial"/>
                <a:cs typeface="Arial"/>
              </a:rPr>
              <a:t>For</a:t>
            </a:r>
            <a:r>
              <a:rPr dirty="0" sz="3600" spc="5" b="0">
                <a:latin typeface="Arial"/>
                <a:cs typeface="Arial"/>
              </a:rPr>
              <a:t> </a:t>
            </a:r>
            <a:r>
              <a:rPr dirty="0" sz="3600" b="0">
                <a:latin typeface="Arial"/>
                <a:cs typeface="Arial"/>
              </a:rPr>
              <a:t>the</a:t>
            </a:r>
            <a:r>
              <a:rPr dirty="0" sz="3600" spc="5" b="0">
                <a:latin typeface="Arial"/>
                <a:cs typeface="Arial"/>
              </a:rPr>
              <a:t> </a:t>
            </a:r>
            <a:r>
              <a:rPr dirty="0" sz="3600" spc="-20" b="0">
                <a:latin typeface="Arial"/>
                <a:cs typeface="Arial"/>
              </a:rPr>
              <a:t>S&amp;P</a:t>
            </a:r>
            <a:r>
              <a:rPr dirty="0" sz="3600" spc="10" b="0">
                <a:latin typeface="Arial"/>
                <a:cs typeface="Arial"/>
              </a:rPr>
              <a:t> </a:t>
            </a:r>
            <a:r>
              <a:rPr dirty="0" sz="3600" b="0">
                <a:latin typeface="Arial"/>
                <a:cs typeface="Arial"/>
              </a:rPr>
              <a:t>returns</a:t>
            </a:r>
            <a:r>
              <a:rPr dirty="0" sz="3600" spc="5" b="0">
                <a:latin typeface="Arial"/>
                <a:cs typeface="Arial"/>
              </a:rPr>
              <a:t> </a:t>
            </a:r>
            <a:r>
              <a:rPr dirty="0" sz="3600" b="0">
                <a:latin typeface="Arial"/>
                <a:cs typeface="Arial"/>
              </a:rPr>
              <a:t>data,</a:t>
            </a:r>
            <a:r>
              <a:rPr dirty="0" sz="3600" spc="10" b="0">
                <a:latin typeface="Arial"/>
                <a:cs typeface="Arial"/>
              </a:rPr>
              <a:t> </a:t>
            </a:r>
            <a:r>
              <a:rPr dirty="0" sz="3600" b="0">
                <a:latin typeface="Arial"/>
                <a:cs typeface="Arial"/>
              </a:rPr>
              <a:t>below</a:t>
            </a:r>
            <a:r>
              <a:rPr dirty="0" sz="3600" spc="5" b="0">
                <a:latin typeface="Arial"/>
                <a:cs typeface="Arial"/>
              </a:rPr>
              <a:t> </a:t>
            </a:r>
            <a:r>
              <a:rPr dirty="0" sz="3600" b="0">
                <a:latin typeface="Arial"/>
                <a:cs typeface="Arial"/>
              </a:rPr>
              <a:t>is</a:t>
            </a:r>
            <a:r>
              <a:rPr dirty="0" sz="3600" spc="10" b="0">
                <a:latin typeface="Arial"/>
                <a:cs typeface="Arial"/>
              </a:rPr>
              <a:t> </a:t>
            </a:r>
            <a:r>
              <a:rPr dirty="0" sz="3600" b="0">
                <a:latin typeface="Arial"/>
                <a:cs typeface="Arial"/>
              </a:rPr>
              <a:t>an</a:t>
            </a:r>
            <a:r>
              <a:rPr dirty="0" sz="3600" spc="5" b="0">
                <a:latin typeface="Arial"/>
                <a:cs typeface="Arial"/>
              </a:rPr>
              <a:t> </a:t>
            </a:r>
            <a:r>
              <a:rPr dirty="0" sz="3600" b="0">
                <a:latin typeface="Arial"/>
                <a:cs typeface="Arial"/>
              </a:rPr>
              <a:t>estimate</a:t>
            </a:r>
            <a:r>
              <a:rPr dirty="0" sz="3600" spc="10" b="0">
                <a:latin typeface="Arial"/>
                <a:cs typeface="Arial"/>
              </a:rPr>
              <a:t> </a:t>
            </a:r>
            <a:r>
              <a:rPr dirty="0" sz="3600" spc="60" b="0">
                <a:latin typeface="Arial"/>
                <a:cs typeface="Arial"/>
              </a:rPr>
              <a:t>of</a:t>
            </a:r>
            <a:r>
              <a:rPr dirty="0" sz="3600" spc="5" b="0">
                <a:latin typeface="Arial"/>
                <a:cs typeface="Arial"/>
              </a:rPr>
              <a:t> </a:t>
            </a:r>
            <a:r>
              <a:rPr dirty="0" sz="4350" spc="-45" b="0">
                <a:latin typeface="Cambria"/>
                <a:cs typeface="Cambria"/>
              </a:rPr>
              <a:t>log</a:t>
            </a:r>
            <a:r>
              <a:rPr dirty="0" sz="4350" spc="-229" b="0">
                <a:latin typeface="Cambria"/>
                <a:cs typeface="Cambria"/>
              </a:rPr>
              <a:t> </a:t>
            </a:r>
            <a:r>
              <a:rPr dirty="0" sz="4350" spc="-25" b="0" i="1">
                <a:latin typeface="Times New Roman"/>
                <a:cs typeface="Times New Roman"/>
              </a:rPr>
              <a:t>σ</a:t>
            </a:r>
            <a:r>
              <a:rPr dirty="0" baseline="-20036" sz="4575" spc="-37" b="0" i="1">
                <a:latin typeface="Times New Roman"/>
                <a:cs typeface="Times New Roman"/>
              </a:rPr>
              <a:t>t</a:t>
            </a:r>
            <a:endParaRPr baseline="-20036" sz="4575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9400" y="2551062"/>
            <a:ext cx="12484100" cy="61595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25769" y="143530"/>
            <a:ext cx="8990373" cy="466682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32443" y="5158569"/>
            <a:ext cx="9001938" cy="4441444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22756" rIns="0" bIns="0" rtlCol="0" vert="horz">
            <a:spAutoFit/>
          </a:bodyPr>
          <a:lstStyle/>
          <a:p>
            <a:pPr marL="527685">
              <a:lnSpc>
                <a:spcPct val="100000"/>
              </a:lnSpc>
              <a:spcBef>
                <a:spcPts val="90"/>
              </a:spcBef>
            </a:pPr>
            <a:r>
              <a:rPr dirty="0" spc="-100"/>
              <a:t>Spectral</a:t>
            </a:r>
            <a:r>
              <a:rPr dirty="0" spc="-280"/>
              <a:t> </a:t>
            </a:r>
            <a:r>
              <a:rPr dirty="0" spc="-215"/>
              <a:t>Analysis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9426" y="2475891"/>
            <a:ext cx="11015980" cy="2285365"/>
          </a:xfrm>
          <a:prstGeom prst="rect">
            <a:avLst/>
          </a:prstGeom>
        </p:spPr>
        <p:txBody>
          <a:bodyPr wrap="square" lIns="0" tIns="80645" rIns="0" bIns="0" rtlCol="0" vert="horz">
            <a:spAutoFit/>
          </a:bodyPr>
          <a:lstStyle/>
          <a:p>
            <a:pPr marL="12700" marR="5080">
              <a:lnSpc>
                <a:spcPts val="4330"/>
              </a:lnSpc>
              <a:spcBef>
                <a:spcPts val="635"/>
              </a:spcBef>
            </a:pPr>
            <a:r>
              <a:rPr dirty="0" sz="4000">
                <a:solidFill>
                  <a:srgbClr val="EE220C"/>
                </a:solidFill>
                <a:latin typeface="Arial"/>
                <a:cs typeface="Arial"/>
              </a:rPr>
              <a:t>Spectral</a:t>
            </a:r>
            <a:r>
              <a:rPr dirty="0" sz="4000" spc="-10">
                <a:solidFill>
                  <a:srgbClr val="EE220C"/>
                </a:solidFill>
                <a:latin typeface="Arial"/>
                <a:cs typeface="Arial"/>
              </a:rPr>
              <a:t> </a:t>
            </a:r>
            <a:r>
              <a:rPr dirty="0" sz="4000">
                <a:solidFill>
                  <a:srgbClr val="EE220C"/>
                </a:solidFill>
                <a:latin typeface="Arial"/>
                <a:cs typeface="Arial"/>
              </a:rPr>
              <a:t>Analysis</a:t>
            </a:r>
            <a:r>
              <a:rPr dirty="0" sz="4000" spc="-5">
                <a:solidFill>
                  <a:srgbClr val="EE220C"/>
                </a:solidFill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is</a:t>
            </a:r>
            <a:r>
              <a:rPr dirty="0" sz="4000" spc="-1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a</a:t>
            </a:r>
            <a:r>
              <a:rPr dirty="0" sz="4000" spc="-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special</a:t>
            </a:r>
            <a:r>
              <a:rPr dirty="0" sz="4000" spc="-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case</a:t>
            </a:r>
            <a:r>
              <a:rPr dirty="0" sz="4000" spc="-10">
                <a:latin typeface="Arial"/>
                <a:cs typeface="Arial"/>
              </a:rPr>
              <a:t> </a:t>
            </a:r>
            <a:r>
              <a:rPr dirty="0" sz="4000" spc="65">
                <a:latin typeface="Arial"/>
                <a:cs typeface="Arial"/>
              </a:rPr>
              <a:t>of</a:t>
            </a:r>
            <a:r>
              <a:rPr dirty="0" sz="4000" spc="-5">
                <a:latin typeface="Arial"/>
                <a:cs typeface="Arial"/>
              </a:rPr>
              <a:t> </a:t>
            </a:r>
            <a:r>
              <a:rPr dirty="0" sz="4000" spc="-10">
                <a:latin typeface="Arial"/>
                <a:cs typeface="Arial"/>
              </a:rPr>
              <a:t>variance </a:t>
            </a:r>
            <a:r>
              <a:rPr dirty="0" sz="4000">
                <a:latin typeface="Arial"/>
                <a:cs typeface="Arial"/>
              </a:rPr>
              <a:t>modeling</a:t>
            </a:r>
            <a:r>
              <a:rPr dirty="0" sz="4000" spc="3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where</a:t>
            </a:r>
            <a:r>
              <a:rPr dirty="0" sz="4000" spc="4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the</a:t>
            </a:r>
            <a:r>
              <a:rPr dirty="0" sz="4000" spc="4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variance</a:t>
            </a:r>
            <a:r>
              <a:rPr dirty="0" sz="4000" spc="3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model</a:t>
            </a:r>
            <a:r>
              <a:rPr dirty="0" sz="4000" spc="4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is</a:t>
            </a:r>
            <a:r>
              <a:rPr dirty="0" sz="4000" spc="4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applied</a:t>
            </a:r>
            <a:r>
              <a:rPr dirty="0" sz="4000" spc="35">
                <a:latin typeface="Arial"/>
                <a:cs typeface="Arial"/>
              </a:rPr>
              <a:t> </a:t>
            </a:r>
            <a:r>
              <a:rPr dirty="0" sz="4000" spc="75">
                <a:latin typeface="Arial"/>
                <a:cs typeface="Arial"/>
              </a:rPr>
              <a:t>to </a:t>
            </a:r>
            <a:r>
              <a:rPr dirty="0" sz="4000">
                <a:latin typeface="Arial"/>
                <a:cs typeface="Arial"/>
              </a:rPr>
              <a:t>the</a:t>
            </a:r>
            <a:r>
              <a:rPr dirty="0" sz="4000" spc="-6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Discrete</a:t>
            </a:r>
            <a:r>
              <a:rPr dirty="0" sz="4000" spc="-6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Fourier</a:t>
            </a:r>
            <a:r>
              <a:rPr dirty="0" sz="4000" spc="-55">
                <a:latin typeface="Arial"/>
                <a:cs typeface="Arial"/>
              </a:rPr>
              <a:t> </a:t>
            </a:r>
            <a:r>
              <a:rPr dirty="0" sz="4000" spc="-35">
                <a:latin typeface="Arial"/>
                <a:cs typeface="Arial"/>
              </a:rPr>
              <a:t>Transform</a:t>
            </a:r>
            <a:r>
              <a:rPr dirty="0" sz="4000" spc="-60">
                <a:latin typeface="Arial"/>
                <a:cs typeface="Arial"/>
              </a:rPr>
              <a:t> </a:t>
            </a:r>
            <a:r>
              <a:rPr dirty="0" sz="4000" spc="65">
                <a:latin typeface="Arial"/>
                <a:cs typeface="Arial"/>
              </a:rPr>
              <a:t>of</a:t>
            </a:r>
            <a:r>
              <a:rPr dirty="0" sz="4000" spc="-6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the</a:t>
            </a:r>
            <a:r>
              <a:rPr dirty="0" sz="4000" spc="-5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data</a:t>
            </a:r>
            <a:r>
              <a:rPr dirty="0" sz="4000" spc="-60">
                <a:latin typeface="Arial"/>
                <a:cs typeface="Arial"/>
              </a:rPr>
              <a:t> </a:t>
            </a:r>
            <a:r>
              <a:rPr dirty="0" sz="4000" spc="-25">
                <a:latin typeface="Arial"/>
                <a:cs typeface="Arial"/>
              </a:rPr>
              <a:t>(as </a:t>
            </a:r>
            <a:r>
              <a:rPr dirty="0" sz="4000" spc="65">
                <a:latin typeface="Arial"/>
                <a:cs typeface="Arial"/>
              </a:rPr>
              <a:t>opposed</a:t>
            </a:r>
            <a:r>
              <a:rPr dirty="0" sz="4000" spc="30">
                <a:latin typeface="Arial"/>
                <a:cs typeface="Arial"/>
              </a:rPr>
              <a:t> </a:t>
            </a:r>
            <a:r>
              <a:rPr dirty="0" sz="4000" spc="100">
                <a:latin typeface="Arial"/>
                <a:cs typeface="Arial"/>
              </a:rPr>
              <a:t>to</a:t>
            </a:r>
            <a:r>
              <a:rPr dirty="0" sz="4000" spc="3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the</a:t>
            </a:r>
            <a:r>
              <a:rPr dirty="0" sz="4000" spc="3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data</a:t>
            </a:r>
            <a:r>
              <a:rPr dirty="0" sz="4000" spc="35">
                <a:latin typeface="Arial"/>
                <a:cs typeface="Arial"/>
              </a:rPr>
              <a:t> </a:t>
            </a:r>
            <a:r>
              <a:rPr dirty="0" sz="4000" spc="-10">
                <a:latin typeface="Arial"/>
                <a:cs typeface="Arial"/>
              </a:rPr>
              <a:t>directly)</a:t>
            </a:r>
            <a:endParaRPr sz="4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09426" y="6531154"/>
            <a:ext cx="10706100" cy="1185545"/>
          </a:xfrm>
          <a:prstGeom prst="rect">
            <a:avLst/>
          </a:prstGeom>
        </p:spPr>
        <p:txBody>
          <a:bodyPr wrap="square" lIns="0" tIns="80645" rIns="0" bIns="0" rtlCol="0" vert="horz">
            <a:spAutoFit/>
          </a:bodyPr>
          <a:lstStyle/>
          <a:p>
            <a:pPr marL="12700" marR="5080">
              <a:lnSpc>
                <a:spcPts val="4330"/>
              </a:lnSpc>
              <a:spcBef>
                <a:spcPts val="635"/>
              </a:spcBef>
            </a:pPr>
            <a:r>
              <a:rPr dirty="0" sz="4000">
                <a:latin typeface="Arial"/>
                <a:cs typeface="Arial"/>
              </a:rPr>
              <a:t>This</a:t>
            </a:r>
            <a:r>
              <a:rPr dirty="0" sz="4000" spc="-2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is</a:t>
            </a:r>
            <a:r>
              <a:rPr dirty="0" sz="4000" spc="-1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one</a:t>
            </a:r>
            <a:r>
              <a:rPr dirty="0" sz="4000" spc="-15">
                <a:latin typeface="Arial"/>
                <a:cs typeface="Arial"/>
              </a:rPr>
              <a:t> </a:t>
            </a:r>
            <a:r>
              <a:rPr dirty="0" sz="4000" spc="65">
                <a:latin typeface="Arial"/>
                <a:cs typeface="Arial"/>
              </a:rPr>
              <a:t>of</a:t>
            </a:r>
            <a:r>
              <a:rPr dirty="0" sz="4000" spc="-2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the</a:t>
            </a:r>
            <a:r>
              <a:rPr dirty="0" sz="4000" spc="-15">
                <a:latin typeface="Arial"/>
                <a:cs typeface="Arial"/>
              </a:rPr>
              <a:t> </a:t>
            </a:r>
            <a:r>
              <a:rPr dirty="0" sz="4000" spc="65">
                <a:latin typeface="Arial"/>
                <a:cs typeface="Arial"/>
              </a:rPr>
              <a:t>most</a:t>
            </a:r>
            <a:r>
              <a:rPr dirty="0" sz="4000" spc="-15">
                <a:latin typeface="Arial"/>
                <a:cs typeface="Arial"/>
              </a:rPr>
              <a:t> </a:t>
            </a:r>
            <a:r>
              <a:rPr dirty="0" sz="4000" spc="55">
                <a:latin typeface="Arial"/>
                <a:cs typeface="Arial"/>
              </a:rPr>
              <a:t>important</a:t>
            </a:r>
            <a:r>
              <a:rPr dirty="0" sz="4000" spc="-20">
                <a:latin typeface="Arial"/>
                <a:cs typeface="Arial"/>
              </a:rPr>
              <a:t> </a:t>
            </a:r>
            <a:r>
              <a:rPr dirty="0" sz="4000" spc="50">
                <a:latin typeface="Arial"/>
                <a:cs typeface="Arial"/>
              </a:rPr>
              <a:t>tools</a:t>
            </a:r>
            <a:r>
              <a:rPr dirty="0" sz="4000" spc="-1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used</a:t>
            </a:r>
            <a:r>
              <a:rPr dirty="0" sz="4000" spc="-15">
                <a:latin typeface="Arial"/>
                <a:cs typeface="Arial"/>
              </a:rPr>
              <a:t> </a:t>
            </a:r>
            <a:r>
              <a:rPr dirty="0" sz="4000" spc="35">
                <a:latin typeface="Arial"/>
                <a:cs typeface="Arial"/>
              </a:rPr>
              <a:t>by </a:t>
            </a:r>
            <a:r>
              <a:rPr dirty="0" sz="4000" spc="-20">
                <a:latin typeface="Arial"/>
                <a:cs typeface="Arial"/>
              </a:rPr>
              <a:t>Engineers</a:t>
            </a:r>
            <a:r>
              <a:rPr dirty="0" sz="4000" spc="-7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for</a:t>
            </a:r>
            <a:r>
              <a:rPr dirty="0" sz="4000" spc="-6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Signal</a:t>
            </a:r>
            <a:r>
              <a:rPr dirty="0" sz="4000" spc="-65">
                <a:latin typeface="Arial"/>
                <a:cs typeface="Arial"/>
              </a:rPr>
              <a:t> </a:t>
            </a:r>
            <a:r>
              <a:rPr dirty="0" sz="4000" spc="-10">
                <a:latin typeface="Arial"/>
                <a:cs typeface="Arial"/>
              </a:rPr>
              <a:t>Processing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29528" rIns="0" bIns="0" rtlCol="0" vert="horz">
            <a:spAutoFit/>
          </a:bodyPr>
          <a:lstStyle/>
          <a:p>
            <a:pPr marL="527685">
              <a:lnSpc>
                <a:spcPct val="100000"/>
              </a:lnSpc>
              <a:spcBef>
                <a:spcPts val="120"/>
              </a:spcBef>
            </a:pPr>
            <a:r>
              <a:rPr dirty="0" sz="5500" spc="-200"/>
              <a:t>EEG</a:t>
            </a:r>
            <a:r>
              <a:rPr dirty="0" sz="5500" spc="-215"/>
              <a:t> </a:t>
            </a:r>
            <a:r>
              <a:rPr dirty="0" sz="5500" spc="-165"/>
              <a:t>Example:</a:t>
            </a:r>
            <a:r>
              <a:rPr dirty="0" sz="5500" spc="-220"/>
              <a:t> </a:t>
            </a:r>
            <a:r>
              <a:rPr dirty="0" sz="5500" spc="-185"/>
              <a:t>Eyes</a:t>
            </a:r>
            <a:r>
              <a:rPr dirty="0" sz="5500" spc="-215"/>
              <a:t> </a:t>
            </a:r>
            <a:r>
              <a:rPr dirty="0" sz="5500" spc="-60"/>
              <a:t>open</a:t>
            </a:r>
            <a:r>
              <a:rPr dirty="0" sz="5500" spc="-240"/>
              <a:t> </a:t>
            </a:r>
            <a:r>
              <a:rPr dirty="0" sz="5500" spc="-220"/>
              <a:t>vs</a:t>
            </a:r>
            <a:r>
              <a:rPr dirty="0" sz="5500" spc="-215"/>
              <a:t> </a:t>
            </a:r>
            <a:r>
              <a:rPr dirty="0" sz="5500" spc="-10"/>
              <a:t>Closed</a:t>
            </a:r>
            <a:endParaRPr sz="55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251" y="1559756"/>
            <a:ext cx="12786048" cy="617974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09426" y="8309154"/>
            <a:ext cx="10583545" cy="1185545"/>
          </a:xfrm>
          <a:prstGeom prst="rect">
            <a:avLst/>
          </a:prstGeom>
        </p:spPr>
        <p:txBody>
          <a:bodyPr wrap="square" lIns="0" tIns="80645" rIns="0" bIns="0" rtlCol="0" vert="horz">
            <a:spAutoFit/>
          </a:bodyPr>
          <a:lstStyle/>
          <a:p>
            <a:pPr marL="12700" marR="5080">
              <a:lnSpc>
                <a:spcPts val="4330"/>
              </a:lnSpc>
              <a:spcBef>
                <a:spcPts val="635"/>
              </a:spcBef>
            </a:pPr>
            <a:r>
              <a:rPr dirty="0" sz="4000" spc="50">
                <a:latin typeface="Arial"/>
                <a:cs typeface="Arial"/>
              </a:rPr>
              <a:t>How</a:t>
            </a:r>
            <a:r>
              <a:rPr dirty="0" sz="4000" spc="80">
                <a:latin typeface="Arial"/>
                <a:cs typeface="Arial"/>
              </a:rPr>
              <a:t> </a:t>
            </a:r>
            <a:r>
              <a:rPr dirty="0" sz="4000" spc="100">
                <a:latin typeface="Arial"/>
                <a:cs typeface="Arial"/>
              </a:rPr>
              <a:t>to</a:t>
            </a:r>
            <a:r>
              <a:rPr dirty="0" sz="4000" spc="8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quantify</a:t>
            </a:r>
            <a:r>
              <a:rPr dirty="0" sz="4000" spc="8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the</a:t>
            </a:r>
            <a:r>
              <a:rPr dirty="0" sz="4000" spc="8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diﬀerences</a:t>
            </a:r>
            <a:r>
              <a:rPr dirty="0" sz="4000" spc="8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between</a:t>
            </a:r>
            <a:r>
              <a:rPr dirty="0" sz="4000" spc="80">
                <a:latin typeface="Arial"/>
                <a:cs typeface="Arial"/>
              </a:rPr>
              <a:t> </a:t>
            </a:r>
            <a:r>
              <a:rPr dirty="0" sz="4000" spc="-10">
                <a:latin typeface="Arial"/>
                <a:cs typeface="Arial"/>
              </a:rPr>
              <a:t>these </a:t>
            </a:r>
            <a:r>
              <a:rPr dirty="0" sz="4000" spc="100">
                <a:latin typeface="Arial"/>
                <a:cs typeface="Arial"/>
              </a:rPr>
              <a:t>two</a:t>
            </a:r>
            <a:r>
              <a:rPr dirty="0" sz="4000" spc="4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time</a:t>
            </a:r>
            <a:r>
              <a:rPr dirty="0" sz="4000" spc="45">
                <a:latin typeface="Arial"/>
                <a:cs typeface="Arial"/>
              </a:rPr>
              <a:t> </a:t>
            </a:r>
            <a:r>
              <a:rPr dirty="0" sz="4000" spc="-10">
                <a:latin typeface="Arial"/>
                <a:cs typeface="Arial"/>
              </a:rPr>
              <a:t>series?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4650" y="1060450"/>
            <a:ext cx="12306300" cy="61595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98805" rIns="0" bIns="0" rtlCol="0" vert="horz">
            <a:spAutoFit/>
          </a:bodyPr>
          <a:lstStyle/>
          <a:p>
            <a:pPr marL="600710">
              <a:lnSpc>
                <a:spcPct val="100000"/>
              </a:lnSpc>
              <a:spcBef>
                <a:spcPts val="100"/>
              </a:spcBef>
            </a:pPr>
            <a:r>
              <a:rPr dirty="0" sz="4000" b="0">
                <a:latin typeface="Arial"/>
                <a:cs typeface="Arial"/>
              </a:rPr>
              <a:t>Spectra</a:t>
            </a:r>
            <a:r>
              <a:rPr dirty="0" sz="4000" spc="10" b="0">
                <a:latin typeface="Arial"/>
                <a:cs typeface="Arial"/>
              </a:rPr>
              <a:t> </a:t>
            </a:r>
            <a:r>
              <a:rPr dirty="0" sz="4000" b="0">
                <a:latin typeface="Arial"/>
                <a:cs typeface="Arial"/>
              </a:rPr>
              <a:t>estimates</a:t>
            </a:r>
            <a:r>
              <a:rPr dirty="0" sz="4000" spc="15" b="0">
                <a:latin typeface="Arial"/>
                <a:cs typeface="Arial"/>
              </a:rPr>
              <a:t> </a:t>
            </a:r>
            <a:r>
              <a:rPr dirty="0" sz="4000" b="0">
                <a:latin typeface="Arial"/>
                <a:cs typeface="Arial"/>
              </a:rPr>
              <a:t>(multiply</a:t>
            </a:r>
            <a:r>
              <a:rPr dirty="0" sz="4000" spc="10" b="0">
                <a:latin typeface="Arial"/>
                <a:cs typeface="Arial"/>
              </a:rPr>
              <a:t> </a:t>
            </a:r>
            <a:r>
              <a:rPr dirty="0" sz="4000" spc="60" b="0">
                <a:latin typeface="Arial"/>
                <a:cs typeface="Arial"/>
              </a:rPr>
              <a:t>x</a:t>
            </a:r>
            <a:r>
              <a:rPr dirty="0" sz="4000" spc="15" b="0">
                <a:latin typeface="Arial"/>
                <a:cs typeface="Arial"/>
              </a:rPr>
              <a:t> </a:t>
            </a:r>
            <a:r>
              <a:rPr dirty="0" sz="4000" b="0">
                <a:latin typeface="Arial"/>
                <a:cs typeface="Arial"/>
              </a:rPr>
              <a:t>axis</a:t>
            </a:r>
            <a:r>
              <a:rPr dirty="0" sz="4000" spc="10" b="0">
                <a:latin typeface="Arial"/>
                <a:cs typeface="Arial"/>
              </a:rPr>
              <a:t> </a:t>
            </a:r>
            <a:r>
              <a:rPr dirty="0" sz="4000" spc="60" b="0">
                <a:latin typeface="Arial"/>
                <a:cs typeface="Arial"/>
              </a:rPr>
              <a:t>by</a:t>
            </a:r>
            <a:r>
              <a:rPr dirty="0" sz="4000" spc="15" b="0">
                <a:latin typeface="Arial"/>
                <a:cs typeface="Arial"/>
              </a:rPr>
              <a:t> </a:t>
            </a:r>
            <a:r>
              <a:rPr dirty="0" sz="4000" b="0">
                <a:latin typeface="Arial"/>
                <a:cs typeface="Arial"/>
              </a:rPr>
              <a:t>160</a:t>
            </a:r>
            <a:r>
              <a:rPr dirty="0" sz="4000" spc="10" b="0">
                <a:latin typeface="Arial"/>
                <a:cs typeface="Arial"/>
              </a:rPr>
              <a:t> </a:t>
            </a:r>
            <a:r>
              <a:rPr dirty="0" sz="4000" b="0">
                <a:latin typeface="Arial"/>
                <a:cs typeface="Arial"/>
              </a:rPr>
              <a:t>for</a:t>
            </a:r>
            <a:r>
              <a:rPr dirty="0" sz="4000" spc="15" b="0">
                <a:latin typeface="Arial"/>
                <a:cs typeface="Arial"/>
              </a:rPr>
              <a:t> </a:t>
            </a:r>
            <a:r>
              <a:rPr dirty="0" sz="4000" spc="-20" b="0">
                <a:latin typeface="Arial"/>
                <a:cs typeface="Arial"/>
              </a:rPr>
              <a:t>Hz):</a:t>
            </a:r>
            <a:endParaRPr sz="4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09426" y="7729322"/>
            <a:ext cx="11363325" cy="1735455"/>
          </a:xfrm>
          <a:prstGeom prst="rect">
            <a:avLst/>
          </a:prstGeom>
        </p:spPr>
        <p:txBody>
          <a:bodyPr wrap="square" lIns="0" tIns="80645" rIns="0" bIns="0" rtlCol="0" vert="horz">
            <a:spAutoFit/>
          </a:bodyPr>
          <a:lstStyle/>
          <a:p>
            <a:pPr marL="12700" marR="5080">
              <a:lnSpc>
                <a:spcPts val="4330"/>
              </a:lnSpc>
              <a:spcBef>
                <a:spcPts val="635"/>
              </a:spcBef>
            </a:pPr>
            <a:r>
              <a:rPr dirty="0" sz="4000" spc="-35">
                <a:latin typeface="Arial"/>
                <a:cs typeface="Arial"/>
              </a:rPr>
              <a:t>There</a:t>
            </a:r>
            <a:r>
              <a:rPr dirty="0" sz="4000" spc="-1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is</a:t>
            </a:r>
            <a:r>
              <a:rPr dirty="0" sz="4000" spc="-1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a</a:t>
            </a:r>
            <a:r>
              <a:rPr dirty="0" sz="4000" spc="-1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clear</a:t>
            </a:r>
            <a:r>
              <a:rPr dirty="0" sz="4000" spc="-1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diﬀerence</a:t>
            </a:r>
            <a:r>
              <a:rPr dirty="0" sz="4000" spc="-1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in</a:t>
            </a:r>
            <a:r>
              <a:rPr dirty="0" sz="4000" spc="-1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the</a:t>
            </a:r>
            <a:r>
              <a:rPr dirty="0" sz="4000" spc="-1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spectra</a:t>
            </a:r>
            <a:r>
              <a:rPr dirty="0" sz="4000" spc="-15">
                <a:latin typeface="Arial"/>
                <a:cs typeface="Arial"/>
              </a:rPr>
              <a:t> </a:t>
            </a:r>
            <a:r>
              <a:rPr dirty="0" sz="4000" spc="-25">
                <a:latin typeface="Arial"/>
                <a:cs typeface="Arial"/>
              </a:rPr>
              <a:t>at</a:t>
            </a:r>
            <a:r>
              <a:rPr dirty="0" sz="4000" spc="100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around</a:t>
            </a:r>
            <a:r>
              <a:rPr dirty="0" sz="4000" spc="2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the</a:t>
            </a:r>
            <a:r>
              <a:rPr dirty="0" sz="4000" spc="2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10</a:t>
            </a:r>
            <a:r>
              <a:rPr dirty="0" sz="4000" spc="2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Hz</a:t>
            </a:r>
            <a:r>
              <a:rPr dirty="0" sz="4000" spc="2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frequency</a:t>
            </a:r>
            <a:r>
              <a:rPr dirty="0" sz="4000" spc="2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which</a:t>
            </a:r>
            <a:r>
              <a:rPr dirty="0" sz="4000" spc="2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is</a:t>
            </a:r>
            <a:r>
              <a:rPr dirty="0" sz="4000" spc="2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a</a:t>
            </a:r>
            <a:r>
              <a:rPr dirty="0" sz="4000" spc="2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known</a:t>
            </a:r>
            <a:r>
              <a:rPr dirty="0" sz="4000" spc="30">
                <a:latin typeface="Arial"/>
                <a:cs typeface="Arial"/>
              </a:rPr>
              <a:t> </a:t>
            </a:r>
            <a:r>
              <a:rPr dirty="0" sz="4000" spc="40">
                <a:latin typeface="Arial"/>
                <a:cs typeface="Arial"/>
              </a:rPr>
              <a:t>fact </a:t>
            </a:r>
            <a:r>
              <a:rPr dirty="0" sz="4000">
                <a:latin typeface="Arial"/>
                <a:cs typeface="Arial"/>
              </a:rPr>
              <a:t>from</a:t>
            </a:r>
            <a:r>
              <a:rPr dirty="0" sz="4000" spc="20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cognitive</a:t>
            </a:r>
            <a:r>
              <a:rPr dirty="0" sz="4000" spc="200">
                <a:latin typeface="Arial"/>
                <a:cs typeface="Arial"/>
              </a:rPr>
              <a:t> </a:t>
            </a:r>
            <a:r>
              <a:rPr dirty="0" sz="4000" spc="-10">
                <a:latin typeface="Arial"/>
                <a:cs typeface="Arial"/>
              </a:rPr>
              <a:t>neuroscience.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36600" y="465020"/>
            <a:ext cx="11408410" cy="78486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950" spc="-665"/>
              <a:t>T</a:t>
            </a:r>
            <a:r>
              <a:rPr dirty="0" sz="4950" spc="-110"/>
              <a:t>op</a:t>
            </a:r>
            <a:r>
              <a:rPr dirty="0" sz="4950" spc="-120"/>
              <a:t>i</a:t>
            </a:r>
            <a:r>
              <a:rPr dirty="0" sz="4950" spc="-10"/>
              <a:t>c</a:t>
            </a:r>
            <a:r>
              <a:rPr dirty="0" sz="4950" spc="-190"/>
              <a:t> </a:t>
            </a:r>
            <a:r>
              <a:rPr dirty="0" sz="4950" spc="-204"/>
              <a:t>Five:</a:t>
            </a:r>
            <a:r>
              <a:rPr dirty="0" sz="4950" spc="-190"/>
              <a:t> </a:t>
            </a:r>
            <a:r>
              <a:rPr dirty="0" sz="4950" spc="-35"/>
              <a:t>Lagged</a:t>
            </a:r>
            <a:r>
              <a:rPr dirty="0" sz="4950" spc="-200"/>
              <a:t> </a:t>
            </a:r>
            <a:r>
              <a:rPr dirty="0" sz="4950" spc="-120"/>
              <a:t>Regression</a:t>
            </a:r>
            <a:r>
              <a:rPr dirty="0" sz="4950" spc="-195"/>
              <a:t> </a:t>
            </a:r>
            <a:r>
              <a:rPr dirty="0" sz="4950" spc="-70"/>
              <a:t>(ARIMA)</a:t>
            </a:r>
            <a:endParaRPr sz="4950"/>
          </a:p>
        </p:txBody>
      </p:sp>
      <p:sp>
        <p:nvSpPr>
          <p:cNvPr id="3" name="object 3"/>
          <p:cNvSpPr txBox="1"/>
          <p:nvPr/>
        </p:nvSpPr>
        <p:spPr>
          <a:xfrm>
            <a:off x="868957" y="1789842"/>
            <a:ext cx="10778490" cy="7198359"/>
          </a:xfrm>
          <a:prstGeom prst="rect">
            <a:avLst/>
          </a:prstGeom>
        </p:spPr>
        <p:txBody>
          <a:bodyPr wrap="square" lIns="0" tIns="129539" rIns="0" bIns="0" rtlCol="0" vert="horz">
            <a:spAutoFit/>
          </a:bodyPr>
          <a:lstStyle/>
          <a:p>
            <a:pPr marL="532765" indent="-507365">
              <a:lnSpc>
                <a:spcPts val="4565"/>
              </a:lnSpc>
              <a:spcBef>
                <a:spcPts val="1019"/>
              </a:spcBef>
              <a:buSzPct val="122500"/>
              <a:buChar char="•"/>
              <a:tabLst>
                <a:tab pos="532765" algn="l"/>
              </a:tabLst>
            </a:pPr>
            <a:r>
              <a:rPr dirty="0" sz="4000">
                <a:latin typeface="Arial"/>
                <a:cs typeface="Arial"/>
              </a:rPr>
              <a:t>Find</a:t>
            </a:r>
            <a:r>
              <a:rPr dirty="0" sz="4000" spc="-2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next</a:t>
            </a:r>
            <a:r>
              <a:rPr dirty="0" sz="4000" spc="-2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number:</a:t>
            </a:r>
            <a:r>
              <a:rPr dirty="0" sz="4000" spc="-2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1,</a:t>
            </a:r>
            <a:r>
              <a:rPr dirty="0" sz="4000" spc="-2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1,</a:t>
            </a:r>
            <a:r>
              <a:rPr dirty="0" sz="4000" spc="-2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2,</a:t>
            </a:r>
            <a:r>
              <a:rPr dirty="0" sz="4000" spc="-2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3,</a:t>
            </a:r>
            <a:r>
              <a:rPr dirty="0" sz="4000" spc="-2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5,</a:t>
            </a:r>
            <a:r>
              <a:rPr dirty="0" sz="4000" spc="-2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8,</a:t>
            </a:r>
            <a:r>
              <a:rPr dirty="0" sz="4000" spc="-2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13,</a:t>
            </a:r>
            <a:r>
              <a:rPr dirty="0" sz="4000" spc="-2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21,</a:t>
            </a:r>
            <a:r>
              <a:rPr dirty="0" sz="4000" spc="-25">
                <a:latin typeface="Arial"/>
                <a:cs typeface="Arial"/>
              </a:rPr>
              <a:t> 34,</a:t>
            </a:r>
            <a:endParaRPr sz="4000">
              <a:latin typeface="Arial"/>
              <a:cs typeface="Arial"/>
            </a:endParaRPr>
          </a:p>
          <a:p>
            <a:pPr marL="533400">
              <a:lnSpc>
                <a:spcPts val="4565"/>
              </a:lnSpc>
            </a:pPr>
            <a:r>
              <a:rPr dirty="0" sz="4000">
                <a:latin typeface="Arial"/>
                <a:cs typeface="Arial"/>
              </a:rPr>
              <a:t>55,</a:t>
            </a:r>
            <a:r>
              <a:rPr dirty="0" sz="4000" spc="-6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89,</a:t>
            </a:r>
            <a:r>
              <a:rPr dirty="0" sz="4000" spc="-55">
                <a:latin typeface="Arial"/>
                <a:cs typeface="Arial"/>
              </a:rPr>
              <a:t> </a:t>
            </a:r>
            <a:r>
              <a:rPr dirty="0" sz="4000" spc="-50">
                <a:latin typeface="Arial"/>
                <a:cs typeface="Arial"/>
              </a:rPr>
              <a:t>#</a:t>
            </a:r>
            <a:endParaRPr sz="4000">
              <a:latin typeface="Arial"/>
              <a:cs typeface="Arial"/>
            </a:endParaRPr>
          </a:p>
          <a:p>
            <a:pPr marL="532765" indent="-507365">
              <a:lnSpc>
                <a:spcPts val="4550"/>
              </a:lnSpc>
              <a:spcBef>
                <a:spcPts val="2730"/>
              </a:spcBef>
              <a:buSzPct val="122500"/>
              <a:buChar char="•"/>
              <a:tabLst>
                <a:tab pos="532765" algn="l"/>
              </a:tabLst>
            </a:pPr>
            <a:r>
              <a:rPr dirty="0" sz="4000">
                <a:latin typeface="Arial"/>
                <a:cs typeface="Arial"/>
              </a:rPr>
              <a:t>This</a:t>
            </a:r>
            <a:r>
              <a:rPr dirty="0" sz="4000" spc="1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is</a:t>
            </a:r>
            <a:r>
              <a:rPr dirty="0" sz="4000" spc="2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the</a:t>
            </a:r>
            <a:r>
              <a:rPr dirty="0" sz="4000" spc="2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Fibonacci</a:t>
            </a:r>
            <a:r>
              <a:rPr dirty="0" sz="4000" spc="20">
                <a:latin typeface="Arial"/>
                <a:cs typeface="Arial"/>
              </a:rPr>
              <a:t> </a:t>
            </a:r>
            <a:r>
              <a:rPr dirty="0" sz="4000" spc="-10">
                <a:latin typeface="Arial"/>
                <a:cs typeface="Arial"/>
              </a:rPr>
              <a:t>sequence</a:t>
            </a:r>
            <a:endParaRPr sz="4000">
              <a:latin typeface="Arial"/>
              <a:cs typeface="Arial"/>
            </a:endParaRPr>
          </a:p>
          <a:p>
            <a:pPr marL="533400">
              <a:lnSpc>
                <a:spcPts val="5510"/>
              </a:lnSpc>
              <a:tabLst>
                <a:tab pos="1207135" algn="l"/>
              </a:tabLst>
            </a:pPr>
            <a:r>
              <a:rPr dirty="0" sz="4000" spc="-25">
                <a:latin typeface="Arial"/>
                <a:cs typeface="Arial"/>
              </a:rPr>
              <a:t>(</a:t>
            </a:r>
            <a:r>
              <a:rPr dirty="0" sz="4800" spc="-25" i="1">
                <a:latin typeface="Times New Roman"/>
                <a:cs typeface="Times New Roman"/>
              </a:rPr>
              <a:t>y</a:t>
            </a:r>
            <a:r>
              <a:rPr dirty="0" baseline="-19607" sz="5100" spc="-37" i="1">
                <a:latin typeface="Times New Roman"/>
                <a:cs typeface="Times New Roman"/>
              </a:rPr>
              <a:t>t</a:t>
            </a:r>
            <a:r>
              <a:rPr dirty="0" baseline="-19607" sz="5100" i="1">
                <a:latin typeface="Times New Roman"/>
                <a:cs typeface="Times New Roman"/>
              </a:rPr>
              <a:t>	</a:t>
            </a:r>
            <a:r>
              <a:rPr dirty="0" sz="4800" spc="635">
                <a:latin typeface="Cambria"/>
                <a:cs typeface="Cambria"/>
              </a:rPr>
              <a:t>=</a:t>
            </a:r>
            <a:r>
              <a:rPr dirty="0" sz="4800" spc="310">
                <a:latin typeface="Cambria"/>
                <a:cs typeface="Cambria"/>
              </a:rPr>
              <a:t> </a:t>
            </a:r>
            <a:r>
              <a:rPr dirty="0" sz="4800" i="1">
                <a:latin typeface="Times New Roman"/>
                <a:cs typeface="Times New Roman"/>
              </a:rPr>
              <a:t>y</a:t>
            </a:r>
            <a:r>
              <a:rPr dirty="0" baseline="-19607" sz="5100" i="1">
                <a:latin typeface="Times New Roman"/>
                <a:cs typeface="Times New Roman"/>
              </a:rPr>
              <a:t>t</a:t>
            </a:r>
            <a:r>
              <a:rPr dirty="0" baseline="-19607" sz="5100">
                <a:latin typeface="Cambria"/>
                <a:cs typeface="Cambria"/>
              </a:rPr>
              <a:t>−1</a:t>
            </a:r>
            <a:r>
              <a:rPr dirty="0" baseline="-19607" sz="5100" spc="525">
                <a:latin typeface="Cambria"/>
                <a:cs typeface="Cambria"/>
              </a:rPr>
              <a:t> </a:t>
            </a:r>
            <a:r>
              <a:rPr dirty="0" sz="4800" spc="635">
                <a:latin typeface="Cambria"/>
                <a:cs typeface="Cambria"/>
              </a:rPr>
              <a:t>+</a:t>
            </a:r>
            <a:r>
              <a:rPr dirty="0" sz="4800" spc="40">
                <a:latin typeface="Cambria"/>
                <a:cs typeface="Cambria"/>
              </a:rPr>
              <a:t> </a:t>
            </a:r>
            <a:r>
              <a:rPr dirty="0" sz="4800" i="1">
                <a:latin typeface="Times New Roman"/>
                <a:cs typeface="Times New Roman"/>
              </a:rPr>
              <a:t>y</a:t>
            </a:r>
            <a:r>
              <a:rPr dirty="0" baseline="-19607" sz="5100" i="1">
                <a:latin typeface="Times New Roman"/>
                <a:cs typeface="Times New Roman"/>
              </a:rPr>
              <a:t>t</a:t>
            </a:r>
            <a:r>
              <a:rPr dirty="0" baseline="-19607" sz="5100">
                <a:latin typeface="Cambria"/>
                <a:cs typeface="Cambria"/>
              </a:rPr>
              <a:t>−2</a:t>
            </a:r>
            <a:r>
              <a:rPr dirty="0" sz="4000">
                <a:latin typeface="Arial"/>
                <a:cs typeface="Arial"/>
              </a:rPr>
              <a:t>)</a:t>
            </a:r>
            <a:r>
              <a:rPr dirty="0" sz="4000" spc="2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and</a:t>
            </a:r>
            <a:r>
              <a:rPr dirty="0" sz="4000" spc="2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the</a:t>
            </a:r>
            <a:r>
              <a:rPr dirty="0" sz="4000" spc="2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next</a:t>
            </a:r>
            <a:r>
              <a:rPr dirty="0" sz="4000" spc="2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number</a:t>
            </a:r>
            <a:r>
              <a:rPr dirty="0" sz="4000" spc="2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is</a:t>
            </a:r>
            <a:r>
              <a:rPr dirty="0" sz="4000" spc="25">
                <a:latin typeface="Arial"/>
                <a:cs typeface="Arial"/>
              </a:rPr>
              <a:t> </a:t>
            </a:r>
            <a:r>
              <a:rPr dirty="0" sz="4000" spc="-25">
                <a:latin typeface="Arial"/>
                <a:cs typeface="Arial"/>
              </a:rPr>
              <a:t>144</a:t>
            </a:r>
            <a:endParaRPr sz="4000">
              <a:latin typeface="Arial"/>
              <a:cs typeface="Arial"/>
            </a:endParaRPr>
          </a:p>
          <a:p>
            <a:pPr marL="532765" indent="-507365">
              <a:lnSpc>
                <a:spcPct val="100000"/>
              </a:lnSpc>
              <a:spcBef>
                <a:spcPts val="2910"/>
              </a:spcBef>
              <a:buSzPct val="122500"/>
              <a:buChar char="•"/>
              <a:tabLst>
                <a:tab pos="532765" algn="l"/>
              </a:tabLst>
            </a:pPr>
            <a:r>
              <a:rPr dirty="0" sz="4000" spc="-10">
                <a:latin typeface="Arial"/>
                <a:cs typeface="Arial"/>
              </a:rPr>
              <a:t>Here</a:t>
            </a:r>
            <a:r>
              <a:rPr dirty="0" sz="4000" spc="-65">
                <a:latin typeface="Arial"/>
                <a:cs typeface="Arial"/>
              </a:rPr>
              <a:t> </a:t>
            </a:r>
            <a:r>
              <a:rPr dirty="0" sz="4000" spc="-10">
                <a:latin typeface="Arial"/>
                <a:cs typeface="Arial"/>
              </a:rPr>
              <a:t>regression</a:t>
            </a:r>
            <a:r>
              <a:rPr dirty="0" sz="4000" spc="-6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over</a:t>
            </a:r>
            <a:r>
              <a:rPr dirty="0" sz="4000" spc="-6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time</a:t>
            </a:r>
            <a:r>
              <a:rPr dirty="0" sz="4000" spc="-6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will</a:t>
            </a:r>
            <a:r>
              <a:rPr dirty="0" sz="4000" spc="-65">
                <a:latin typeface="Arial"/>
                <a:cs typeface="Arial"/>
              </a:rPr>
              <a:t> </a:t>
            </a:r>
            <a:r>
              <a:rPr dirty="0" sz="4000" spc="55">
                <a:latin typeface="Arial"/>
                <a:cs typeface="Arial"/>
              </a:rPr>
              <a:t>not</a:t>
            </a:r>
            <a:r>
              <a:rPr dirty="0" sz="4000" spc="-60">
                <a:latin typeface="Arial"/>
                <a:cs typeface="Arial"/>
              </a:rPr>
              <a:t> </a:t>
            </a:r>
            <a:r>
              <a:rPr dirty="0" sz="4000" spc="40">
                <a:latin typeface="Arial"/>
                <a:cs typeface="Arial"/>
              </a:rPr>
              <a:t>work</a:t>
            </a:r>
            <a:endParaRPr sz="4000">
              <a:latin typeface="Arial"/>
              <a:cs typeface="Arial"/>
            </a:endParaRPr>
          </a:p>
          <a:p>
            <a:pPr marL="533400" marR="588645" indent="-508000">
              <a:lnSpc>
                <a:spcPts val="5430"/>
              </a:lnSpc>
              <a:spcBef>
                <a:spcPts val="3150"/>
              </a:spcBef>
              <a:buSzPct val="122500"/>
              <a:buChar char="•"/>
              <a:tabLst>
                <a:tab pos="533400" algn="l"/>
              </a:tabLst>
            </a:pPr>
            <a:r>
              <a:rPr dirty="0" sz="4000">
                <a:latin typeface="Arial"/>
                <a:cs typeface="Arial"/>
              </a:rPr>
              <a:t>Instead,</a:t>
            </a:r>
            <a:r>
              <a:rPr dirty="0" sz="4000" spc="-6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we</a:t>
            </a:r>
            <a:r>
              <a:rPr dirty="0" sz="4000" spc="-5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have</a:t>
            </a:r>
            <a:r>
              <a:rPr dirty="0" sz="4000" spc="-60">
                <a:latin typeface="Arial"/>
                <a:cs typeface="Arial"/>
              </a:rPr>
              <a:t> </a:t>
            </a:r>
            <a:r>
              <a:rPr dirty="0" sz="4000" spc="100">
                <a:latin typeface="Arial"/>
                <a:cs typeface="Arial"/>
              </a:rPr>
              <a:t>to</a:t>
            </a:r>
            <a:r>
              <a:rPr dirty="0" sz="4000" spc="-55">
                <a:latin typeface="Arial"/>
                <a:cs typeface="Arial"/>
              </a:rPr>
              <a:t> </a:t>
            </a:r>
            <a:r>
              <a:rPr dirty="0" sz="4000" spc="-20">
                <a:latin typeface="Arial"/>
                <a:cs typeface="Arial"/>
              </a:rPr>
              <a:t>regress</a:t>
            </a:r>
            <a:r>
              <a:rPr dirty="0" sz="4000" spc="-55">
                <a:latin typeface="Arial"/>
                <a:cs typeface="Arial"/>
              </a:rPr>
              <a:t> </a:t>
            </a:r>
            <a:r>
              <a:rPr dirty="0" sz="4800" i="1">
                <a:latin typeface="Times New Roman"/>
                <a:cs typeface="Times New Roman"/>
              </a:rPr>
              <a:t>y</a:t>
            </a:r>
            <a:r>
              <a:rPr dirty="0" baseline="-19607" sz="5100" i="1">
                <a:latin typeface="Times New Roman"/>
                <a:cs typeface="Times New Roman"/>
              </a:rPr>
              <a:t>t</a:t>
            </a:r>
            <a:r>
              <a:rPr dirty="0" baseline="-19607" sz="5100" spc="300" i="1">
                <a:latin typeface="Times New Roman"/>
                <a:cs typeface="Times New Roman"/>
              </a:rPr>
              <a:t> </a:t>
            </a:r>
            <a:r>
              <a:rPr dirty="0" sz="4000">
                <a:latin typeface="Arial"/>
                <a:cs typeface="Arial"/>
              </a:rPr>
              <a:t>over</a:t>
            </a:r>
            <a:r>
              <a:rPr dirty="0" sz="4000" spc="-5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its</a:t>
            </a:r>
            <a:r>
              <a:rPr dirty="0" sz="4000" spc="-60">
                <a:latin typeface="Arial"/>
                <a:cs typeface="Arial"/>
              </a:rPr>
              <a:t> </a:t>
            </a:r>
            <a:r>
              <a:rPr dirty="0" sz="4000" spc="-25">
                <a:latin typeface="Arial"/>
                <a:cs typeface="Arial"/>
              </a:rPr>
              <a:t>own </a:t>
            </a:r>
            <a:r>
              <a:rPr dirty="0" sz="4000">
                <a:latin typeface="Arial"/>
                <a:cs typeface="Arial"/>
              </a:rPr>
              <a:t>lagged</a:t>
            </a:r>
            <a:r>
              <a:rPr dirty="0" sz="4000" spc="1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values</a:t>
            </a:r>
            <a:r>
              <a:rPr dirty="0" sz="4000" spc="15">
                <a:latin typeface="Arial"/>
                <a:cs typeface="Arial"/>
              </a:rPr>
              <a:t> </a:t>
            </a:r>
            <a:r>
              <a:rPr dirty="0" sz="4800" i="1">
                <a:latin typeface="Times New Roman"/>
                <a:cs typeface="Times New Roman"/>
              </a:rPr>
              <a:t>y</a:t>
            </a:r>
            <a:r>
              <a:rPr dirty="0" baseline="-19607" sz="5100" i="1">
                <a:latin typeface="Times New Roman"/>
                <a:cs typeface="Times New Roman"/>
              </a:rPr>
              <a:t>t</a:t>
            </a:r>
            <a:r>
              <a:rPr dirty="0" baseline="-19607" sz="5100">
                <a:latin typeface="Cambria"/>
                <a:cs typeface="Cambria"/>
              </a:rPr>
              <a:t>−1</a:t>
            </a:r>
            <a:r>
              <a:rPr dirty="0" baseline="-19607" sz="5100" spc="555">
                <a:latin typeface="Cambria"/>
                <a:cs typeface="Cambria"/>
              </a:rPr>
              <a:t> </a:t>
            </a:r>
            <a:r>
              <a:rPr dirty="0" sz="4000">
                <a:latin typeface="Arial"/>
                <a:cs typeface="Arial"/>
              </a:rPr>
              <a:t>and</a:t>
            </a:r>
            <a:r>
              <a:rPr dirty="0" sz="4000" spc="10">
                <a:latin typeface="Arial"/>
                <a:cs typeface="Arial"/>
              </a:rPr>
              <a:t> </a:t>
            </a:r>
            <a:r>
              <a:rPr dirty="0" sz="4800" spc="-20" i="1">
                <a:latin typeface="Times New Roman"/>
                <a:cs typeface="Times New Roman"/>
              </a:rPr>
              <a:t>y</a:t>
            </a:r>
            <a:r>
              <a:rPr dirty="0" baseline="-19607" sz="5100" spc="-30" i="1">
                <a:latin typeface="Times New Roman"/>
                <a:cs typeface="Times New Roman"/>
              </a:rPr>
              <a:t>t</a:t>
            </a:r>
            <a:r>
              <a:rPr dirty="0" baseline="-19607" sz="5100" spc="-30">
                <a:latin typeface="Cambria"/>
                <a:cs typeface="Cambria"/>
              </a:rPr>
              <a:t>−2</a:t>
            </a:r>
            <a:endParaRPr baseline="-19607" sz="5100">
              <a:latin typeface="Cambria"/>
              <a:cs typeface="Cambria"/>
            </a:endParaRPr>
          </a:p>
          <a:p>
            <a:pPr marL="533400" marR="2164715" indent="-508000">
              <a:lnSpc>
                <a:spcPts val="4330"/>
              </a:lnSpc>
              <a:spcBef>
                <a:spcPts val="3325"/>
              </a:spcBef>
              <a:buSzPct val="122500"/>
              <a:buChar char="•"/>
              <a:tabLst>
                <a:tab pos="533400" algn="l"/>
              </a:tabLst>
            </a:pPr>
            <a:r>
              <a:rPr dirty="0" sz="4000">
                <a:latin typeface="Arial"/>
                <a:cs typeface="Arial"/>
              </a:rPr>
              <a:t>This</a:t>
            </a:r>
            <a:r>
              <a:rPr dirty="0" sz="4000" spc="-4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is</a:t>
            </a:r>
            <a:r>
              <a:rPr dirty="0" sz="4000" spc="-3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called</a:t>
            </a:r>
            <a:r>
              <a:rPr dirty="0" sz="4000" spc="-3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Lagged</a:t>
            </a:r>
            <a:r>
              <a:rPr dirty="0" sz="4000" spc="-35">
                <a:latin typeface="Arial"/>
                <a:cs typeface="Arial"/>
              </a:rPr>
              <a:t> </a:t>
            </a:r>
            <a:r>
              <a:rPr dirty="0" sz="4000" spc="-10">
                <a:latin typeface="Arial"/>
                <a:cs typeface="Arial"/>
              </a:rPr>
              <a:t>Regression</a:t>
            </a:r>
            <a:r>
              <a:rPr dirty="0" sz="4000" spc="-35">
                <a:latin typeface="Arial"/>
                <a:cs typeface="Arial"/>
              </a:rPr>
              <a:t> </a:t>
            </a:r>
            <a:r>
              <a:rPr dirty="0" sz="4000" spc="-25">
                <a:latin typeface="Arial"/>
                <a:cs typeface="Arial"/>
              </a:rPr>
              <a:t>or </a:t>
            </a:r>
            <a:r>
              <a:rPr dirty="0" sz="4000" spc="-10">
                <a:latin typeface="Arial"/>
                <a:cs typeface="Arial"/>
              </a:rPr>
              <a:t>AutoRegression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56257" y="1297217"/>
            <a:ext cx="11085195" cy="7132320"/>
          </a:xfrm>
          <a:prstGeom prst="rect">
            <a:avLst/>
          </a:prstGeom>
        </p:spPr>
        <p:txBody>
          <a:bodyPr wrap="square" lIns="0" tIns="80645" rIns="0" bIns="0" rtlCol="0" vert="horz">
            <a:spAutoFit/>
          </a:bodyPr>
          <a:lstStyle/>
          <a:p>
            <a:pPr marL="546100" marR="97790" indent="-508000">
              <a:lnSpc>
                <a:spcPts val="4330"/>
              </a:lnSpc>
              <a:spcBef>
                <a:spcPts val="635"/>
              </a:spcBef>
              <a:buSzPct val="122500"/>
              <a:buChar char="•"/>
              <a:tabLst>
                <a:tab pos="546100" algn="l"/>
              </a:tabLst>
            </a:pPr>
            <a:r>
              <a:rPr dirty="0" sz="4000" spc="-10">
                <a:latin typeface="Arial"/>
                <a:cs typeface="Arial"/>
              </a:rPr>
              <a:t>AutoRegression</a:t>
            </a:r>
            <a:r>
              <a:rPr dirty="0" sz="4000" spc="-3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is</a:t>
            </a:r>
            <a:r>
              <a:rPr dirty="0" sz="4000" spc="-3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the</a:t>
            </a:r>
            <a:r>
              <a:rPr dirty="0" sz="4000" spc="-3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main</a:t>
            </a:r>
            <a:r>
              <a:rPr dirty="0" sz="4000" spc="-3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idea</a:t>
            </a:r>
            <a:r>
              <a:rPr dirty="0" sz="4000" spc="-3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behind</a:t>
            </a:r>
            <a:r>
              <a:rPr dirty="0" sz="4000" spc="-35">
                <a:latin typeface="Arial"/>
                <a:cs typeface="Arial"/>
              </a:rPr>
              <a:t> </a:t>
            </a:r>
            <a:r>
              <a:rPr dirty="0" sz="4000" spc="-25">
                <a:latin typeface="Arial"/>
                <a:cs typeface="Arial"/>
              </a:rPr>
              <a:t>the </a:t>
            </a:r>
            <a:r>
              <a:rPr dirty="0" sz="4000">
                <a:latin typeface="Arial"/>
                <a:cs typeface="Arial"/>
              </a:rPr>
              <a:t>ARIMA</a:t>
            </a:r>
            <a:r>
              <a:rPr dirty="0" sz="4000" spc="-1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class</a:t>
            </a:r>
            <a:r>
              <a:rPr dirty="0" sz="4000" spc="-10">
                <a:latin typeface="Arial"/>
                <a:cs typeface="Arial"/>
              </a:rPr>
              <a:t> </a:t>
            </a:r>
            <a:r>
              <a:rPr dirty="0" sz="4000" spc="65">
                <a:latin typeface="Arial"/>
                <a:cs typeface="Arial"/>
              </a:rPr>
              <a:t>of</a:t>
            </a:r>
            <a:r>
              <a:rPr dirty="0" sz="4000" spc="-1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models</a:t>
            </a:r>
            <a:r>
              <a:rPr dirty="0" sz="4000" spc="-1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which</a:t>
            </a:r>
            <a:r>
              <a:rPr dirty="0" sz="4000" spc="-1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are</a:t>
            </a:r>
            <a:r>
              <a:rPr dirty="0" sz="4000" spc="-1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widely</a:t>
            </a:r>
            <a:r>
              <a:rPr dirty="0" sz="4000" spc="-10">
                <a:latin typeface="Arial"/>
                <a:cs typeface="Arial"/>
              </a:rPr>
              <a:t> </a:t>
            </a:r>
            <a:r>
              <a:rPr dirty="0" sz="4000" spc="-20">
                <a:latin typeface="Arial"/>
                <a:cs typeface="Arial"/>
              </a:rPr>
              <a:t>used </a:t>
            </a:r>
            <a:r>
              <a:rPr dirty="0" sz="4000">
                <a:latin typeface="Arial"/>
                <a:cs typeface="Arial"/>
              </a:rPr>
              <a:t>for</a:t>
            </a:r>
            <a:r>
              <a:rPr dirty="0" sz="4000" spc="-1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time</a:t>
            </a:r>
            <a:r>
              <a:rPr dirty="0" sz="4000" spc="-1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series</a:t>
            </a:r>
            <a:r>
              <a:rPr dirty="0" sz="4000" spc="-15">
                <a:latin typeface="Arial"/>
                <a:cs typeface="Arial"/>
              </a:rPr>
              <a:t> </a:t>
            </a:r>
            <a:r>
              <a:rPr dirty="0" sz="4000" spc="-10">
                <a:latin typeface="Arial"/>
                <a:cs typeface="Arial"/>
              </a:rPr>
              <a:t>prediction</a:t>
            </a:r>
            <a:endParaRPr sz="4000">
              <a:latin typeface="Arial"/>
              <a:cs typeface="Arial"/>
            </a:endParaRPr>
          </a:p>
          <a:p>
            <a:pPr marL="546100" marR="379730" indent="-508000">
              <a:lnSpc>
                <a:spcPts val="4330"/>
              </a:lnSpc>
              <a:spcBef>
                <a:spcPts val="3204"/>
              </a:spcBef>
              <a:buSzPct val="122500"/>
              <a:buChar char="•"/>
              <a:tabLst>
                <a:tab pos="546100" algn="l"/>
              </a:tabLst>
            </a:pPr>
            <a:r>
              <a:rPr dirty="0" sz="4000">
                <a:latin typeface="Arial"/>
                <a:cs typeface="Arial"/>
              </a:rPr>
              <a:t>ARIMA</a:t>
            </a:r>
            <a:r>
              <a:rPr dirty="0" sz="4000" spc="-6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stands</a:t>
            </a:r>
            <a:r>
              <a:rPr dirty="0" sz="4000" spc="-6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for</a:t>
            </a:r>
            <a:r>
              <a:rPr dirty="0" sz="4000" spc="-55">
                <a:latin typeface="Arial"/>
                <a:cs typeface="Arial"/>
              </a:rPr>
              <a:t> </a:t>
            </a:r>
            <a:r>
              <a:rPr dirty="0" sz="4000" spc="-20">
                <a:latin typeface="Arial"/>
                <a:cs typeface="Arial"/>
              </a:rPr>
              <a:t>AutoRegressive</a:t>
            </a:r>
            <a:r>
              <a:rPr dirty="0" sz="4000" spc="-60">
                <a:latin typeface="Arial"/>
                <a:cs typeface="Arial"/>
              </a:rPr>
              <a:t> </a:t>
            </a:r>
            <a:r>
              <a:rPr dirty="0" sz="4000" spc="-10">
                <a:latin typeface="Arial"/>
                <a:cs typeface="Arial"/>
              </a:rPr>
              <a:t>Integrated </a:t>
            </a:r>
            <a:r>
              <a:rPr dirty="0" sz="4000">
                <a:latin typeface="Arial"/>
                <a:cs typeface="Arial"/>
              </a:rPr>
              <a:t>Moving</a:t>
            </a:r>
            <a:r>
              <a:rPr dirty="0" sz="4000" spc="15">
                <a:latin typeface="Arial"/>
                <a:cs typeface="Arial"/>
              </a:rPr>
              <a:t> </a:t>
            </a:r>
            <a:r>
              <a:rPr dirty="0" sz="4000" spc="-25">
                <a:latin typeface="Arial"/>
                <a:cs typeface="Arial"/>
              </a:rPr>
              <a:t>Average</a:t>
            </a:r>
            <a:r>
              <a:rPr dirty="0" sz="4000" spc="15">
                <a:latin typeface="Arial"/>
                <a:cs typeface="Arial"/>
              </a:rPr>
              <a:t> </a:t>
            </a:r>
            <a:r>
              <a:rPr dirty="0" sz="4000" spc="-10">
                <a:latin typeface="Arial"/>
                <a:cs typeface="Arial"/>
              </a:rPr>
              <a:t>Models</a:t>
            </a:r>
            <a:endParaRPr sz="4000">
              <a:latin typeface="Arial"/>
              <a:cs typeface="Arial"/>
            </a:endParaRPr>
          </a:p>
          <a:p>
            <a:pPr marL="546100" marR="568325" indent="-508000">
              <a:lnSpc>
                <a:spcPct val="98000"/>
              </a:lnSpc>
              <a:spcBef>
                <a:spcPts val="2760"/>
              </a:spcBef>
              <a:buSzPct val="122500"/>
              <a:buChar char="•"/>
              <a:tabLst>
                <a:tab pos="546100" algn="l"/>
                <a:tab pos="5393055" algn="l"/>
              </a:tabLst>
            </a:pPr>
            <a:r>
              <a:rPr dirty="0" sz="4000">
                <a:latin typeface="Arial"/>
                <a:cs typeface="Arial"/>
              </a:rPr>
              <a:t>The</a:t>
            </a:r>
            <a:r>
              <a:rPr dirty="0" sz="4000" spc="-2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basic</a:t>
            </a:r>
            <a:r>
              <a:rPr dirty="0" sz="4000" spc="-1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idea</a:t>
            </a:r>
            <a:r>
              <a:rPr dirty="0" sz="4000" spc="-1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is</a:t>
            </a:r>
            <a:r>
              <a:rPr dirty="0" sz="4000" spc="-2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simply</a:t>
            </a:r>
            <a:r>
              <a:rPr dirty="0" sz="4000" spc="-15">
                <a:latin typeface="Arial"/>
                <a:cs typeface="Arial"/>
              </a:rPr>
              <a:t> </a:t>
            </a:r>
            <a:r>
              <a:rPr dirty="0" sz="4000" spc="100">
                <a:latin typeface="Arial"/>
                <a:cs typeface="Arial"/>
              </a:rPr>
              <a:t>to</a:t>
            </a:r>
            <a:r>
              <a:rPr dirty="0" sz="4000" spc="-15">
                <a:latin typeface="Arial"/>
                <a:cs typeface="Arial"/>
              </a:rPr>
              <a:t> </a:t>
            </a:r>
            <a:r>
              <a:rPr dirty="0" sz="4000" spc="85">
                <a:latin typeface="Arial"/>
                <a:cs typeface="Arial"/>
              </a:rPr>
              <a:t>do</a:t>
            </a:r>
            <a:r>
              <a:rPr dirty="0" sz="4000" spc="-2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a</a:t>
            </a:r>
            <a:r>
              <a:rPr dirty="0" sz="4000" spc="-15">
                <a:latin typeface="Arial"/>
                <a:cs typeface="Arial"/>
              </a:rPr>
              <a:t> </a:t>
            </a:r>
            <a:r>
              <a:rPr dirty="0" sz="4000" spc="-10">
                <a:latin typeface="Arial"/>
                <a:cs typeface="Arial"/>
              </a:rPr>
              <a:t>linear regression</a:t>
            </a:r>
            <a:r>
              <a:rPr dirty="0" sz="4000" spc="-90">
                <a:latin typeface="Arial"/>
                <a:cs typeface="Arial"/>
              </a:rPr>
              <a:t> </a:t>
            </a:r>
            <a:r>
              <a:rPr dirty="0" sz="4000" spc="65">
                <a:latin typeface="Arial"/>
                <a:cs typeface="Arial"/>
              </a:rPr>
              <a:t>of</a:t>
            </a:r>
            <a:r>
              <a:rPr dirty="0" sz="4000" spc="-90">
                <a:latin typeface="Arial"/>
                <a:cs typeface="Arial"/>
              </a:rPr>
              <a:t> </a:t>
            </a:r>
            <a:r>
              <a:rPr dirty="0" sz="4800" i="1">
                <a:latin typeface="Times New Roman"/>
                <a:cs typeface="Times New Roman"/>
              </a:rPr>
              <a:t>y</a:t>
            </a:r>
            <a:r>
              <a:rPr dirty="0" baseline="-19607" sz="5100" i="1">
                <a:latin typeface="Times New Roman"/>
                <a:cs typeface="Times New Roman"/>
              </a:rPr>
              <a:t>t</a:t>
            </a:r>
            <a:r>
              <a:rPr dirty="0" baseline="-19607" sz="5100" spc="254" i="1">
                <a:latin typeface="Times New Roman"/>
                <a:cs typeface="Times New Roman"/>
              </a:rPr>
              <a:t> </a:t>
            </a:r>
            <a:r>
              <a:rPr dirty="0" sz="4000">
                <a:latin typeface="Arial"/>
                <a:cs typeface="Arial"/>
              </a:rPr>
              <a:t>on</a:t>
            </a:r>
            <a:r>
              <a:rPr dirty="0" sz="4000" spc="-90">
                <a:latin typeface="Arial"/>
                <a:cs typeface="Arial"/>
              </a:rPr>
              <a:t> </a:t>
            </a:r>
            <a:r>
              <a:rPr dirty="0" sz="4800" spc="-25" i="1">
                <a:latin typeface="Times New Roman"/>
                <a:cs typeface="Times New Roman"/>
              </a:rPr>
              <a:t>x</a:t>
            </a:r>
            <a:r>
              <a:rPr dirty="0" baseline="-19607" sz="5100" spc="-37" i="1">
                <a:latin typeface="Times New Roman"/>
                <a:cs typeface="Times New Roman"/>
              </a:rPr>
              <a:t>t</a:t>
            </a:r>
            <a:r>
              <a:rPr dirty="0" baseline="-19607" sz="5100" i="1">
                <a:latin typeface="Times New Roman"/>
                <a:cs typeface="Times New Roman"/>
              </a:rPr>
              <a:t>	</a:t>
            </a:r>
            <a:r>
              <a:rPr dirty="0" sz="4800" spc="635">
                <a:latin typeface="Cambria"/>
                <a:cs typeface="Cambria"/>
              </a:rPr>
              <a:t>=</a:t>
            </a:r>
            <a:r>
              <a:rPr dirty="0" sz="4800" spc="320">
                <a:latin typeface="Cambria"/>
                <a:cs typeface="Cambria"/>
              </a:rPr>
              <a:t> </a:t>
            </a:r>
            <a:r>
              <a:rPr dirty="0" sz="4800">
                <a:latin typeface="Cambria"/>
                <a:cs typeface="Cambria"/>
              </a:rPr>
              <a:t>(1,</a:t>
            </a:r>
            <a:r>
              <a:rPr dirty="0" sz="4800" i="1">
                <a:latin typeface="Times New Roman"/>
                <a:cs typeface="Times New Roman"/>
              </a:rPr>
              <a:t>y</a:t>
            </a:r>
            <a:r>
              <a:rPr dirty="0" baseline="-19607" sz="5100" i="1">
                <a:latin typeface="Times New Roman"/>
                <a:cs typeface="Times New Roman"/>
              </a:rPr>
              <a:t>t</a:t>
            </a:r>
            <a:r>
              <a:rPr dirty="0" baseline="-19607" sz="5100">
                <a:latin typeface="Cambria"/>
                <a:cs typeface="Cambria"/>
              </a:rPr>
              <a:t>−1</a:t>
            </a:r>
            <a:r>
              <a:rPr dirty="0" sz="4800">
                <a:latin typeface="Cambria"/>
                <a:cs typeface="Cambria"/>
              </a:rPr>
              <a:t>,</a:t>
            </a:r>
            <a:r>
              <a:rPr dirty="0" sz="4800" spc="-235">
                <a:latin typeface="Cambria"/>
                <a:cs typeface="Cambria"/>
              </a:rPr>
              <a:t> </a:t>
            </a:r>
            <a:r>
              <a:rPr dirty="0" sz="4800" spc="700">
                <a:latin typeface="Cambria"/>
                <a:cs typeface="Cambria"/>
              </a:rPr>
              <a:t>…,</a:t>
            </a:r>
            <a:r>
              <a:rPr dirty="0" sz="4800" spc="-229">
                <a:latin typeface="Cambria"/>
                <a:cs typeface="Cambria"/>
              </a:rPr>
              <a:t> </a:t>
            </a:r>
            <a:r>
              <a:rPr dirty="0" sz="4800" i="1">
                <a:latin typeface="Times New Roman"/>
                <a:cs typeface="Times New Roman"/>
              </a:rPr>
              <a:t>y</a:t>
            </a:r>
            <a:r>
              <a:rPr dirty="0" baseline="-19607" sz="5100" i="1">
                <a:latin typeface="Times New Roman"/>
                <a:cs typeface="Times New Roman"/>
              </a:rPr>
              <a:t>t</a:t>
            </a:r>
            <a:r>
              <a:rPr dirty="0" baseline="-19607" sz="5100">
                <a:latin typeface="Cambria"/>
                <a:cs typeface="Cambria"/>
              </a:rPr>
              <a:t>−</a:t>
            </a:r>
            <a:r>
              <a:rPr dirty="0" baseline="-19607" sz="5100" i="1">
                <a:latin typeface="Times New Roman"/>
                <a:cs typeface="Times New Roman"/>
              </a:rPr>
              <a:t>p</a:t>
            </a:r>
            <a:r>
              <a:rPr dirty="0" sz="4800">
                <a:latin typeface="Cambria"/>
                <a:cs typeface="Cambria"/>
              </a:rPr>
              <a:t>)</a:t>
            </a:r>
            <a:r>
              <a:rPr dirty="0" sz="4800" spc="85">
                <a:latin typeface="Cambria"/>
                <a:cs typeface="Cambria"/>
              </a:rPr>
              <a:t> </a:t>
            </a:r>
            <a:r>
              <a:rPr dirty="0" sz="4000" spc="-25">
                <a:latin typeface="Arial"/>
                <a:cs typeface="Arial"/>
              </a:rPr>
              <a:t>for </a:t>
            </a:r>
            <a:r>
              <a:rPr dirty="0" sz="4000">
                <a:latin typeface="Arial"/>
                <a:cs typeface="Arial"/>
              </a:rPr>
              <a:t>some</a:t>
            </a:r>
            <a:r>
              <a:rPr dirty="0" sz="4000" spc="3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fixed</a:t>
            </a:r>
            <a:r>
              <a:rPr dirty="0" sz="4000" spc="3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lag</a:t>
            </a:r>
            <a:r>
              <a:rPr dirty="0" sz="4000" spc="30">
                <a:latin typeface="Arial"/>
                <a:cs typeface="Arial"/>
              </a:rPr>
              <a:t> </a:t>
            </a:r>
            <a:r>
              <a:rPr dirty="0" sz="4800" i="1">
                <a:latin typeface="Times New Roman"/>
                <a:cs typeface="Times New Roman"/>
              </a:rPr>
              <a:t>p</a:t>
            </a:r>
            <a:r>
              <a:rPr dirty="0" sz="4800" spc="175" i="1">
                <a:latin typeface="Times New Roman"/>
                <a:cs typeface="Times New Roman"/>
              </a:rPr>
              <a:t> </a:t>
            </a:r>
            <a:r>
              <a:rPr dirty="0" sz="4800" spc="635">
                <a:latin typeface="Cambria"/>
                <a:cs typeface="Cambria"/>
              </a:rPr>
              <a:t>≥</a:t>
            </a:r>
            <a:r>
              <a:rPr dirty="0" sz="4800" spc="320">
                <a:latin typeface="Cambria"/>
                <a:cs typeface="Cambria"/>
              </a:rPr>
              <a:t> </a:t>
            </a:r>
            <a:r>
              <a:rPr dirty="0" sz="4800" spc="-320">
                <a:latin typeface="Cambria"/>
                <a:cs typeface="Cambria"/>
              </a:rPr>
              <a:t>1</a:t>
            </a:r>
            <a:endParaRPr sz="4800">
              <a:latin typeface="Cambria"/>
              <a:cs typeface="Cambria"/>
            </a:endParaRPr>
          </a:p>
          <a:p>
            <a:pPr marL="546100" marR="30480" indent="-508000">
              <a:lnSpc>
                <a:spcPts val="4330"/>
              </a:lnSpc>
              <a:spcBef>
                <a:spcPts val="3215"/>
              </a:spcBef>
              <a:buSzPct val="122500"/>
              <a:buChar char="•"/>
              <a:tabLst>
                <a:tab pos="546100" algn="l"/>
              </a:tabLst>
            </a:pPr>
            <a:r>
              <a:rPr dirty="0" sz="4000">
                <a:latin typeface="Arial"/>
                <a:cs typeface="Arial"/>
              </a:rPr>
              <a:t>ARIMA</a:t>
            </a:r>
            <a:r>
              <a:rPr dirty="0" sz="4000" spc="7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models</a:t>
            </a:r>
            <a:r>
              <a:rPr dirty="0" sz="4000" spc="7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give</a:t>
            </a:r>
            <a:r>
              <a:rPr dirty="0" sz="4000" spc="7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decent</a:t>
            </a:r>
            <a:r>
              <a:rPr dirty="0" sz="4000" spc="7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predictions</a:t>
            </a:r>
            <a:r>
              <a:rPr dirty="0" sz="4000" spc="7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on</a:t>
            </a:r>
            <a:r>
              <a:rPr dirty="0" sz="4000" spc="70">
                <a:latin typeface="Arial"/>
                <a:cs typeface="Arial"/>
              </a:rPr>
              <a:t> </a:t>
            </a:r>
            <a:r>
              <a:rPr dirty="0" sz="4000" spc="-20">
                <a:latin typeface="Arial"/>
                <a:cs typeface="Arial"/>
              </a:rPr>
              <a:t>real </a:t>
            </a:r>
            <a:r>
              <a:rPr dirty="0" sz="4000">
                <a:latin typeface="Arial"/>
                <a:cs typeface="Arial"/>
              </a:rPr>
              <a:t>datasets</a:t>
            </a:r>
            <a:r>
              <a:rPr dirty="0" sz="4000" spc="-1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and</a:t>
            </a:r>
            <a:r>
              <a:rPr dirty="0" sz="4000" spc="-1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are</a:t>
            </a:r>
            <a:r>
              <a:rPr dirty="0" sz="4000" spc="-1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used</a:t>
            </a:r>
            <a:r>
              <a:rPr dirty="0" sz="4000" spc="-15">
                <a:latin typeface="Arial"/>
                <a:cs typeface="Arial"/>
              </a:rPr>
              <a:t> </a:t>
            </a:r>
            <a:r>
              <a:rPr dirty="0" sz="4000" spc="-10">
                <a:latin typeface="Arial"/>
                <a:cs typeface="Arial"/>
              </a:rPr>
              <a:t>extensively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/>
          <p:nvPr/>
        </p:nvSpPr>
        <p:spPr>
          <a:xfrm>
            <a:off x="736600" y="249606"/>
            <a:ext cx="7242175" cy="9309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5950" spc="-80" b="1">
                <a:latin typeface="Arial"/>
                <a:cs typeface="Arial"/>
              </a:rPr>
              <a:t>ARIMA</a:t>
            </a:r>
            <a:r>
              <a:rPr dirty="0" sz="5950" spc="-305" b="1">
                <a:latin typeface="Arial"/>
                <a:cs typeface="Arial"/>
              </a:rPr>
              <a:t> </a:t>
            </a:r>
            <a:r>
              <a:rPr dirty="0" sz="5950" spc="-135" b="1">
                <a:latin typeface="Arial"/>
                <a:cs typeface="Arial"/>
              </a:rPr>
              <a:t>Example</a:t>
            </a:r>
            <a:r>
              <a:rPr dirty="0" sz="5950" spc="-275" b="1">
                <a:latin typeface="Arial"/>
                <a:cs typeface="Arial"/>
              </a:rPr>
              <a:t> </a:t>
            </a:r>
            <a:r>
              <a:rPr dirty="0" sz="5950" spc="-30" b="1">
                <a:latin typeface="Arial"/>
                <a:cs typeface="Arial"/>
              </a:rPr>
              <a:t>One</a:t>
            </a:r>
            <a:endParaRPr sz="595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700" y="3360142"/>
            <a:ext cx="12509500" cy="61595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34606" y="1629892"/>
            <a:ext cx="11668125" cy="895350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12700" marR="5080">
              <a:lnSpc>
                <a:spcPts val="3250"/>
              </a:lnSpc>
              <a:spcBef>
                <a:spcPts val="500"/>
              </a:spcBef>
            </a:pPr>
            <a:r>
              <a:rPr dirty="0" sz="3000" spc="-95">
                <a:latin typeface="Arial"/>
                <a:cs typeface="Arial"/>
              </a:rPr>
              <a:t>FRED</a:t>
            </a:r>
            <a:r>
              <a:rPr dirty="0" sz="3000" spc="-5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data on GNP </a:t>
            </a:r>
            <a:r>
              <a:rPr dirty="0" sz="3000" spc="-30">
                <a:latin typeface="Arial"/>
                <a:cs typeface="Arial"/>
              </a:rPr>
              <a:t>(seasonally</a:t>
            </a:r>
            <a:r>
              <a:rPr dirty="0" sz="3000">
                <a:latin typeface="Arial"/>
                <a:cs typeface="Arial"/>
              </a:rPr>
              <a:t> adjusted, billions</a:t>
            </a:r>
            <a:r>
              <a:rPr dirty="0" sz="3000" spc="-5">
                <a:latin typeface="Arial"/>
                <a:cs typeface="Arial"/>
              </a:rPr>
              <a:t> </a:t>
            </a:r>
            <a:r>
              <a:rPr dirty="0" sz="3000" spc="50">
                <a:latin typeface="Arial"/>
                <a:cs typeface="Arial"/>
              </a:rPr>
              <a:t>of</a:t>
            </a:r>
            <a:r>
              <a:rPr dirty="0" sz="3000">
                <a:latin typeface="Arial"/>
                <a:cs typeface="Arial"/>
              </a:rPr>
              <a:t> dollars). This is </a:t>
            </a:r>
            <a:r>
              <a:rPr dirty="0" sz="3000" spc="-50">
                <a:latin typeface="Arial"/>
                <a:cs typeface="Arial"/>
              </a:rPr>
              <a:t>a </a:t>
            </a:r>
            <a:r>
              <a:rPr dirty="0" sz="3000">
                <a:latin typeface="Arial"/>
                <a:cs typeface="Arial"/>
              </a:rPr>
              <a:t>quarterly</a:t>
            </a:r>
            <a:r>
              <a:rPr dirty="0" sz="3000" spc="2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dataset</a:t>
            </a:r>
            <a:r>
              <a:rPr dirty="0" sz="3000" spc="25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(four</a:t>
            </a:r>
            <a:r>
              <a:rPr dirty="0" sz="3000" spc="2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quarters</a:t>
            </a:r>
            <a:r>
              <a:rPr dirty="0" sz="3000" spc="2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in</a:t>
            </a:r>
            <a:r>
              <a:rPr dirty="0" sz="3000" spc="25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a</a:t>
            </a:r>
            <a:r>
              <a:rPr dirty="0" sz="3000" spc="20">
                <a:latin typeface="Arial"/>
                <a:cs typeface="Arial"/>
              </a:rPr>
              <a:t> </a:t>
            </a:r>
            <a:r>
              <a:rPr dirty="0" sz="3000" spc="-10">
                <a:latin typeface="Arial"/>
                <a:cs typeface="Arial"/>
              </a:rPr>
              <a:t>year).</a:t>
            </a:r>
            <a:endParaRPr sz="3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34606" y="885267"/>
            <a:ext cx="11655425" cy="895350"/>
          </a:xfrm>
          <a:prstGeom prst="rect"/>
        </p:spPr>
        <p:txBody>
          <a:bodyPr wrap="square" lIns="0" tIns="63500" rIns="0" bIns="0" rtlCol="0" vert="horz">
            <a:spAutoFit/>
          </a:bodyPr>
          <a:lstStyle/>
          <a:p>
            <a:pPr marL="12700" marR="5080">
              <a:lnSpc>
                <a:spcPts val="3250"/>
              </a:lnSpc>
              <a:spcBef>
                <a:spcPts val="500"/>
              </a:spcBef>
            </a:pPr>
            <a:r>
              <a:rPr dirty="0" sz="3000" spc="-10" b="0">
                <a:latin typeface="Arial"/>
                <a:cs typeface="Arial"/>
              </a:rPr>
              <a:t>Here</a:t>
            </a:r>
            <a:r>
              <a:rPr dirty="0" sz="3000" spc="30" b="0">
                <a:latin typeface="Arial"/>
                <a:cs typeface="Arial"/>
              </a:rPr>
              <a:t> </a:t>
            </a:r>
            <a:r>
              <a:rPr dirty="0" sz="3000" b="0">
                <a:latin typeface="Arial"/>
                <a:cs typeface="Arial"/>
              </a:rPr>
              <a:t>are</a:t>
            </a:r>
            <a:r>
              <a:rPr dirty="0" sz="3000" spc="30" b="0">
                <a:latin typeface="Arial"/>
                <a:cs typeface="Arial"/>
              </a:rPr>
              <a:t> </a:t>
            </a:r>
            <a:r>
              <a:rPr dirty="0" sz="3000" b="0">
                <a:latin typeface="Arial"/>
                <a:cs typeface="Arial"/>
              </a:rPr>
              <a:t>the</a:t>
            </a:r>
            <a:r>
              <a:rPr dirty="0" sz="3000" spc="35" b="0">
                <a:latin typeface="Arial"/>
                <a:cs typeface="Arial"/>
              </a:rPr>
              <a:t> </a:t>
            </a:r>
            <a:r>
              <a:rPr dirty="0" sz="3000" b="0">
                <a:latin typeface="Arial"/>
                <a:cs typeface="Arial"/>
              </a:rPr>
              <a:t>predictions</a:t>
            </a:r>
            <a:r>
              <a:rPr dirty="0" sz="3000" spc="30" b="0">
                <a:latin typeface="Arial"/>
                <a:cs typeface="Arial"/>
              </a:rPr>
              <a:t> </a:t>
            </a:r>
            <a:r>
              <a:rPr dirty="0" sz="3000" b="0">
                <a:latin typeface="Arial"/>
                <a:cs typeface="Arial"/>
              </a:rPr>
              <a:t>given</a:t>
            </a:r>
            <a:r>
              <a:rPr dirty="0" sz="3000" spc="35" b="0">
                <a:latin typeface="Arial"/>
                <a:cs typeface="Arial"/>
              </a:rPr>
              <a:t> </a:t>
            </a:r>
            <a:r>
              <a:rPr dirty="0" sz="3000" b="0">
                <a:latin typeface="Arial"/>
                <a:cs typeface="Arial"/>
              </a:rPr>
              <a:t>by</a:t>
            </a:r>
            <a:r>
              <a:rPr dirty="0" sz="3000" spc="30" b="0">
                <a:latin typeface="Arial"/>
                <a:cs typeface="Arial"/>
              </a:rPr>
              <a:t> </a:t>
            </a:r>
            <a:r>
              <a:rPr dirty="0" sz="3000" b="0">
                <a:latin typeface="Arial"/>
                <a:cs typeface="Arial"/>
              </a:rPr>
              <a:t>an</a:t>
            </a:r>
            <a:r>
              <a:rPr dirty="0" sz="3000" spc="30" b="0">
                <a:latin typeface="Arial"/>
                <a:cs typeface="Arial"/>
              </a:rPr>
              <a:t> </a:t>
            </a:r>
            <a:r>
              <a:rPr dirty="0" sz="3000" b="0">
                <a:latin typeface="Arial"/>
                <a:cs typeface="Arial"/>
              </a:rPr>
              <a:t>AR</a:t>
            </a:r>
            <a:r>
              <a:rPr dirty="0" sz="3000" spc="35" b="0">
                <a:latin typeface="Arial"/>
                <a:cs typeface="Arial"/>
              </a:rPr>
              <a:t> </a:t>
            </a:r>
            <a:r>
              <a:rPr dirty="0" sz="3000" b="0">
                <a:latin typeface="Arial"/>
                <a:cs typeface="Arial"/>
              </a:rPr>
              <a:t>model</a:t>
            </a:r>
            <a:r>
              <a:rPr dirty="0" sz="3000" spc="30" b="0">
                <a:latin typeface="Arial"/>
                <a:cs typeface="Arial"/>
              </a:rPr>
              <a:t> </a:t>
            </a:r>
            <a:r>
              <a:rPr dirty="0" sz="3000" b="0">
                <a:latin typeface="Arial"/>
                <a:cs typeface="Arial"/>
              </a:rPr>
              <a:t>for</a:t>
            </a:r>
            <a:r>
              <a:rPr dirty="0" sz="3000" spc="35" b="0">
                <a:latin typeface="Arial"/>
                <a:cs typeface="Arial"/>
              </a:rPr>
              <a:t> </a:t>
            </a:r>
            <a:r>
              <a:rPr dirty="0" sz="3000" b="0">
                <a:latin typeface="Arial"/>
                <a:cs typeface="Arial"/>
              </a:rPr>
              <a:t>the</a:t>
            </a:r>
            <a:r>
              <a:rPr dirty="0" sz="3000" spc="30" b="0">
                <a:latin typeface="Arial"/>
                <a:cs typeface="Arial"/>
              </a:rPr>
              <a:t> </a:t>
            </a:r>
            <a:r>
              <a:rPr dirty="0" sz="3000" b="0">
                <a:latin typeface="Arial"/>
                <a:cs typeface="Arial"/>
              </a:rPr>
              <a:t>last</a:t>
            </a:r>
            <a:r>
              <a:rPr dirty="0" sz="3000" spc="30" b="0">
                <a:latin typeface="Arial"/>
                <a:cs typeface="Arial"/>
              </a:rPr>
              <a:t> </a:t>
            </a:r>
            <a:r>
              <a:rPr dirty="0" sz="3000" b="0">
                <a:latin typeface="Arial"/>
                <a:cs typeface="Arial"/>
              </a:rPr>
              <a:t>four</a:t>
            </a:r>
            <a:r>
              <a:rPr dirty="0" sz="3000" spc="35" b="0">
                <a:latin typeface="Arial"/>
                <a:cs typeface="Arial"/>
              </a:rPr>
              <a:t> </a:t>
            </a:r>
            <a:r>
              <a:rPr dirty="0" sz="3000" spc="-10" b="0">
                <a:latin typeface="Arial"/>
                <a:cs typeface="Arial"/>
              </a:rPr>
              <a:t>years </a:t>
            </a:r>
            <a:r>
              <a:rPr dirty="0" sz="3000" b="0">
                <a:latin typeface="Arial"/>
                <a:cs typeface="Arial"/>
              </a:rPr>
              <a:t>(=</a:t>
            </a:r>
            <a:r>
              <a:rPr dirty="0" sz="3000" spc="-100" b="0">
                <a:latin typeface="Arial"/>
                <a:cs typeface="Arial"/>
              </a:rPr>
              <a:t> </a:t>
            </a:r>
            <a:r>
              <a:rPr dirty="0" sz="3000" b="0">
                <a:latin typeface="Arial"/>
                <a:cs typeface="Arial"/>
              </a:rPr>
              <a:t>16</a:t>
            </a:r>
            <a:r>
              <a:rPr dirty="0" sz="3000" spc="-95" b="0">
                <a:latin typeface="Arial"/>
                <a:cs typeface="Arial"/>
              </a:rPr>
              <a:t> </a:t>
            </a:r>
            <a:r>
              <a:rPr dirty="0" sz="3000" spc="-10" b="0">
                <a:latin typeface="Arial"/>
                <a:cs typeface="Arial"/>
              </a:rPr>
              <a:t>quarters).</a:t>
            </a:r>
            <a:endParaRPr sz="30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700" y="2444055"/>
            <a:ext cx="12509500" cy="71374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7800" y="2808138"/>
            <a:ext cx="12674600" cy="66421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34606" y="1502892"/>
            <a:ext cx="11634470" cy="895350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12700" marR="5080">
              <a:lnSpc>
                <a:spcPts val="3250"/>
              </a:lnSpc>
              <a:spcBef>
                <a:spcPts val="500"/>
              </a:spcBef>
            </a:pPr>
            <a:r>
              <a:rPr dirty="0" sz="3000" spc="-95">
                <a:latin typeface="Arial"/>
                <a:cs typeface="Arial"/>
              </a:rPr>
              <a:t>FRED</a:t>
            </a:r>
            <a:r>
              <a:rPr dirty="0" sz="3000" spc="-5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data on</a:t>
            </a:r>
            <a:r>
              <a:rPr dirty="0" sz="3000" spc="-5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monthly retail sales</a:t>
            </a:r>
            <a:r>
              <a:rPr dirty="0" sz="3000" spc="-5">
                <a:latin typeface="Arial"/>
                <a:cs typeface="Arial"/>
              </a:rPr>
              <a:t> </a:t>
            </a:r>
            <a:r>
              <a:rPr dirty="0" sz="3000" spc="-20">
                <a:latin typeface="Arial"/>
                <a:cs typeface="Arial"/>
              </a:rPr>
              <a:t>(in</a:t>
            </a:r>
            <a:r>
              <a:rPr dirty="0" sz="3000">
                <a:latin typeface="Arial"/>
                <a:cs typeface="Arial"/>
              </a:rPr>
              <a:t> millions</a:t>
            </a:r>
            <a:r>
              <a:rPr dirty="0" sz="3000" spc="-5">
                <a:latin typeface="Arial"/>
                <a:cs typeface="Arial"/>
              </a:rPr>
              <a:t> </a:t>
            </a:r>
            <a:r>
              <a:rPr dirty="0" sz="3000" spc="50">
                <a:latin typeface="Arial"/>
                <a:cs typeface="Arial"/>
              </a:rPr>
              <a:t>of</a:t>
            </a:r>
            <a:r>
              <a:rPr dirty="0" sz="3000">
                <a:latin typeface="Arial"/>
                <a:cs typeface="Arial"/>
              </a:rPr>
              <a:t> dollars) for</a:t>
            </a:r>
            <a:r>
              <a:rPr dirty="0" sz="3000" spc="-5">
                <a:latin typeface="Arial"/>
                <a:cs typeface="Arial"/>
              </a:rPr>
              <a:t> </a:t>
            </a:r>
            <a:r>
              <a:rPr dirty="0" sz="3000" spc="-10">
                <a:latin typeface="Arial"/>
                <a:cs typeface="Arial"/>
              </a:rPr>
              <a:t>beer, </a:t>
            </a:r>
            <a:r>
              <a:rPr dirty="0" sz="3000">
                <a:latin typeface="Arial"/>
                <a:cs typeface="Arial"/>
              </a:rPr>
              <a:t>wine</a:t>
            </a:r>
            <a:r>
              <a:rPr dirty="0" sz="3000" spc="55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and</a:t>
            </a:r>
            <a:r>
              <a:rPr dirty="0" sz="3000" spc="6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liquor</a:t>
            </a:r>
            <a:r>
              <a:rPr dirty="0" sz="3000" spc="6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stores</a:t>
            </a:r>
            <a:r>
              <a:rPr dirty="0" sz="3000" spc="55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(typo</a:t>
            </a:r>
            <a:r>
              <a:rPr dirty="0" sz="3000" spc="6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on</a:t>
            </a:r>
            <a:r>
              <a:rPr dirty="0" sz="3000" spc="6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axis</a:t>
            </a:r>
            <a:r>
              <a:rPr dirty="0" sz="3000" spc="55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label:</a:t>
            </a:r>
            <a:r>
              <a:rPr dirty="0" sz="3000" spc="6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should</a:t>
            </a:r>
            <a:r>
              <a:rPr dirty="0" sz="3000" spc="6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be</a:t>
            </a:r>
            <a:r>
              <a:rPr dirty="0" sz="3000" spc="55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month</a:t>
            </a:r>
            <a:r>
              <a:rPr dirty="0" sz="3000" spc="60">
                <a:latin typeface="Arial"/>
                <a:cs typeface="Arial"/>
              </a:rPr>
              <a:t> </a:t>
            </a:r>
            <a:r>
              <a:rPr dirty="0" sz="3000" spc="55">
                <a:latin typeface="Arial"/>
                <a:cs typeface="Arial"/>
              </a:rPr>
              <a:t>not</a:t>
            </a:r>
            <a:r>
              <a:rPr dirty="0" sz="3000" spc="60">
                <a:latin typeface="Arial"/>
                <a:cs typeface="Arial"/>
              </a:rPr>
              <a:t> </a:t>
            </a:r>
            <a:r>
              <a:rPr dirty="0" sz="3000" spc="-20">
                <a:latin typeface="Arial"/>
                <a:cs typeface="Arial"/>
              </a:rPr>
              <a:t>year)</a:t>
            </a:r>
            <a:endParaRPr sz="3000">
              <a:latin typeface="Arial"/>
              <a:cs typeface="Arial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80"/>
              <a:t>ARIMA</a:t>
            </a:r>
            <a:r>
              <a:rPr dirty="0" spc="-305"/>
              <a:t> </a:t>
            </a:r>
            <a:r>
              <a:rPr dirty="0" spc="-135"/>
              <a:t>Example</a:t>
            </a:r>
            <a:r>
              <a:rPr dirty="0" spc="-275"/>
              <a:t> </a:t>
            </a:r>
            <a:r>
              <a:rPr dirty="0" spc="-755"/>
              <a:t>T</a:t>
            </a:r>
            <a:r>
              <a:rPr dirty="0" spc="-110"/>
              <a:t>w</a:t>
            </a:r>
            <a:r>
              <a:rPr dirty="0" spc="10"/>
              <a:t>o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9400" y="2313285"/>
            <a:ext cx="12496800" cy="71374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34606" y="885267"/>
            <a:ext cx="10546715" cy="895350"/>
          </a:xfrm>
          <a:prstGeom prst="rect"/>
        </p:spPr>
        <p:txBody>
          <a:bodyPr wrap="square" lIns="0" tIns="63500" rIns="0" bIns="0" rtlCol="0" vert="horz">
            <a:spAutoFit/>
          </a:bodyPr>
          <a:lstStyle/>
          <a:p>
            <a:pPr marL="12700" marR="5080">
              <a:lnSpc>
                <a:spcPts val="3250"/>
              </a:lnSpc>
              <a:spcBef>
                <a:spcPts val="500"/>
              </a:spcBef>
            </a:pPr>
            <a:r>
              <a:rPr dirty="0" sz="3000" b="0">
                <a:latin typeface="Arial"/>
                <a:cs typeface="Arial"/>
              </a:rPr>
              <a:t>Below</a:t>
            </a:r>
            <a:r>
              <a:rPr dirty="0" sz="3000" spc="95" b="0">
                <a:latin typeface="Arial"/>
                <a:cs typeface="Arial"/>
              </a:rPr>
              <a:t> </a:t>
            </a:r>
            <a:r>
              <a:rPr dirty="0" sz="3000" b="0">
                <a:latin typeface="Arial"/>
                <a:cs typeface="Arial"/>
              </a:rPr>
              <a:t>we</a:t>
            </a:r>
            <a:r>
              <a:rPr dirty="0" sz="3000" spc="95" b="0">
                <a:latin typeface="Arial"/>
                <a:cs typeface="Arial"/>
              </a:rPr>
              <a:t> </a:t>
            </a:r>
            <a:r>
              <a:rPr dirty="0" sz="3000" spc="60" b="0">
                <a:latin typeface="Arial"/>
                <a:cs typeface="Arial"/>
              </a:rPr>
              <a:t>plot</a:t>
            </a:r>
            <a:r>
              <a:rPr dirty="0" sz="3000" spc="95" b="0">
                <a:latin typeface="Arial"/>
                <a:cs typeface="Arial"/>
              </a:rPr>
              <a:t> </a:t>
            </a:r>
            <a:r>
              <a:rPr dirty="0" sz="3000" b="0">
                <a:latin typeface="Arial"/>
                <a:cs typeface="Arial"/>
              </a:rPr>
              <a:t>the</a:t>
            </a:r>
            <a:r>
              <a:rPr dirty="0" sz="3000" spc="95" b="0">
                <a:latin typeface="Arial"/>
                <a:cs typeface="Arial"/>
              </a:rPr>
              <a:t> </a:t>
            </a:r>
            <a:r>
              <a:rPr dirty="0" sz="3000" b="0">
                <a:latin typeface="Arial"/>
                <a:cs typeface="Arial"/>
              </a:rPr>
              <a:t>data</a:t>
            </a:r>
            <a:r>
              <a:rPr dirty="0" sz="3000" spc="95" b="0">
                <a:latin typeface="Arial"/>
                <a:cs typeface="Arial"/>
              </a:rPr>
              <a:t> </a:t>
            </a:r>
            <a:r>
              <a:rPr dirty="0" sz="3000" b="0">
                <a:latin typeface="Arial"/>
                <a:cs typeface="Arial"/>
              </a:rPr>
              <a:t>along</a:t>
            </a:r>
            <a:r>
              <a:rPr dirty="0" sz="3000" spc="95" b="0">
                <a:latin typeface="Arial"/>
                <a:cs typeface="Arial"/>
              </a:rPr>
              <a:t> </a:t>
            </a:r>
            <a:r>
              <a:rPr dirty="0" sz="3000" spc="50" b="0">
                <a:latin typeface="Arial"/>
                <a:cs typeface="Arial"/>
              </a:rPr>
              <a:t>with</a:t>
            </a:r>
            <a:r>
              <a:rPr dirty="0" sz="3000" spc="95" b="0">
                <a:latin typeface="Arial"/>
                <a:cs typeface="Arial"/>
              </a:rPr>
              <a:t> </a:t>
            </a:r>
            <a:r>
              <a:rPr dirty="0" sz="3000" b="0">
                <a:latin typeface="Arial"/>
                <a:cs typeface="Arial"/>
              </a:rPr>
              <a:t>predictions</a:t>
            </a:r>
            <a:r>
              <a:rPr dirty="0" sz="3000" spc="95" b="0">
                <a:latin typeface="Arial"/>
                <a:cs typeface="Arial"/>
              </a:rPr>
              <a:t> </a:t>
            </a:r>
            <a:r>
              <a:rPr dirty="0" sz="3000" b="0">
                <a:latin typeface="Arial"/>
                <a:cs typeface="Arial"/>
              </a:rPr>
              <a:t>by</a:t>
            </a:r>
            <a:r>
              <a:rPr dirty="0" sz="3000" spc="100" b="0">
                <a:latin typeface="Arial"/>
                <a:cs typeface="Arial"/>
              </a:rPr>
              <a:t> </a:t>
            </a:r>
            <a:r>
              <a:rPr dirty="0" sz="3000" spc="75" b="0">
                <a:latin typeface="Arial"/>
                <a:cs typeface="Arial"/>
              </a:rPr>
              <a:t>two</a:t>
            </a:r>
            <a:r>
              <a:rPr dirty="0" sz="3000" spc="95" b="0">
                <a:latin typeface="Arial"/>
                <a:cs typeface="Arial"/>
              </a:rPr>
              <a:t> </a:t>
            </a:r>
            <a:r>
              <a:rPr dirty="0" sz="3000" spc="-10" b="0">
                <a:latin typeface="Arial"/>
                <a:cs typeface="Arial"/>
              </a:rPr>
              <a:t>diﬀerent </a:t>
            </a:r>
            <a:r>
              <a:rPr dirty="0" sz="3000" b="0">
                <a:latin typeface="Arial"/>
                <a:cs typeface="Arial"/>
              </a:rPr>
              <a:t>ARIMA</a:t>
            </a:r>
            <a:r>
              <a:rPr dirty="0" sz="3000" spc="-190" b="0">
                <a:latin typeface="Arial"/>
                <a:cs typeface="Arial"/>
              </a:rPr>
              <a:t> </a:t>
            </a:r>
            <a:r>
              <a:rPr dirty="0" sz="3000" spc="-10" b="0">
                <a:latin typeface="Arial"/>
                <a:cs typeface="Arial"/>
              </a:rPr>
              <a:t>models</a:t>
            </a:r>
            <a:endParaRPr sz="3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3700" y="1299071"/>
            <a:ext cx="12255500" cy="8378361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36600" y="135306"/>
            <a:ext cx="9995535" cy="930910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819"/>
              <a:t>T</a:t>
            </a:r>
            <a:r>
              <a:rPr dirty="0" spc="-155"/>
              <a:t>op</a:t>
            </a:r>
            <a:r>
              <a:rPr dirty="0" spc="-165"/>
              <a:t>i</a:t>
            </a:r>
            <a:r>
              <a:rPr dirty="0" spc="-30"/>
              <a:t>c</a:t>
            </a:r>
            <a:r>
              <a:rPr dirty="0" spc="-240"/>
              <a:t> </a:t>
            </a:r>
            <a:r>
              <a:rPr dirty="0" spc="-285"/>
              <a:t>Six:</a:t>
            </a:r>
            <a:r>
              <a:rPr dirty="0" spc="-240"/>
              <a:t> </a:t>
            </a:r>
            <a:r>
              <a:rPr dirty="0" spc="-160"/>
              <a:t>Vector</a:t>
            </a:r>
            <a:r>
              <a:rPr dirty="0" spc="-254"/>
              <a:t> </a:t>
            </a:r>
            <a:r>
              <a:rPr dirty="0" spc="-65"/>
              <a:t>Time</a:t>
            </a:r>
            <a:r>
              <a:rPr dirty="0" spc="-310"/>
              <a:t> </a:t>
            </a:r>
            <a:r>
              <a:rPr dirty="0" spc="-70"/>
              <a:t>Series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36600" y="-29793"/>
            <a:ext cx="9995535" cy="930910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pc="-819"/>
              <a:t>T</a:t>
            </a:r>
            <a:r>
              <a:rPr dirty="0" spc="-155"/>
              <a:t>op</a:t>
            </a:r>
            <a:r>
              <a:rPr dirty="0" spc="-165"/>
              <a:t>i</a:t>
            </a:r>
            <a:r>
              <a:rPr dirty="0" spc="-30"/>
              <a:t>c</a:t>
            </a:r>
            <a:r>
              <a:rPr dirty="0" spc="-240"/>
              <a:t> </a:t>
            </a:r>
            <a:r>
              <a:rPr dirty="0" spc="-285"/>
              <a:t>Six:</a:t>
            </a:r>
            <a:r>
              <a:rPr dirty="0" spc="-240"/>
              <a:t> </a:t>
            </a:r>
            <a:r>
              <a:rPr dirty="0" spc="-160"/>
              <a:t>Vector</a:t>
            </a:r>
            <a:r>
              <a:rPr dirty="0" spc="-254"/>
              <a:t> </a:t>
            </a:r>
            <a:r>
              <a:rPr dirty="0" spc="-65"/>
              <a:t>Time</a:t>
            </a:r>
            <a:r>
              <a:rPr dirty="0" spc="-310"/>
              <a:t> </a:t>
            </a:r>
            <a:r>
              <a:rPr dirty="0" spc="-70"/>
              <a:t>Series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68957" y="622686"/>
            <a:ext cx="11238865" cy="9114155"/>
          </a:xfrm>
          <a:prstGeom prst="rect">
            <a:avLst/>
          </a:prstGeom>
        </p:spPr>
        <p:txBody>
          <a:bodyPr wrap="square" lIns="0" tIns="264160" rIns="0" bIns="0" rtlCol="0" vert="horz">
            <a:spAutoFit/>
          </a:bodyPr>
          <a:lstStyle/>
          <a:p>
            <a:pPr marL="532765" indent="-507365">
              <a:lnSpc>
                <a:spcPct val="100000"/>
              </a:lnSpc>
              <a:spcBef>
                <a:spcPts val="2080"/>
              </a:spcBef>
              <a:buSzPct val="122500"/>
              <a:buChar char="•"/>
              <a:tabLst>
                <a:tab pos="532765" algn="l"/>
              </a:tabLst>
            </a:pPr>
            <a:r>
              <a:rPr dirty="0" sz="4000">
                <a:latin typeface="Arial"/>
                <a:cs typeface="Arial"/>
              </a:rPr>
              <a:t>Vector</a:t>
            </a:r>
            <a:r>
              <a:rPr dirty="0" sz="4000" spc="-9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time</a:t>
            </a:r>
            <a:r>
              <a:rPr dirty="0" sz="4000" spc="-8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series</a:t>
            </a:r>
            <a:r>
              <a:rPr dirty="0" sz="4000" spc="-9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means</a:t>
            </a:r>
            <a:r>
              <a:rPr dirty="0" sz="4000" spc="-8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each</a:t>
            </a:r>
            <a:r>
              <a:rPr dirty="0" sz="4000" spc="-90">
                <a:latin typeface="Arial"/>
                <a:cs typeface="Arial"/>
              </a:rPr>
              <a:t> </a:t>
            </a:r>
            <a:r>
              <a:rPr dirty="0" sz="4800" b="1">
                <a:latin typeface="Gill Sans MT"/>
                <a:cs typeface="Gill Sans MT"/>
              </a:rPr>
              <a:t>y</a:t>
            </a:r>
            <a:r>
              <a:rPr dirty="0" baseline="-19607" sz="5100" i="1">
                <a:latin typeface="Times New Roman"/>
                <a:cs typeface="Times New Roman"/>
              </a:rPr>
              <a:t>t</a:t>
            </a:r>
            <a:r>
              <a:rPr dirty="0" baseline="-19607" sz="5100" spc="262" i="1">
                <a:latin typeface="Times New Roman"/>
                <a:cs typeface="Times New Roman"/>
              </a:rPr>
              <a:t> </a:t>
            </a:r>
            <a:r>
              <a:rPr dirty="0" sz="4000">
                <a:latin typeface="Arial"/>
                <a:cs typeface="Arial"/>
              </a:rPr>
              <a:t>is</a:t>
            </a:r>
            <a:r>
              <a:rPr dirty="0" sz="4000" spc="-9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a</a:t>
            </a:r>
            <a:r>
              <a:rPr dirty="0" sz="4000" spc="-85">
                <a:latin typeface="Arial"/>
                <a:cs typeface="Arial"/>
              </a:rPr>
              <a:t> </a:t>
            </a:r>
            <a:r>
              <a:rPr dirty="0" sz="4000" spc="-10">
                <a:latin typeface="Arial"/>
                <a:cs typeface="Arial"/>
              </a:rPr>
              <a:t>vector</a:t>
            </a:r>
            <a:endParaRPr sz="4000">
              <a:latin typeface="Arial"/>
              <a:cs typeface="Arial"/>
            </a:endParaRPr>
          </a:p>
          <a:p>
            <a:pPr marL="533400" marR="17780" indent="-508000">
              <a:lnSpc>
                <a:spcPts val="4330"/>
              </a:lnSpc>
              <a:spcBef>
                <a:spcPts val="3445"/>
              </a:spcBef>
              <a:buSzPct val="122500"/>
              <a:buChar char="•"/>
              <a:tabLst>
                <a:tab pos="533400" algn="l"/>
              </a:tabLst>
            </a:pPr>
            <a:r>
              <a:rPr dirty="0" sz="4000">
                <a:latin typeface="Arial"/>
                <a:cs typeface="Arial"/>
              </a:rPr>
              <a:t>Many</a:t>
            </a:r>
            <a:r>
              <a:rPr dirty="0" sz="4000" spc="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interesting</a:t>
            </a:r>
            <a:r>
              <a:rPr dirty="0" sz="4000" spc="1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questions</a:t>
            </a:r>
            <a:r>
              <a:rPr dirty="0" sz="4000" spc="1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arise</a:t>
            </a:r>
            <a:r>
              <a:rPr dirty="0" sz="4000" spc="1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in</a:t>
            </a:r>
            <a:r>
              <a:rPr dirty="0" sz="4000" spc="1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the</a:t>
            </a:r>
            <a:r>
              <a:rPr dirty="0" sz="4000" spc="5">
                <a:latin typeface="Arial"/>
                <a:cs typeface="Arial"/>
              </a:rPr>
              <a:t> </a:t>
            </a:r>
            <a:r>
              <a:rPr dirty="0" sz="4000" spc="-10">
                <a:latin typeface="Arial"/>
                <a:cs typeface="Arial"/>
              </a:rPr>
              <a:t>analysis </a:t>
            </a:r>
            <a:r>
              <a:rPr dirty="0" sz="4000" spc="65">
                <a:latin typeface="Arial"/>
                <a:cs typeface="Arial"/>
              </a:rPr>
              <a:t>of</a:t>
            </a:r>
            <a:r>
              <a:rPr dirty="0" sz="4000" spc="9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vector</a:t>
            </a:r>
            <a:r>
              <a:rPr dirty="0" sz="4000" spc="10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time</a:t>
            </a:r>
            <a:r>
              <a:rPr dirty="0" sz="4000" spc="100">
                <a:latin typeface="Arial"/>
                <a:cs typeface="Arial"/>
              </a:rPr>
              <a:t> </a:t>
            </a:r>
            <a:r>
              <a:rPr dirty="0" sz="4000" spc="-10">
                <a:latin typeface="Arial"/>
                <a:cs typeface="Arial"/>
              </a:rPr>
              <a:t>series</a:t>
            </a:r>
            <a:endParaRPr sz="4000">
              <a:latin typeface="Arial"/>
              <a:cs typeface="Arial"/>
            </a:endParaRPr>
          </a:p>
          <a:p>
            <a:pPr marL="533400" marR="779145" indent="-508000">
              <a:lnSpc>
                <a:spcPts val="4330"/>
              </a:lnSpc>
              <a:spcBef>
                <a:spcPts val="3200"/>
              </a:spcBef>
              <a:buSzPct val="122500"/>
              <a:buChar char="•"/>
              <a:tabLst>
                <a:tab pos="533400" algn="l"/>
              </a:tabLst>
            </a:pPr>
            <a:r>
              <a:rPr dirty="0" sz="4000">
                <a:latin typeface="Arial"/>
                <a:cs typeface="Arial"/>
              </a:rPr>
              <a:t>In</a:t>
            </a:r>
            <a:r>
              <a:rPr dirty="0" sz="4000" spc="1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the</a:t>
            </a:r>
            <a:r>
              <a:rPr dirty="0" sz="4000" spc="2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unemployment,</a:t>
            </a:r>
            <a:r>
              <a:rPr dirty="0" sz="4000" spc="2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inflation,</a:t>
            </a:r>
            <a:r>
              <a:rPr dirty="0" sz="4000" spc="2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GDP</a:t>
            </a:r>
            <a:r>
              <a:rPr dirty="0" sz="4000" spc="20">
                <a:latin typeface="Arial"/>
                <a:cs typeface="Arial"/>
              </a:rPr>
              <a:t> </a:t>
            </a:r>
            <a:r>
              <a:rPr dirty="0" sz="4000" spc="-10">
                <a:latin typeface="Arial"/>
                <a:cs typeface="Arial"/>
              </a:rPr>
              <a:t>growth </a:t>
            </a:r>
            <a:r>
              <a:rPr dirty="0" sz="4000">
                <a:latin typeface="Arial"/>
                <a:cs typeface="Arial"/>
              </a:rPr>
              <a:t>rate,</a:t>
            </a:r>
            <a:r>
              <a:rPr dirty="0" sz="4000" spc="-2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interest</a:t>
            </a:r>
            <a:r>
              <a:rPr dirty="0" sz="4000" spc="-2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rate</a:t>
            </a:r>
            <a:r>
              <a:rPr dirty="0" sz="4000" spc="-1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data,</a:t>
            </a:r>
            <a:r>
              <a:rPr dirty="0" sz="4000" spc="-2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we</a:t>
            </a:r>
            <a:r>
              <a:rPr dirty="0" sz="4000" spc="-1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may</a:t>
            </a:r>
            <a:r>
              <a:rPr dirty="0" sz="4000" spc="-20">
                <a:latin typeface="Arial"/>
                <a:cs typeface="Arial"/>
              </a:rPr>
              <a:t> ask:</a:t>
            </a:r>
            <a:endParaRPr sz="4000">
              <a:latin typeface="Arial"/>
              <a:cs typeface="Arial"/>
            </a:endParaRPr>
          </a:p>
          <a:p>
            <a:pPr lvl="1" marL="1295400" marR="347980" indent="-508000">
              <a:lnSpc>
                <a:spcPts val="4330"/>
              </a:lnSpc>
              <a:spcBef>
                <a:spcPts val="3204"/>
              </a:spcBef>
              <a:buSzPct val="122500"/>
              <a:buChar char="•"/>
              <a:tabLst>
                <a:tab pos="1295400" algn="l"/>
              </a:tabLst>
            </a:pPr>
            <a:r>
              <a:rPr dirty="0" sz="4000">
                <a:latin typeface="Arial"/>
                <a:cs typeface="Arial"/>
              </a:rPr>
              <a:t>Can</a:t>
            </a:r>
            <a:r>
              <a:rPr dirty="0" sz="4000" spc="5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we</a:t>
            </a:r>
            <a:r>
              <a:rPr dirty="0" sz="4000" spc="5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forecast</a:t>
            </a:r>
            <a:r>
              <a:rPr dirty="0" sz="4000" spc="5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inflation</a:t>
            </a:r>
            <a:r>
              <a:rPr dirty="0" sz="4000" spc="6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better</a:t>
            </a:r>
            <a:r>
              <a:rPr dirty="0" sz="4000" spc="5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using</a:t>
            </a:r>
            <a:r>
              <a:rPr dirty="0" sz="4000" spc="55">
                <a:latin typeface="Arial"/>
                <a:cs typeface="Arial"/>
              </a:rPr>
              <a:t> </a:t>
            </a:r>
            <a:r>
              <a:rPr dirty="0" sz="4000" spc="-20">
                <a:latin typeface="Arial"/>
                <a:cs typeface="Arial"/>
              </a:rPr>
              <a:t>past </a:t>
            </a:r>
            <a:r>
              <a:rPr dirty="0" sz="4000">
                <a:latin typeface="Arial"/>
                <a:cs typeface="Arial"/>
              </a:rPr>
              <a:t>inflation</a:t>
            </a:r>
            <a:r>
              <a:rPr dirty="0" sz="4000" spc="4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as</a:t>
            </a:r>
            <a:r>
              <a:rPr dirty="0" sz="4000" spc="4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well</a:t>
            </a:r>
            <a:r>
              <a:rPr dirty="0" sz="4000" spc="4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as</a:t>
            </a:r>
            <a:r>
              <a:rPr dirty="0" sz="4000" spc="4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unemployment,</a:t>
            </a:r>
            <a:r>
              <a:rPr dirty="0" sz="4000" spc="45">
                <a:latin typeface="Arial"/>
                <a:cs typeface="Arial"/>
              </a:rPr>
              <a:t> </a:t>
            </a:r>
            <a:r>
              <a:rPr dirty="0" sz="4000" spc="-25">
                <a:latin typeface="Arial"/>
                <a:cs typeface="Arial"/>
              </a:rPr>
              <a:t>GDP </a:t>
            </a:r>
            <a:r>
              <a:rPr dirty="0" sz="4000">
                <a:latin typeface="Arial"/>
                <a:cs typeface="Arial"/>
              </a:rPr>
              <a:t>growth</a:t>
            </a:r>
            <a:r>
              <a:rPr dirty="0" sz="4000" spc="6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rate</a:t>
            </a:r>
            <a:r>
              <a:rPr dirty="0" sz="4000" spc="7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and</a:t>
            </a:r>
            <a:r>
              <a:rPr dirty="0" sz="4000" spc="7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interest</a:t>
            </a:r>
            <a:r>
              <a:rPr dirty="0" sz="4000" spc="65">
                <a:latin typeface="Arial"/>
                <a:cs typeface="Arial"/>
              </a:rPr>
              <a:t> </a:t>
            </a:r>
            <a:r>
              <a:rPr dirty="0" sz="4000" spc="-10">
                <a:latin typeface="Arial"/>
                <a:cs typeface="Arial"/>
              </a:rPr>
              <a:t>rates?</a:t>
            </a:r>
            <a:endParaRPr sz="4000">
              <a:latin typeface="Arial"/>
              <a:cs typeface="Arial"/>
            </a:endParaRPr>
          </a:p>
          <a:p>
            <a:pPr lvl="1" marL="1295400" marR="93980" indent="-508000">
              <a:lnSpc>
                <a:spcPts val="4330"/>
              </a:lnSpc>
              <a:spcBef>
                <a:spcPts val="3204"/>
              </a:spcBef>
              <a:buSzPct val="122500"/>
              <a:buChar char="•"/>
              <a:tabLst>
                <a:tab pos="1295400" algn="l"/>
              </a:tabLst>
            </a:pPr>
            <a:r>
              <a:rPr dirty="0" sz="4000">
                <a:latin typeface="Arial"/>
                <a:cs typeface="Arial"/>
              </a:rPr>
              <a:t>Does</a:t>
            </a:r>
            <a:r>
              <a:rPr dirty="0" sz="4000" spc="8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a</a:t>
            </a:r>
            <a:r>
              <a:rPr dirty="0" sz="4000" spc="85">
                <a:latin typeface="Arial"/>
                <a:cs typeface="Arial"/>
              </a:rPr>
              <a:t> </a:t>
            </a:r>
            <a:r>
              <a:rPr dirty="0" sz="4000" spc="65">
                <a:latin typeface="Arial"/>
                <a:cs typeface="Arial"/>
              </a:rPr>
              <a:t>slowdown</a:t>
            </a:r>
            <a:r>
              <a:rPr dirty="0" sz="4000" spc="8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in</a:t>
            </a:r>
            <a:r>
              <a:rPr dirty="0" sz="4000" spc="8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economic</a:t>
            </a:r>
            <a:r>
              <a:rPr dirty="0" sz="4000" spc="8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activity</a:t>
            </a:r>
            <a:r>
              <a:rPr dirty="0" sz="4000" spc="85">
                <a:latin typeface="Arial"/>
                <a:cs typeface="Arial"/>
              </a:rPr>
              <a:t> </a:t>
            </a:r>
            <a:r>
              <a:rPr dirty="0" sz="4000" spc="-20">
                <a:latin typeface="Arial"/>
                <a:cs typeface="Arial"/>
              </a:rPr>
              <a:t>tend </a:t>
            </a:r>
            <a:r>
              <a:rPr dirty="0" sz="4000" spc="100">
                <a:latin typeface="Arial"/>
                <a:cs typeface="Arial"/>
              </a:rPr>
              <a:t>to</a:t>
            </a:r>
            <a:r>
              <a:rPr dirty="0" sz="4000" spc="-6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precede</a:t>
            </a:r>
            <a:r>
              <a:rPr dirty="0" sz="4000" spc="-6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an</a:t>
            </a:r>
            <a:r>
              <a:rPr dirty="0" sz="4000" spc="-6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increase</a:t>
            </a:r>
            <a:r>
              <a:rPr dirty="0" sz="4000" spc="-6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in</a:t>
            </a:r>
            <a:r>
              <a:rPr dirty="0" sz="4000" spc="-55">
                <a:latin typeface="Arial"/>
                <a:cs typeface="Arial"/>
              </a:rPr>
              <a:t> </a:t>
            </a:r>
            <a:r>
              <a:rPr dirty="0" sz="4000" spc="-10">
                <a:latin typeface="Arial"/>
                <a:cs typeface="Arial"/>
              </a:rPr>
              <a:t>unemployment?</a:t>
            </a:r>
            <a:endParaRPr sz="4000">
              <a:latin typeface="Arial"/>
              <a:cs typeface="Arial"/>
            </a:endParaRPr>
          </a:p>
          <a:p>
            <a:pPr lvl="1" marL="1295400" marR="234950" indent="-508000">
              <a:lnSpc>
                <a:spcPts val="4330"/>
              </a:lnSpc>
              <a:spcBef>
                <a:spcPts val="3200"/>
              </a:spcBef>
              <a:buSzPct val="122500"/>
              <a:buChar char="•"/>
              <a:tabLst>
                <a:tab pos="1295400" algn="l"/>
              </a:tabLst>
            </a:pPr>
            <a:r>
              <a:rPr dirty="0" sz="4000">
                <a:latin typeface="Arial"/>
                <a:cs typeface="Arial"/>
              </a:rPr>
              <a:t>After</a:t>
            </a:r>
            <a:r>
              <a:rPr dirty="0" sz="4000" spc="-4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interest</a:t>
            </a:r>
            <a:r>
              <a:rPr dirty="0" sz="4000" spc="-3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rates</a:t>
            </a:r>
            <a:r>
              <a:rPr dirty="0" sz="4000" spc="-3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increase,</a:t>
            </a:r>
            <a:r>
              <a:rPr dirty="0" sz="4000" spc="-3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what</a:t>
            </a:r>
            <a:r>
              <a:rPr dirty="0" sz="4000" spc="-40">
                <a:latin typeface="Arial"/>
                <a:cs typeface="Arial"/>
              </a:rPr>
              <a:t> </a:t>
            </a:r>
            <a:r>
              <a:rPr dirty="0" sz="4000" spc="-10">
                <a:latin typeface="Arial"/>
                <a:cs typeface="Arial"/>
              </a:rPr>
              <a:t>happens </a:t>
            </a:r>
            <a:r>
              <a:rPr dirty="0" sz="4000" spc="100">
                <a:latin typeface="Arial"/>
                <a:cs typeface="Arial"/>
              </a:rPr>
              <a:t>to</a:t>
            </a:r>
            <a:r>
              <a:rPr dirty="0" sz="4000" spc="4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the</a:t>
            </a:r>
            <a:r>
              <a:rPr dirty="0" sz="4000" spc="5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other</a:t>
            </a:r>
            <a:r>
              <a:rPr dirty="0" sz="4000" spc="50">
                <a:latin typeface="Arial"/>
                <a:cs typeface="Arial"/>
              </a:rPr>
              <a:t> </a:t>
            </a:r>
            <a:r>
              <a:rPr dirty="0" sz="4000" spc="-10">
                <a:latin typeface="Arial"/>
                <a:cs typeface="Arial"/>
              </a:rPr>
              <a:t>variables?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22756" rIns="0" bIns="0" rtlCol="0" vert="horz">
            <a:spAutoFit/>
          </a:bodyPr>
          <a:lstStyle/>
          <a:p>
            <a:pPr marL="527685">
              <a:lnSpc>
                <a:spcPct val="100000"/>
              </a:lnSpc>
              <a:spcBef>
                <a:spcPts val="90"/>
              </a:spcBef>
            </a:pPr>
            <a:r>
              <a:rPr dirty="0" spc="-819"/>
              <a:t>T</a:t>
            </a:r>
            <a:r>
              <a:rPr dirty="0" spc="-155"/>
              <a:t>op</a:t>
            </a:r>
            <a:r>
              <a:rPr dirty="0" spc="-165"/>
              <a:t>i</a:t>
            </a:r>
            <a:r>
              <a:rPr dirty="0" spc="-30"/>
              <a:t>c</a:t>
            </a:r>
            <a:r>
              <a:rPr dirty="0" spc="-235"/>
              <a:t> </a:t>
            </a:r>
            <a:r>
              <a:rPr dirty="0" spc="-240"/>
              <a:t>Seven: </a:t>
            </a:r>
            <a:r>
              <a:rPr dirty="0" spc="-90"/>
              <a:t>Neural</a:t>
            </a:r>
            <a:r>
              <a:rPr dirty="0" spc="-240"/>
              <a:t> </a:t>
            </a:r>
            <a:r>
              <a:rPr dirty="0" spc="-10"/>
              <a:t>Networks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56257" y="2376772"/>
            <a:ext cx="11193780" cy="6468110"/>
          </a:xfrm>
          <a:prstGeom prst="rect">
            <a:avLst/>
          </a:prstGeom>
        </p:spPr>
        <p:txBody>
          <a:bodyPr wrap="square" lIns="0" tIns="74295" rIns="0" bIns="0" rtlCol="0" vert="horz">
            <a:spAutoFit/>
          </a:bodyPr>
          <a:lstStyle/>
          <a:p>
            <a:pPr marL="546100" marR="30480" indent="-508000">
              <a:lnSpc>
                <a:spcPts val="5430"/>
              </a:lnSpc>
              <a:spcBef>
                <a:spcPts val="585"/>
              </a:spcBef>
              <a:buSzPct val="122500"/>
              <a:buChar char="•"/>
              <a:tabLst>
                <a:tab pos="546100" algn="l"/>
                <a:tab pos="5246370" algn="l"/>
              </a:tabLst>
            </a:pPr>
            <a:r>
              <a:rPr dirty="0" sz="4000">
                <a:latin typeface="Arial"/>
                <a:cs typeface="Arial"/>
              </a:rPr>
              <a:t>AR</a:t>
            </a:r>
            <a:r>
              <a:rPr dirty="0" sz="4000" spc="-11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models</a:t>
            </a:r>
            <a:r>
              <a:rPr dirty="0" sz="4000" spc="-10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are</a:t>
            </a:r>
            <a:r>
              <a:rPr dirty="0" sz="4000" spc="-10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simply</a:t>
            </a:r>
            <a:r>
              <a:rPr dirty="0" sz="4000" spc="-10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linear</a:t>
            </a:r>
            <a:r>
              <a:rPr dirty="0" sz="4000" spc="-110">
                <a:latin typeface="Arial"/>
                <a:cs typeface="Arial"/>
              </a:rPr>
              <a:t> </a:t>
            </a:r>
            <a:r>
              <a:rPr dirty="0" sz="4000" spc="-10">
                <a:latin typeface="Arial"/>
                <a:cs typeface="Arial"/>
              </a:rPr>
              <a:t>regression</a:t>
            </a:r>
            <a:r>
              <a:rPr dirty="0" sz="4000" spc="-105">
                <a:latin typeface="Arial"/>
                <a:cs typeface="Arial"/>
              </a:rPr>
              <a:t> </a:t>
            </a:r>
            <a:r>
              <a:rPr dirty="0" sz="4000" spc="65">
                <a:latin typeface="Arial"/>
                <a:cs typeface="Arial"/>
              </a:rPr>
              <a:t>of</a:t>
            </a:r>
            <a:r>
              <a:rPr dirty="0" sz="4000" spc="-105">
                <a:latin typeface="Arial"/>
                <a:cs typeface="Arial"/>
              </a:rPr>
              <a:t> </a:t>
            </a:r>
            <a:r>
              <a:rPr dirty="0" sz="4800" i="1">
                <a:latin typeface="Times New Roman"/>
                <a:cs typeface="Times New Roman"/>
              </a:rPr>
              <a:t>y</a:t>
            </a:r>
            <a:r>
              <a:rPr dirty="0" baseline="-19607" sz="5100" i="1">
                <a:latin typeface="Times New Roman"/>
                <a:cs typeface="Times New Roman"/>
              </a:rPr>
              <a:t>t</a:t>
            </a:r>
            <a:r>
              <a:rPr dirty="0" baseline="-19607" sz="5100" spc="232" i="1">
                <a:latin typeface="Times New Roman"/>
                <a:cs typeface="Times New Roman"/>
              </a:rPr>
              <a:t> </a:t>
            </a:r>
            <a:r>
              <a:rPr dirty="0" sz="4000" spc="-25">
                <a:latin typeface="Arial"/>
                <a:cs typeface="Arial"/>
              </a:rPr>
              <a:t>on </a:t>
            </a:r>
            <a:r>
              <a:rPr dirty="0" sz="4000">
                <a:latin typeface="Arial"/>
                <a:cs typeface="Arial"/>
              </a:rPr>
              <a:t>lagged</a:t>
            </a:r>
            <a:r>
              <a:rPr dirty="0" sz="4000" spc="6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covariates</a:t>
            </a:r>
            <a:r>
              <a:rPr dirty="0" sz="4000" spc="60">
                <a:latin typeface="Arial"/>
                <a:cs typeface="Arial"/>
              </a:rPr>
              <a:t> </a:t>
            </a:r>
            <a:r>
              <a:rPr dirty="0" sz="4800" spc="-25" i="1">
                <a:latin typeface="Times New Roman"/>
                <a:cs typeface="Times New Roman"/>
              </a:rPr>
              <a:t>x</a:t>
            </a:r>
            <a:r>
              <a:rPr dirty="0" baseline="-19607" sz="5100" spc="-37" i="1">
                <a:latin typeface="Times New Roman"/>
                <a:cs typeface="Times New Roman"/>
              </a:rPr>
              <a:t>t</a:t>
            </a:r>
            <a:r>
              <a:rPr dirty="0" baseline="-19607" sz="5100" i="1">
                <a:latin typeface="Times New Roman"/>
                <a:cs typeface="Times New Roman"/>
              </a:rPr>
              <a:t>	</a:t>
            </a:r>
            <a:r>
              <a:rPr dirty="0" sz="4800" spc="355">
                <a:latin typeface="Cambria"/>
                <a:cs typeface="Cambria"/>
              </a:rPr>
              <a:t>:=</a:t>
            </a:r>
            <a:r>
              <a:rPr dirty="0" sz="4800" spc="305">
                <a:latin typeface="Cambria"/>
                <a:cs typeface="Cambria"/>
              </a:rPr>
              <a:t> </a:t>
            </a:r>
            <a:r>
              <a:rPr dirty="0" sz="4800">
                <a:latin typeface="Cambria"/>
                <a:cs typeface="Cambria"/>
              </a:rPr>
              <a:t>(1,</a:t>
            </a:r>
            <a:r>
              <a:rPr dirty="0" sz="4800" i="1">
                <a:latin typeface="Times New Roman"/>
                <a:cs typeface="Times New Roman"/>
              </a:rPr>
              <a:t>y</a:t>
            </a:r>
            <a:r>
              <a:rPr dirty="0" baseline="-19607" sz="5100" i="1">
                <a:latin typeface="Times New Roman"/>
                <a:cs typeface="Times New Roman"/>
              </a:rPr>
              <a:t>t</a:t>
            </a:r>
            <a:r>
              <a:rPr dirty="0" baseline="-19607" sz="5100">
                <a:latin typeface="Cambria"/>
                <a:cs typeface="Cambria"/>
              </a:rPr>
              <a:t>−1</a:t>
            </a:r>
            <a:r>
              <a:rPr dirty="0" sz="4800">
                <a:latin typeface="Cambria"/>
                <a:cs typeface="Cambria"/>
              </a:rPr>
              <a:t>,</a:t>
            </a:r>
            <a:r>
              <a:rPr dirty="0" sz="4800" spc="-240">
                <a:latin typeface="Cambria"/>
                <a:cs typeface="Cambria"/>
              </a:rPr>
              <a:t> </a:t>
            </a:r>
            <a:r>
              <a:rPr dirty="0" sz="4800" spc="700">
                <a:latin typeface="Cambria"/>
                <a:cs typeface="Cambria"/>
              </a:rPr>
              <a:t>…,</a:t>
            </a:r>
            <a:r>
              <a:rPr dirty="0" sz="4800" spc="-240">
                <a:latin typeface="Cambria"/>
                <a:cs typeface="Cambria"/>
              </a:rPr>
              <a:t> </a:t>
            </a:r>
            <a:r>
              <a:rPr dirty="0" sz="4800" spc="-10" i="1">
                <a:latin typeface="Times New Roman"/>
                <a:cs typeface="Times New Roman"/>
              </a:rPr>
              <a:t>y</a:t>
            </a:r>
            <a:r>
              <a:rPr dirty="0" baseline="-19607" sz="5100" spc="-15" i="1">
                <a:latin typeface="Times New Roman"/>
                <a:cs typeface="Times New Roman"/>
              </a:rPr>
              <a:t>t</a:t>
            </a:r>
            <a:r>
              <a:rPr dirty="0" baseline="-19607" sz="5100" spc="-15">
                <a:latin typeface="Cambria"/>
                <a:cs typeface="Cambria"/>
              </a:rPr>
              <a:t>−</a:t>
            </a:r>
            <a:r>
              <a:rPr dirty="0" baseline="-19607" sz="5100" spc="-15" i="1">
                <a:latin typeface="Times New Roman"/>
                <a:cs typeface="Times New Roman"/>
              </a:rPr>
              <a:t>p</a:t>
            </a:r>
            <a:r>
              <a:rPr dirty="0" sz="4800" spc="-10">
                <a:latin typeface="Cambria"/>
                <a:cs typeface="Cambria"/>
              </a:rPr>
              <a:t>)</a:t>
            </a:r>
            <a:endParaRPr sz="4800">
              <a:latin typeface="Cambria"/>
              <a:cs typeface="Cambria"/>
            </a:endParaRPr>
          </a:p>
          <a:p>
            <a:pPr marL="545465" indent="-507365">
              <a:lnSpc>
                <a:spcPts val="5595"/>
              </a:lnSpc>
              <a:spcBef>
                <a:spcPts val="3350"/>
              </a:spcBef>
              <a:buSzPct val="122500"/>
              <a:buChar char="•"/>
              <a:tabLst>
                <a:tab pos="545465" algn="l"/>
              </a:tabLst>
            </a:pPr>
            <a:r>
              <a:rPr dirty="0" sz="4000">
                <a:latin typeface="Arial"/>
                <a:cs typeface="Arial"/>
              </a:rPr>
              <a:t>It</a:t>
            </a:r>
            <a:r>
              <a:rPr dirty="0" sz="4000" spc="-8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is</a:t>
            </a:r>
            <a:r>
              <a:rPr dirty="0" sz="4000" spc="-8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natural</a:t>
            </a:r>
            <a:r>
              <a:rPr dirty="0" sz="4000" spc="-85">
                <a:latin typeface="Arial"/>
                <a:cs typeface="Arial"/>
              </a:rPr>
              <a:t> </a:t>
            </a:r>
            <a:r>
              <a:rPr dirty="0" sz="4000" spc="100">
                <a:latin typeface="Arial"/>
                <a:cs typeface="Arial"/>
              </a:rPr>
              <a:t>to</a:t>
            </a:r>
            <a:r>
              <a:rPr dirty="0" sz="4000" spc="-8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use</a:t>
            </a:r>
            <a:r>
              <a:rPr dirty="0" sz="4000" spc="-8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nonlinear</a:t>
            </a:r>
            <a:r>
              <a:rPr dirty="0" sz="4000" spc="-85">
                <a:latin typeface="Arial"/>
                <a:cs typeface="Arial"/>
              </a:rPr>
              <a:t> </a:t>
            </a:r>
            <a:r>
              <a:rPr dirty="0" sz="4000" spc="-10">
                <a:latin typeface="Arial"/>
                <a:cs typeface="Arial"/>
              </a:rPr>
              <a:t>regression</a:t>
            </a:r>
            <a:r>
              <a:rPr dirty="0" sz="4000" spc="-85">
                <a:latin typeface="Arial"/>
                <a:cs typeface="Arial"/>
              </a:rPr>
              <a:t> </a:t>
            </a:r>
            <a:r>
              <a:rPr dirty="0" sz="4000" spc="65">
                <a:latin typeface="Arial"/>
                <a:cs typeface="Arial"/>
              </a:rPr>
              <a:t>of</a:t>
            </a:r>
            <a:r>
              <a:rPr dirty="0" sz="4000" spc="-80">
                <a:latin typeface="Arial"/>
                <a:cs typeface="Arial"/>
              </a:rPr>
              <a:t> </a:t>
            </a:r>
            <a:r>
              <a:rPr dirty="0" sz="4800" i="1">
                <a:latin typeface="Times New Roman"/>
                <a:cs typeface="Times New Roman"/>
              </a:rPr>
              <a:t>y</a:t>
            </a:r>
            <a:r>
              <a:rPr dirty="0" baseline="-19607" sz="5100" i="1">
                <a:latin typeface="Times New Roman"/>
                <a:cs typeface="Times New Roman"/>
              </a:rPr>
              <a:t>t</a:t>
            </a:r>
            <a:r>
              <a:rPr dirty="0" baseline="-19607" sz="5100" spc="262" i="1">
                <a:latin typeface="Times New Roman"/>
                <a:cs typeface="Times New Roman"/>
              </a:rPr>
              <a:t> </a:t>
            </a:r>
            <a:r>
              <a:rPr dirty="0" sz="4000" spc="-25">
                <a:latin typeface="Arial"/>
                <a:cs typeface="Arial"/>
              </a:rPr>
              <a:t>on</a:t>
            </a:r>
            <a:endParaRPr sz="4000">
              <a:latin typeface="Arial"/>
              <a:cs typeface="Arial"/>
            </a:endParaRPr>
          </a:p>
          <a:p>
            <a:pPr marL="546100">
              <a:lnSpc>
                <a:spcPts val="5595"/>
              </a:lnSpc>
            </a:pPr>
            <a:r>
              <a:rPr dirty="0" sz="4800" i="1">
                <a:latin typeface="Times New Roman"/>
                <a:cs typeface="Times New Roman"/>
              </a:rPr>
              <a:t>x</a:t>
            </a:r>
            <a:r>
              <a:rPr dirty="0" baseline="-19607" sz="5100" i="1">
                <a:latin typeface="Times New Roman"/>
                <a:cs typeface="Times New Roman"/>
              </a:rPr>
              <a:t>t</a:t>
            </a:r>
            <a:r>
              <a:rPr dirty="0" baseline="-19607" sz="5100" spc="532" i="1">
                <a:latin typeface="Times New Roman"/>
                <a:cs typeface="Times New Roman"/>
              </a:rPr>
              <a:t> </a:t>
            </a:r>
            <a:r>
              <a:rPr dirty="0" sz="4000">
                <a:latin typeface="Arial"/>
                <a:cs typeface="Arial"/>
              </a:rPr>
              <a:t>for</a:t>
            </a:r>
            <a:r>
              <a:rPr dirty="0" sz="4000" spc="10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improved</a:t>
            </a:r>
            <a:r>
              <a:rPr dirty="0" sz="4000" spc="10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predictive</a:t>
            </a:r>
            <a:r>
              <a:rPr dirty="0" sz="4000" spc="95">
                <a:latin typeface="Arial"/>
                <a:cs typeface="Arial"/>
              </a:rPr>
              <a:t> </a:t>
            </a:r>
            <a:r>
              <a:rPr dirty="0" sz="4000" spc="-10">
                <a:latin typeface="Arial"/>
                <a:cs typeface="Arial"/>
              </a:rPr>
              <a:t>power</a:t>
            </a:r>
            <a:endParaRPr sz="4000">
              <a:latin typeface="Arial"/>
              <a:cs typeface="Arial"/>
            </a:endParaRPr>
          </a:p>
          <a:p>
            <a:pPr marL="546100" marR="967740" indent="-508000">
              <a:lnSpc>
                <a:spcPts val="4330"/>
              </a:lnSpc>
              <a:spcBef>
                <a:spcPts val="3450"/>
              </a:spcBef>
              <a:buSzPct val="122500"/>
              <a:buChar char="•"/>
              <a:tabLst>
                <a:tab pos="546100" algn="l"/>
              </a:tabLst>
            </a:pPr>
            <a:r>
              <a:rPr dirty="0" sz="4000" spc="-120">
                <a:latin typeface="Arial"/>
                <a:cs typeface="Arial"/>
              </a:rPr>
              <a:t>We</a:t>
            </a:r>
            <a:r>
              <a:rPr dirty="0" sz="4000" spc="-3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perform</a:t>
            </a:r>
            <a:r>
              <a:rPr dirty="0" sz="4000" spc="-3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this</a:t>
            </a:r>
            <a:r>
              <a:rPr dirty="0" sz="4000" spc="-3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nonlinear</a:t>
            </a:r>
            <a:r>
              <a:rPr dirty="0" sz="4000" spc="-30">
                <a:latin typeface="Arial"/>
                <a:cs typeface="Arial"/>
              </a:rPr>
              <a:t> </a:t>
            </a:r>
            <a:r>
              <a:rPr dirty="0" sz="4000" spc="-10">
                <a:latin typeface="Arial"/>
                <a:cs typeface="Arial"/>
              </a:rPr>
              <a:t>regression</a:t>
            </a:r>
            <a:r>
              <a:rPr dirty="0" sz="4000" spc="-35">
                <a:latin typeface="Arial"/>
                <a:cs typeface="Arial"/>
              </a:rPr>
              <a:t> </a:t>
            </a:r>
            <a:r>
              <a:rPr dirty="0" sz="4000" spc="-10">
                <a:latin typeface="Arial"/>
                <a:cs typeface="Arial"/>
              </a:rPr>
              <a:t>using </a:t>
            </a:r>
            <a:r>
              <a:rPr dirty="0" sz="4000">
                <a:solidFill>
                  <a:srgbClr val="EE220C"/>
                </a:solidFill>
                <a:latin typeface="Arial"/>
                <a:cs typeface="Arial"/>
              </a:rPr>
              <a:t>single</a:t>
            </a:r>
            <a:r>
              <a:rPr dirty="0" sz="4000" spc="-40">
                <a:solidFill>
                  <a:srgbClr val="EE220C"/>
                </a:solidFill>
                <a:latin typeface="Arial"/>
                <a:cs typeface="Arial"/>
              </a:rPr>
              <a:t> </a:t>
            </a:r>
            <a:r>
              <a:rPr dirty="0" sz="4000">
                <a:solidFill>
                  <a:srgbClr val="EE220C"/>
                </a:solidFill>
                <a:latin typeface="Arial"/>
                <a:cs typeface="Arial"/>
              </a:rPr>
              <a:t>hidden-layer</a:t>
            </a:r>
            <a:r>
              <a:rPr dirty="0" sz="4000" spc="-35">
                <a:solidFill>
                  <a:srgbClr val="EE220C"/>
                </a:solidFill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neural</a:t>
            </a:r>
            <a:r>
              <a:rPr dirty="0" sz="4000" spc="-35">
                <a:latin typeface="Arial"/>
                <a:cs typeface="Arial"/>
              </a:rPr>
              <a:t> </a:t>
            </a:r>
            <a:r>
              <a:rPr dirty="0" sz="4000" spc="-10">
                <a:latin typeface="Arial"/>
                <a:cs typeface="Arial"/>
              </a:rPr>
              <a:t>networks</a:t>
            </a:r>
            <a:endParaRPr sz="4000">
              <a:latin typeface="Arial"/>
              <a:cs typeface="Arial"/>
            </a:endParaRPr>
          </a:p>
          <a:p>
            <a:pPr marL="546100" marR="413384" indent="-508000">
              <a:lnSpc>
                <a:spcPts val="5100"/>
              </a:lnSpc>
              <a:spcBef>
                <a:spcPts val="2585"/>
              </a:spcBef>
              <a:buSzPct val="122500"/>
              <a:buChar char="•"/>
              <a:tabLst>
                <a:tab pos="546100" algn="l"/>
                <a:tab pos="3318510" algn="l"/>
              </a:tabLst>
            </a:pPr>
            <a:r>
              <a:rPr dirty="0" sz="4000" spc="-20">
                <a:latin typeface="Arial"/>
                <a:cs typeface="Arial"/>
              </a:rPr>
              <a:t>These</a:t>
            </a:r>
            <a:r>
              <a:rPr dirty="0" sz="4000" spc="-8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is</a:t>
            </a:r>
            <a:r>
              <a:rPr dirty="0" sz="4000" spc="-8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Nonlinear</a:t>
            </a:r>
            <a:r>
              <a:rPr dirty="0" sz="4000" spc="-85">
                <a:latin typeface="Arial"/>
                <a:cs typeface="Arial"/>
              </a:rPr>
              <a:t> </a:t>
            </a:r>
            <a:r>
              <a:rPr dirty="0" sz="4000" spc="-10">
                <a:latin typeface="Arial"/>
                <a:cs typeface="Arial"/>
              </a:rPr>
              <a:t>AutoRegression</a:t>
            </a:r>
            <a:r>
              <a:rPr dirty="0" sz="4000" spc="-8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which</a:t>
            </a:r>
            <a:r>
              <a:rPr dirty="0" sz="4000" spc="-80">
                <a:latin typeface="Arial"/>
                <a:cs typeface="Arial"/>
              </a:rPr>
              <a:t> </a:t>
            </a:r>
            <a:r>
              <a:rPr dirty="0" sz="4000" spc="-20">
                <a:latin typeface="Arial"/>
                <a:cs typeface="Arial"/>
              </a:rPr>
              <a:t>fits </a:t>
            </a:r>
            <a:r>
              <a:rPr dirty="0" sz="4000">
                <a:latin typeface="Arial"/>
                <a:cs typeface="Arial"/>
              </a:rPr>
              <a:t>functions</a:t>
            </a:r>
            <a:r>
              <a:rPr dirty="0" sz="4000" spc="320">
                <a:latin typeface="Arial"/>
                <a:cs typeface="Arial"/>
              </a:rPr>
              <a:t> </a:t>
            </a:r>
            <a:r>
              <a:rPr dirty="0" sz="4800" spc="-25" i="1">
                <a:latin typeface="Times New Roman"/>
                <a:cs typeface="Times New Roman"/>
              </a:rPr>
              <a:t>y</a:t>
            </a:r>
            <a:r>
              <a:rPr dirty="0" baseline="-19607" sz="5100" spc="-37" i="1">
                <a:latin typeface="Times New Roman"/>
                <a:cs typeface="Times New Roman"/>
              </a:rPr>
              <a:t>t</a:t>
            </a:r>
            <a:r>
              <a:rPr dirty="0" baseline="-19607" sz="5100" i="1">
                <a:latin typeface="Times New Roman"/>
                <a:cs typeface="Times New Roman"/>
              </a:rPr>
              <a:t>	</a:t>
            </a:r>
            <a:r>
              <a:rPr dirty="0" sz="4800" spc="635">
                <a:latin typeface="Cambria"/>
                <a:cs typeface="Cambria"/>
              </a:rPr>
              <a:t>=</a:t>
            </a:r>
            <a:r>
              <a:rPr dirty="0" sz="4800" spc="229">
                <a:latin typeface="Cambria"/>
                <a:cs typeface="Cambria"/>
              </a:rPr>
              <a:t> </a:t>
            </a:r>
            <a:r>
              <a:rPr dirty="0" sz="4800" i="1">
                <a:latin typeface="Times New Roman"/>
                <a:cs typeface="Times New Roman"/>
              </a:rPr>
              <a:t>f</a:t>
            </a:r>
            <a:r>
              <a:rPr dirty="0" sz="4800">
                <a:latin typeface="Cambria"/>
                <a:cs typeface="Cambria"/>
              </a:rPr>
              <a:t>(</a:t>
            </a:r>
            <a:r>
              <a:rPr dirty="0" sz="4800" i="1">
                <a:latin typeface="Times New Roman"/>
                <a:cs typeface="Times New Roman"/>
              </a:rPr>
              <a:t>x</a:t>
            </a:r>
            <a:r>
              <a:rPr dirty="0" baseline="-19607" sz="5100" i="1">
                <a:latin typeface="Times New Roman"/>
                <a:cs typeface="Times New Roman"/>
              </a:rPr>
              <a:t>t</a:t>
            </a:r>
            <a:r>
              <a:rPr dirty="0" sz="4800">
                <a:latin typeface="Cambria"/>
                <a:cs typeface="Cambria"/>
              </a:rPr>
              <a:t>)</a:t>
            </a:r>
            <a:r>
              <a:rPr dirty="0" sz="4800" spc="250">
                <a:latin typeface="Cambria"/>
                <a:cs typeface="Cambria"/>
              </a:rPr>
              <a:t> </a:t>
            </a:r>
            <a:r>
              <a:rPr dirty="0" sz="4800" spc="635">
                <a:latin typeface="Cambria"/>
                <a:cs typeface="Cambria"/>
              </a:rPr>
              <a:t>=</a:t>
            </a:r>
            <a:r>
              <a:rPr dirty="0" sz="4800" spc="250">
                <a:latin typeface="Cambria"/>
                <a:cs typeface="Cambria"/>
              </a:rPr>
              <a:t> </a:t>
            </a:r>
            <a:r>
              <a:rPr dirty="0" sz="4800" i="1">
                <a:latin typeface="Times New Roman"/>
                <a:cs typeface="Times New Roman"/>
              </a:rPr>
              <a:t>f</a:t>
            </a:r>
            <a:r>
              <a:rPr dirty="0" sz="4800">
                <a:latin typeface="Cambria"/>
                <a:cs typeface="Cambria"/>
              </a:rPr>
              <a:t>(</a:t>
            </a:r>
            <a:r>
              <a:rPr dirty="0" sz="4800" i="1">
                <a:latin typeface="Times New Roman"/>
                <a:cs typeface="Times New Roman"/>
              </a:rPr>
              <a:t>y</a:t>
            </a:r>
            <a:r>
              <a:rPr dirty="0" baseline="-19607" sz="5100" i="1">
                <a:latin typeface="Times New Roman"/>
                <a:cs typeface="Times New Roman"/>
              </a:rPr>
              <a:t>t</a:t>
            </a:r>
            <a:r>
              <a:rPr dirty="0" baseline="-19607" sz="5100">
                <a:latin typeface="Cambria"/>
                <a:cs typeface="Cambria"/>
              </a:rPr>
              <a:t>−1</a:t>
            </a:r>
            <a:r>
              <a:rPr dirty="0" sz="4800">
                <a:latin typeface="Cambria"/>
                <a:cs typeface="Cambria"/>
              </a:rPr>
              <a:t>,</a:t>
            </a:r>
            <a:r>
              <a:rPr dirty="0" sz="4800" spc="-265">
                <a:latin typeface="Cambria"/>
                <a:cs typeface="Cambria"/>
              </a:rPr>
              <a:t> </a:t>
            </a:r>
            <a:r>
              <a:rPr dirty="0" sz="4800" spc="700">
                <a:latin typeface="Cambria"/>
                <a:cs typeface="Cambria"/>
              </a:rPr>
              <a:t>…,</a:t>
            </a:r>
            <a:r>
              <a:rPr dirty="0" sz="4800" spc="-265">
                <a:latin typeface="Cambria"/>
                <a:cs typeface="Cambria"/>
              </a:rPr>
              <a:t> </a:t>
            </a:r>
            <a:r>
              <a:rPr dirty="0" sz="4800" spc="-10" i="1">
                <a:latin typeface="Times New Roman"/>
                <a:cs typeface="Times New Roman"/>
              </a:rPr>
              <a:t>y</a:t>
            </a:r>
            <a:r>
              <a:rPr dirty="0" baseline="-19607" sz="5100" spc="-15" i="1">
                <a:latin typeface="Times New Roman"/>
                <a:cs typeface="Times New Roman"/>
              </a:rPr>
              <a:t>t</a:t>
            </a:r>
            <a:r>
              <a:rPr dirty="0" baseline="-19607" sz="5100" spc="-15">
                <a:latin typeface="Cambria"/>
                <a:cs typeface="Cambria"/>
              </a:rPr>
              <a:t>−</a:t>
            </a:r>
            <a:r>
              <a:rPr dirty="0" baseline="-19607" sz="5100" spc="-15" i="1">
                <a:latin typeface="Times New Roman"/>
                <a:cs typeface="Times New Roman"/>
              </a:rPr>
              <a:t>p</a:t>
            </a:r>
            <a:r>
              <a:rPr dirty="0" sz="4800" spc="-10">
                <a:latin typeface="Cambria"/>
                <a:cs typeface="Cambria"/>
              </a:rPr>
              <a:t>)</a:t>
            </a:r>
            <a:endParaRPr sz="4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22756" rIns="0" bIns="0" rtlCol="0" vert="horz">
            <a:spAutoFit/>
          </a:bodyPr>
          <a:lstStyle/>
          <a:p>
            <a:pPr marL="527685">
              <a:lnSpc>
                <a:spcPct val="100000"/>
              </a:lnSpc>
              <a:spcBef>
                <a:spcPts val="90"/>
              </a:spcBef>
            </a:pPr>
            <a:r>
              <a:rPr dirty="0" spc="-819"/>
              <a:t>T</a:t>
            </a:r>
            <a:r>
              <a:rPr dirty="0" spc="-155"/>
              <a:t>op</a:t>
            </a:r>
            <a:r>
              <a:rPr dirty="0" spc="-165"/>
              <a:t>i</a:t>
            </a:r>
            <a:r>
              <a:rPr dirty="0" spc="-30"/>
              <a:t>c</a:t>
            </a:r>
            <a:r>
              <a:rPr dirty="0" spc="-235"/>
              <a:t> </a:t>
            </a:r>
            <a:r>
              <a:rPr dirty="0" spc="-240"/>
              <a:t>Seven: </a:t>
            </a:r>
            <a:r>
              <a:rPr dirty="0" spc="-90"/>
              <a:t>Neural</a:t>
            </a:r>
            <a:r>
              <a:rPr dirty="0" spc="-240"/>
              <a:t> </a:t>
            </a:r>
            <a:r>
              <a:rPr dirty="0" spc="-10"/>
              <a:t>Networks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81657" y="2260162"/>
            <a:ext cx="11155680" cy="13195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20700" marR="5080" indent="-508000">
              <a:lnSpc>
                <a:spcPct val="106100"/>
              </a:lnSpc>
              <a:spcBef>
                <a:spcPts val="100"/>
              </a:spcBef>
              <a:buSzPct val="122500"/>
              <a:buChar char="•"/>
              <a:tabLst>
                <a:tab pos="520700" algn="l"/>
                <a:tab pos="5233035" algn="l"/>
              </a:tabLst>
            </a:pPr>
            <a:r>
              <a:rPr dirty="0" sz="4000">
                <a:latin typeface="Arial"/>
                <a:cs typeface="Arial"/>
              </a:rPr>
              <a:t>A</a:t>
            </a:r>
            <a:r>
              <a:rPr dirty="0" sz="4000" spc="1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drawback</a:t>
            </a:r>
            <a:r>
              <a:rPr dirty="0" sz="4000" spc="20">
                <a:latin typeface="Arial"/>
                <a:cs typeface="Arial"/>
              </a:rPr>
              <a:t> </a:t>
            </a:r>
            <a:r>
              <a:rPr dirty="0" sz="4000" spc="65">
                <a:latin typeface="Arial"/>
                <a:cs typeface="Arial"/>
              </a:rPr>
              <a:t>of</a:t>
            </a:r>
            <a:r>
              <a:rPr dirty="0" sz="4000" spc="2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these</a:t>
            </a:r>
            <a:r>
              <a:rPr dirty="0" sz="4000" spc="2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models</a:t>
            </a:r>
            <a:r>
              <a:rPr dirty="0" sz="4000" spc="2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is</a:t>
            </a:r>
            <a:r>
              <a:rPr dirty="0" sz="4000" spc="20">
                <a:latin typeface="Arial"/>
                <a:cs typeface="Arial"/>
              </a:rPr>
              <a:t> </a:t>
            </a:r>
            <a:r>
              <a:rPr dirty="0" sz="4000" spc="50">
                <a:latin typeface="Arial"/>
                <a:cs typeface="Arial"/>
              </a:rPr>
              <a:t>that</a:t>
            </a:r>
            <a:r>
              <a:rPr dirty="0" sz="4000" spc="2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we</a:t>
            </a:r>
            <a:r>
              <a:rPr dirty="0" sz="4000" spc="2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have</a:t>
            </a:r>
            <a:r>
              <a:rPr dirty="0" sz="4000" spc="20">
                <a:latin typeface="Arial"/>
                <a:cs typeface="Arial"/>
              </a:rPr>
              <a:t> </a:t>
            </a:r>
            <a:r>
              <a:rPr dirty="0" sz="4000" spc="75">
                <a:latin typeface="Arial"/>
                <a:cs typeface="Arial"/>
              </a:rPr>
              <a:t>to </a:t>
            </a:r>
            <a:r>
              <a:rPr dirty="0" sz="4000">
                <a:latin typeface="Arial"/>
                <a:cs typeface="Arial"/>
              </a:rPr>
              <a:t>select</a:t>
            </a:r>
            <a:r>
              <a:rPr dirty="0" sz="4000" spc="-1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the</a:t>
            </a:r>
            <a:r>
              <a:rPr dirty="0" sz="4000" spc="-1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value</a:t>
            </a:r>
            <a:r>
              <a:rPr dirty="0" sz="4000" spc="-10">
                <a:latin typeface="Arial"/>
                <a:cs typeface="Arial"/>
              </a:rPr>
              <a:t> </a:t>
            </a:r>
            <a:r>
              <a:rPr dirty="0" sz="4000" spc="40">
                <a:latin typeface="Arial"/>
                <a:cs typeface="Arial"/>
              </a:rPr>
              <a:t>of</a:t>
            </a:r>
            <a:r>
              <a:rPr dirty="0" sz="4000">
                <a:latin typeface="Arial"/>
                <a:cs typeface="Arial"/>
              </a:rPr>
              <a:t>	</a:t>
            </a:r>
            <a:r>
              <a:rPr dirty="0" sz="4000" spc="-10">
                <a:latin typeface="Arial"/>
                <a:cs typeface="Arial"/>
              </a:rPr>
              <a:t>appropriately</a:t>
            </a:r>
            <a:endParaRPr sz="4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81657" y="4012030"/>
            <a:ext cx="2057400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20065" indent="-507365">
              <a:lnSpc>
                <a:spcPct val="100000"/>
              </a:lnSpc>
              <a:spcBef>
                <a:spcPts val="100"/>
              </a:spcBef>
              <a:buSzPct val="122500"/>
              <a:buChar char="•"/>
              <a:tabLst>
                <a:tab pos="520065" algn="l"/>
              </a:tabLst>
            </a:pPr>
            <a:r>
              <a:rPr dirty="0" sz="4000" spc="-30">
                <a:latin typeface="Arial"/>
                <a:cs typeface="Arial"/>
              </a:rPr>
              <a:t>Even</a:t>
            </a:r>
            <a:r>
              <a:rPr dirty="0" sz="4000" spc="-245">
                <a:latin typeface="Arial"/>
                <a:cs typeface="Arial"/>
              </a:rPr>
              <a:t> </a:t>
            </a:r>
            <a:r>
              <a:rPr dirty="0" sz="4000" spc="-25">
                <a:latin typeface="Arial"/>
                <a:cs typeface="Arial"/>
              </a:rPr>
              <a:t>if</a:t>
            </a:r>
            <a:endParaRPr sz="4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79977" y="3906394"/>
            <a:ext cx="8333105" cy="7620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dirty="0" sz="4000">
                <a:latin typeface="Arial"/>
                <a:cs typeface="Arial"/>
              </a:rPr>
              <a:t>is</a:t>
            </a:r>
            <a:r>
              <a:rPr dirty="0" sz="4000" spc="6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chosen</a:t>
            </a:r>
            <a:r>
              <a:rPr dirty="0" sz="4000" spc="7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well,</a:t>
            </a:r>
            <a:r>
              <a:rPr dirty="0" sz="4000" spc="6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the</a:t>
            </a:r>
            <a:r>
              <a:rPr dirty="0" sz="4000" spc="7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dependence</a:t>
            </a:r>
            <a:r>
              <a:rPr dirty="0" sz="4000" spc="70">
                <a:latin typeface="Arial"/>
                <a:cs typeface="Arial"/>
              </a:rPr>
              <a:t> </a:t>
            </a:r>
            <a:r>
              <a:rPr dirty="0" sz="4000" spc="65">
                <a:latin typeface="Arial"/>
                <a:cs typeface="Arial"/>
              </a:rPr>
              <a:t>of </a:t>
            </a:r>
            <a:r>
              <a:rPr dirty="0" sz="4800" spc="-25" i="1">
                <a:latin typeface="Times New Roman"/>
                <a:cs typeface="Times New Roman"/>
              </a:rPr>
              <a:t>y</a:t>
            </a:r>
            <a:r>
              <a:rPr dirty="0" baseline="-19607" sz="5100" spc="-37" i="1">
                <a:latin typeface="Times New Roman"/>
                <a:cs typeface="Times New Roman"/>
              </a:rPr>
              <a:t>t</a:t>
            </a:r>
            <a:endParaRPr baseline="-19607" sz="5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43557" y="4503846"/>
            <a:ext cx="10911205" cy="4550410"/>
          </a:xfrm>
          <a:prstGeom prst="rect">
            <a:avLst/>
          </a:prstGeom>
        </p:spPr>
        <p:txBody>
          <a:bodyPr wrap="square" lIns="0" tIns="210820" rIns="0" bIns="0" rtlCol="0" vert="horz">
            <a:spAutoFit/>
          </a:bodyPr>
          <a:lstStyle/>
          <a:p>
            <a:pPr marL="558800">
              <a:lnSpc>
                <a:spcPct val="100000"/>
              </a:lnSpc>
              <a:spcBef>
                <a:spcPts val="1660"/>
              </a:spcBef>
            </a:pPr>
            <a:r>
              <a:rPr dirty="0" sz="4000">
                <a:latin typeface="Arial"/>
                <a:cs typeface="Arial"/>
              </a:rPr>
              <a:t>on</a:t>
            </a:r>
            <a:r>
              <a:rPr dirty="0" sz="4000" spc="5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its</a:t>
            </a:r>
            <a:r>
              <a:rPr dirty="0" sz="4000" spc="5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past</a:t>
            </a:r>
            <a:r>
              <a:rPr dirty="0" sz="4000" spc="5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values</a:t>
            </a:r>
            <a:r>
              <a:rPr dirty="0" sz="4000" spc="5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abruptly</a:t>
            </a:r>
            <a:r>
              <a:rPr dirty="0" sz="4000" spc="55">
                <a:latin typeface="Arial"/>
                <a:cs typeface="Arial"/>
              </a:rPr>
              <a:t> </a:t>
            </a:r>
            <a:r>
              <a:rPr dirty="0" sz="4000" spc="70">
                <a:latin typeface="Arial"/>
                <a:cs typeface="Arial"/>
              </a:rPr>
              <a:t>cuts</a:t>
            </a:r>
            <a:r>
              <a:rPr dirty="0" sz="4000" spc="55">
                <a:latin typeface="Arial"/>
                <a:cs typeface="Arial"/>
              </a:rPr>
              <a:t> </a:t>
            </a:r>
            <a:r>
              <a:rPr dirty="0" sz="4000" spc="105">
                <a:latin typeface="Arial"/>
                <a:cs typeface="Arial"/>
              </a:rPr>
              <a:t>oﬀ</a:t>
            </a:r>
            <a:r>
              <a:rPr dirty="0" sz="4000" spc="55">
                <a:latin typeface="Arial"/>
                <a:cs typeface="Arial"/>
              </a:rPr>
              <a:t> </a:t>
            </a:r>
            <a:r>
              <a:rPr dirty="0" sz="4000" spc="-25">
                <a:latin typeface="Arial"/>
                <a:cs typeface="Arial"/>
              </a:rPr>
              <a:t>at</a:t>
            </a:r>
            <a:endParaRPr sz="4000">
              <a:latin typeface="Arial"/>
              <a:cs typeface="Arial"/>
            </a:endParaRPr>
          </a:p>
          <a:p>
            <a:pPr marL="558800" marR="43180" indent="-508000">
              <a:lnSpc>
                <a:spcPts val="5100"/>
              </a:lnSpc>
              <a:spcBef>
                <a:spcPts val="2760"/>
              </a:spcBef>
              <a:buSzPct val="122500"/>
              <a:buChar char="•"/>
              <a:tabLst>
                <a:tab pos="558800" algn="l"/>
                <a:tab pos="5457190" algn="l"/>
              </a:tabLst>
            </a:pPr>
            <a:r>
              <a:rPr dirty="0" sz="4000">
                <a:latin typeface="Arial"/>
                <a:cs typeface="Arial"/>
              </a:rPr>
              <a:t>RNNs</a:t>
            </a:r>
            <a:r>
              <a:rPr dirty="0" sz="4000" spc="-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are</a:t>
            </a:r>
            <a:r>
              <a:rPr dirty="0" sz="4000" spc="-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a</a:t>
            </a:r>
            <a:r>
              <a:rPr dirty="0" sz="4000" spc="-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way</a:t>
            </a:r>
            <a:r>
              <a:rPr dirty="0" sz="4000" spc="-5">
                <a:latin typeface="Arial"/>
                <a:cs typeface="Arial"/>
              </a:rPr>
              <a:t> </a:t>
            </a:r>
            <a:r>
              <a:rPr dirty="0" sz="4000" spc="65">
                <a:latin typeface="Arial"/>
                <a:cs typeface="Arial"/>
              </a:rPr>
              <a:t>of</a:t>
            </a:r>
            <a:r>
              <a:rPr dirty="0" sz="4000" spc="-5">
                <a:latin typeface="Arial"/>
                <a:cs typeface="Arial"/>
              </a:rPr>
              <a:t> </a:t>
            </a:r>
            <a:r>
              <a:rPr dirty="0" sz="4000" spc="50">
                <a:latin typeface="Arial"/>
                <a:cs typeface="Arial"/>
              </a:rPr>
              <a:t>fitting</a:t>
            </a:r>
            <a:r>
              <a:rPr dirty="0" sz="4000">
                <a:latin typeface="Arial"/>
                <a:cs typeface="Arial"/>
              </a:rPr>
              <a:t> functions</a:t>
            </a:r>
            <a:r>
              <a:rPr dirty="0" sz="4000" spc="-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which</a:t>
            </a:r>
            <a:r>
              <a:rPr dirty="0" sz="4000" spc="-5">
                <a:latin typeface="Arial"/>
                <a:cs typeface="Arial"/>
              </a:rPr>
              <a:t> </a:t>
            </a:r>
            <a:r>
              <a:rPr dirty="0" sz="4000" spc="-25">
                <a:latin typeface="Arial"/>
                <a:cs typeface="Arial"/>
              </a:rPr>
              <a:t>use </a:t>
            </a:r>
            <a:r>
              <a:rPr dirty="0" sz="4000">
                <a:latin typeface="Arial"/>
                <a:cs typeface="Arial"/>
              </a:rPr>
              <a:t>all</a:t>
            </a:r>
            <a:r>
              <a:rPr dirty="0" sz="4000" spc="-3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the</a:t>
            </a:r>
            <a:r>
              <a:rPr dirty="0" sz="4000" spc="-3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past</a:t>
            </a:r>
            <a:r>
              <a:rPr dirty="0" sz="4000" spc="-3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values:</a:t>
            </a:r>
            <a:r>
              <a:rPr dirty="0" sz="4000" spc="-35">
                <a:latin typeface="Arial"/>
                <a:cs typeface="Arial"/>
              </a:rPr>
              <a:t> </a:t>
            </a:r>
            <a:r>
              <a:rPr dirty="0" sz="4800" spc="-25" i="1">
                <a:latin typeface="Times New Roman"/>
                <a:cs typeface="Times New Roman"/>
              </a:rPr>
              <a:t>y</a:t>
            </a:r>
            <a:r>
              <a:rPr dirty="0" baseline="-19607" sz="5100" spc="-37" i="1">
                <a:latin typeface="Times New Roman"/>
                <a:cs typeface="Times New Roman"/>
              </a:rPr>
              <a:t>t</a:t>
            </a:r>
            <a:r>
              <a:rPr dirty="0" baseline="-19607" sz="5100" i="1">
                <a:latin typeface="Times New Roman"/>
                <a:cs typeface="Times New Roman"/>
              </a:rPr>
              <a:t>	</a:t>
            </a:r>
            <a:r>
              <a:rPr dirty="0" sz="4800" spc="635">
                <a:latin typeface="Cambria"/>
                <a:cs typeface="Cambria"/>
              </a:rPr>
              <a:t>=</a:t>
            </a:r>
            <a:r>
              <a:rPr dirty="0" sz="4800" spc="300">
                <a:latin typeface="Cambria"/>
                <a:cs typeface="Cambria"/>
              </a:rPr>
              <a:t> </a:t>
            </a:r>
            <a:r>
              <a:rPr dirty="0" sz="4800" spc="-65" i="1">
                <a:latin typeface="Times New Roman"/>
                <a:cs typeface="Times New Roman"/>
              </a:rPr>
              <a:t>f</a:t>
            </a:r>
            <a:r>
              <a:rPr dirty="0" baseline="-19607" sz="5100" spc="-97" i="1">
                <a:latin typeface="Times New Roman"/>
                <a:cs typeface="Times New Roman"/>
              </a:rPr>
              <a:t>t</a:t>
            </a:r>
            <a:r>
              <a:rPr dirty="0" sz="4800" spc="-65">
                <a:latin typeface="Cambria"/>
                <a:cs typeface="Cambria"/>
              </a:rPr>
              <a:t>(</a:t>
            </a:r>
            <a:r>
              <a:rPr dirty="0" sz="4800" spc="-65" i="1">
                <a:latin typeface="Times New Roman"/>
                <a:cs typeface="Times New Roman"/>
              </a:rPr>
              <a:t>x</a:t>
            </a:r>
            <a:r>
              <a:rPr dirty="0" baseline="-19607" sz="5100" spc="-97" i="1">
                <a:latin typeface="Times New Roman"/>
                <a:cs typeface="Times New Roman"/>
              </a:rPr>
              <a:t>t</a:t>
            </a:r>
            <a:r>
              <a:rPr dirty="0" sz="4800" spc="-65">
                <a:latin typeface="Cambria"/>
                <a:cs typeface="Cambria"/>
              </a:rPr>
              <a:t>,</a:t>
            </a:r>
            <a:r>
              <a:rPr dirty="0" sz="4800" spc="-240">
                <a:latin typeface="Cambria"/>
                <a:cs typeface="Cambria"/>
              </a:rPr>
              <a:t> </a:t>
            </a:r>
            <a:r>
              <a:rPr dirty="0" sz="4800" spc="60" i="1">
                <a:latin typeface="Times New Roman"/>
                <a:cs typeface="Times New Roman"/>
              </a:rPr>
              <a:t>x</a:t>
            </a:r>
            <a:r>
              <a:rPr dirty="0" baseline="-19607" sz="5100" spc="89" i="1">
                <a:latin typeface="Times New Roman"/>
                <a:cs typeface="Times New Roman"/>
              </a:rPr>
              <a:t>t</a:t>
            </a:r>
            <a:r>
              <a:rPr dirty="0" baseline="-19607" sz="5100" spc="89">
                <a:latin typeface="Cambria"/>
                <a:cs typeface="Cambria"/>
              </a:rPr>
              <a:t>−1</a:t>
            </a:r>
            <a:r>
              <a:rPr dirty="0" sz="4800" spc="60">
                <a:latin typeface="Cambria"/>
                <a:cs typeface="Cambria"/>
              </a:rPr>
              <a:t>,</a:t>
            </a:r>
            <a:r>
              <a:rPr dirty="0" sz="4800" spc="-245">
                <a:latin typeface="Cambria"/>
                <a:cs typeface="Cambria"/>
              </a:rPr>
              <a:t> </a:t>
            </a:r>
            <a:r>
              <a:rPr dirty="0" sz="4800" spc="700">
                <a:latin typeface="Cambria"/>
                <a:cs typeface="Cambria"/>
              </a:rPr>
              <a:t>…,</a:t>
            </a:r>
            <a:r>
              <a:rPr dirty="0" sz="4800" spc="-245">
                <a:latin typeface="Cambria"/>
                <a:cs typeface="Cambria"/>
              </a:rPr>
              <a:t> </a:t>
            </a:r>
            <a:r>
              <a:rPr dirty="0" sz="4800" spc="-25" i="1">
                <a:latin typeface="Times New Roman"/>
                <a:cs typeface="Times New Roman"/>
              </a:rPr>
              <a:t>x</a:t>
            </a:r>
            <a:r>
              <a:rPr dirty="0" baseline="-19607" sz="5100" spc="-37">
                <a:latin typeface="Cambria"/>
                <a:cs typeface="Cambria"/>
              </a:rPr>
              <a:t>1</a:t>
            </a:r>
            <a:r>
              <a:rPr dirty="0" sz="4800" spc="-25">
                <a:latin typeface="Cambria"/>
                <a:cs typeface="Cambria"/>
              </a:rPr>
              <a:t>)</a:t>
            </a:r>
            <a:endParaRPr sz="4800">
              <a:latin typeface="Cambria"/>
              <a:cs typeface="Cambria"/>
            </a:endParaRPr>
          </a:p>
          <a:p>
            <a:pPr marL="558800" marR="352425" indent="-508000">
              <a:lnSpc>
                <a:spcPts val="4330"/>
              </a:lnSpc>
              <a:spcBef>
                <a:spcPts val="3379"/>
              </a:spcBef>
              <a:buSzPct val="122500"/>
              <a:buChar char="•"/>
              <a:tabLst>
                <a:tab pos="558800" algn="l"/>
              </a:tabLst>
            </a:pPr>
            <a:r>
              <a:rPr dirty="0" sz="4000" spc="-120">
                <a:latin typeface="Arial"/>
                <a:cs typeface="Arial"/>
              </a:rPr>
              <a:t>We</a:t>
            </a:r>
            <a:r>
              <a:rPr dirty="0" sz="4000" spc="-9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shall</a:t>
            </a:r>
            <a:r>
              <a:rPr dirty="0" sz="4000" spc="-90">
                <a:latin typeface="Arial"/>
                <a:cs typeface="Arial"/>
              </a:rPr>
              <a:t> </a:t>
            </a:r>
            <a:r>
              <a:rPr dirty="0" sz="4000" spc="55">
                <a:latin typeface="Arial"/>
                <a:cs typeface="Arial"/>
              </a:rPr>
              <a:t>study</a:t>
            </a:r>
            <a:r>
              <a:rPr dirty="0" sz="4000" spc="-9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vanilla</a:t>
            </a:r>
            <a:r>
              <a:rPr dirty="0" sz="4000" spc="-9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RNNs</a:t>
            </a:r>
            <a:r>
              <a:rPr dirty="0" sz="4000" spc="-9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and</a:t>
            </a:r>
            <a:r>
              <a:rPr dirty="0" sz="4000" spc="-8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more</a:t>
            </a:r>
            <a:r>
              <a:rPr dirty="0" sz="4000" spc="-90">
                <a:latin typeface="Arial"/>
                <a:cs typeface="Arial"/>
              </a:rPr>
              <a:t> </a:t>
            </a:r>
            <a:r>
              <a:rPr dirty="0" sz="4000" spc="-10">
                <a:latin typeface="Arial"/>
                <a:cs typeface="Arial"/>
              </a:rPr>
              <a:t>fancy </a:t>
            </a:r>
            <a:r>
              <a:rPr dirty="0" sz="4000">
                <a:latin typeface="Arial"/>
                <a:cs typeface="Arial"/>
              </a:rPr>
              <a:t>variants</a:t>
            </a:r>
            <a:r>
              <a:rPr dirty="0" sz="4000" spc="-7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such</a:t>
            </a:r>
            <a:r>
              <a:rPr dirty="0" sz="4000" spc="-7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as</a:t>
            </a:r>
            <a:r>
              <a:rPr dirty="0" sz="4000" spc="-7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LSTMs</a:t>
            </a:r>
            <a:r>
              <a:rPr dirty="0" sz="4000" spc="-7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and</a:t>
            </a:r>
            <a:r>
              <a:rPr dirty="0" sz="4000" spc="-75">
                <a:latin typeface="Arial"/>
                <a:cs typeface="Arial"/>
              </a:rPr>
              <a:t> </a:t>
            </a:r>
            <a:r>
              <a:rPr dirty="0" sz="4000" spc="-20">
                <a:latin typeface="Arial"/>
                <a:cs typeface="Arial"/>
              </a:rPr>
              <a:t>GRUs</a:t>
            </a:r>
            <a:r>
              <a:rPr dirty="0" sz="4000" spc="-75">
                <a:latin typeface="Arial"/>
                <a:cs typeface="Arial"/>
              </a:rPr>
              <a:t> </a:t>
            </a:r>
            <a:r>
              <a:rPr dirty="0" sz="4000" spc="-20">
                <a:latin typeface="Arial"/>
                <a:cs typeface="Arial"/>
              </a:rPr>
              <a:t>(and </a:t>
            </a:r>
            <a:r>
              <a:rPr dirty="0" sz="4000">
                <a:latin typeface="Arial"/>
                <a:cs typeface="Arial"/>
              </a:rPr>
              <a:t>possibly</a:t>
            </a:r>
            <a:r>
              <a:rPr dirty="0" sz="4000" spc="10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also</a:t>
            </a:r>
            <a:r>
              <a:rPr dirty="0" sz="4000" spc="110">
                <a:latin typeface="Arial"/>
                <a:cs typeface="Arial"/>
              </a:rPr>
              <a:t> </a:t>
            </a:r>
            <a:r>
              <a:rPr dirty="0" sz="4000" spc="-10">
                <a:latin typeface="Arial"/>
                <a:cs typeface="Arial"/>
              </a:rPr>
              <a:t>transformers)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6550" y="2652514"/>
            <a:ext cx="12369800" cy="61595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09206" y="1282449"/>
            <a:ext cx="11210925" cy="577850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  <a:tabLst>
                <a:tab pos="7099300" algn="l"/>
              </a:tabLst>
            </a:pPr>
            <a:r>
              <a:rPr dirty="0" sz="3000" spc="-10" b="0">
                <a:latin typeface="Arial"/>
                <a:cs typeface="Arial"/>
              </a:rPr>
              <a:t>Here</a:t>
            </a:r>
            <a:r>
              <a:rPr dirty="0" sz="3000" spc="-15" b="0">
                <a:latin typeface="Arial"/>
                <a:cs typeface="Arial"/>
              </a:rPr>
              <a:t> </a:t>
            </a:r>
            <a:r>
              <a:rPr dirty="0" sz="3000" b="0">
                <a:latin typeface="Arial"/>
                <a:cs typeface="Arial"/>
              </a:rPr>
              <a:t>is</a:t>
            </a:r>
            <a:r>
              <a:rPr dirty="0" sz="3000" spc="-10" b="0">
                <a:latin typeface="Arial"/>
                <a:cs typeface="Arial"/>
              </a:rPr>
              <a:t> </a:t>
            </a:r>
            <a:r>
              <a:rPr dirty="0" sz="3000" b="0">
                <a:latin typeface="Arial"/>
                <a:cs typeface="Arial"/>
              </a:rPr>
              <a:t>a</a:t>
            </a:r>
            <a:r>
              <a:rPr dirty="0" sz="3000" spc="-10" b="0">
                <a:latin typeface="Arial"/>
                <a:cs typeface="Arial"/>
              </a:rPr>
              <a:t> </a:t>
            </a:r>
            <a:r>
              <a:rPr dirty="0" sz="3000" b="0">
                <a:latin typeface="Arial"/>
                <a:cs typeface="Arial"/>
              </a:rPr>
              <a:t>simulated</a:t>
            </a:r>
            <a:r>
              <a:rPr dirty="0" sz="3000" spc="-15" b="0">
                <a:latin typeface="Arial"/>
                <a:cs typeface="Arial"/>
              </a:rPr>
              <a:t> </a:t>
            </a:r>
            <a:r>
              <a:rPr dirty="0" sz="3000" b="0">
                <a:latin typeface="Arial"/>
                <a:cs typeface="Arial"/>
              </a:rPr>
              <a:t>data</a:t>
            </a:r>
            <a:r>
              <a:rPr dirty="0" sz="3000" spc="-10" b="0">
                <a:latin typeface="Arial"/>
                <a:cs typeface="Arial"/>
              </a:rPr>
              <a:t> </a:t>
            </a:r>
            <a:r>
              <a:rPr dirty="0" sz="3000" b="0">
                <a:latin typeface="Arial"/>
                <a:cs typeface="Arial"/>
              </a:rPr>
              <a:t>generated</a:t>
            </a:r>
            <a:r>
              <a:rPr dirty="0" sz="3000" spc="-10" b="0">
                <a:latin typeface="Arial"/>
                <a:cs typeface="Arial"/>
              </a:rPr>
              <a:t> </a:t>
            </a:r>
            <a:r>
              <a:rPr dirty="0" sz="3000" b="0">
                <a:latin typeface="Arial"/>
                <a:cs typeface="Arial"/>
              </a:rPr>
              <a:t>as:</a:t>
            </a:r>
            <a:r>
              <a:rPr dirty="0" sz="3000" spc="-10" b="0">
                <a:latin typeface="Arial"/>
                <a:cs typeface="Arial"/>
              </a:rPr>
              <a:t> </a:t>
            </a:r>
            <a:r>
              <a:rPr dirty="0" sz="3600" spc="-25" b="0" i="1">
                <a:latin typeface="Times New Roman"/>
                <a:cs typeface="Times New Roman"/>
              </a:rPr>
              <a:t>y</a:t>
            </a:r>
            <a:r>
              <a:rPr dirty="0" baseline="-19607" sz="3825" spc="-37" b="0" i="1">
                <a:latin typeface="Times New Roman"/>
                <a:cs typeface="Times New Roman"/>
              </a:rPr>
              <a:t>t</a:t>
            </a:r>
            <a:r>
              <a:rPr dirty="0" baseline="-19607" sz="3825" b="0" i="1">
                <a:latin typeface="Times New Roman"/>
                <a:cs typeface="Times New Roman"/>
              </a:rPr>
              <a:t>	</a:t>
            </a:r>
            <a:r>
              <a:rPr dirty="0" sz="3600" spc="475" b="0">
                <a:latin typeface="Cambria"/>
                <a:cs typeface="Cambria"/>
              </a:rPr>
              <a:t>=</a:t>
            </a:r>
            <a:r>
              <a:rPr dirty="0" sz="3600" spc="229" b="0">
                <a:latin typeface="Cambria"/>
                <a:cs typeface="Cambria"/>
              </a:rPr>
              <a:t> </a:t>
            </a:r>
            <a:r>
              <a:rPr dirty="0" sz="3600" spc="55" b="0" i="1">
                <a:latin typeface="Times New Roman"/>
                <a:cs typeface="Times New Roman"/>
              </a:rPr>
              <a:t>y</a:t>
            </a:r>
            <a:r>
              <a:rPr dirty="0" baseline="-19607" sz="3825" spc="82" b="0" i="1">
                <a:latin typeface="Times New Roman"/>
                <a:cs typeface="Times New Roman"/>
              </a:rPr>
              <a:t>t</a:t>
            </a:r>
            <a:r>
              <a:rPr dirty="0" baseline="-19607" sz="3825" spc="82" b="0">
                <a:latin typeface="Cambria"/>
                <a:cs typeface="Cambria"/>
              </a:rPr>
              <a:t>−</a:t>
            </a:r>
            <a:r>
              <a:rPr dirty="0" baseline="-19607" sz="3825" spc="82" b="0" i="1">
                <a:latin typeface="Times New Roman"/>
                <a:cs typeface="Times New Roman"/>
              </a:rPr>
              <a:t>p</a:t>
            </a:r>
            <a:r>
              <a:rPr dirty="0" baseline="-19607" sz="3825" spc="277" b="0" i="1">
                <a:latin typeface="Times New Roman"/>
                <a:cs typeface="Times New Roman"/>
              </a:rPr>
              <a:t> </a:t>
            </a:r>
            <a:r>
              <a:rPr dirty="0" sz="3600" spc="475" b="0">
                <a:latin typeface="Cambria"/>
                <a:cs typeface="Cambria"/>
              </a:rPr>
              <a:t>+</a:t>
            </a:r>
            <a:r>
              <a:rPr dirty="0" sz="3600" spc="30" b="0">
                <a:latin typeface="Cambria"/>
                <a:cs typeface="Cambria"/>
              </a:rPr>
              <a:t> </a:t>
            </a:r>
            <a:r>
              <a:rPr dirty="0" sz="3600" b="0" i="1">
                <a:latin typeface="Times New Roman"/>
                <a:cs typeface="Times New Roman"/>
              </a:rPr>
              <a:t>ϵ</a:t>
            </a:r>
            <a:r>
              <a:rPr dirty="0" baseline="-19607" sz="3825" b="0" i="1">
                <a:latin typeface="Times New Roman"/>
                <a:cs typeface="Times New Roman"/>
              </a:rPr>
              <a:t>t</a:t>
            </a:r>
            <a:r>
              <a:rPr dirty="0" baseline="-19607" sz="3825" spc="322" b="0" i="1">
                <a:latin typeface="Times New Roman"/>
                <a:cs typeface="Times New Roman"/>
              </a:rPr>
              <a:t> </a:t>
            </a:r>
            <a:r>
              <a:rPr dirty="0" sz="3000" b="0">
                <a:latin typeface="Arial"/>
                <a:cs typeface="Arial"/>
              </a:rPr>
              <a:t>for</a:t>
            </a:r>
            <a:r>
              <a:rPr dirty="0" sz="3000" spc="15" b="0">
                <a:latin typeface="Arial"/>
                <a:cs typeface="Arial"/>
              </a:rPr>
              <a:t> </a:t>
            </a:r>
            <a:r>
              <a:rPr dirty="0" sz="3600" b="0" i="1">
                <a:latin typeface="Times New Roman"/>
                <a:cs typeface="Times New Roman"/>
              </a:rPr>
              <a:t>p</a:t>
            </a:r>
            <a:r>
              <a:rPr dirty="0" sz="3600" spc="130" b="0" i="1">
                <a:latin typeface="Times New Roman"/>
                <a:cs typeface="Times New Roman"/>
              </a:rPr>
              <a:t> </a:t>
            </a:r>
            <a:r>
              <a:rPr dirty="0" sz="3600" spc="475" b="0">
                <a:latin typeface="Cambria"/>
                <a:cs typeface="Cambria"/>
              </a:rPr>
              <a:t>=</a:t>
            </a:r>
            <a:r>
              <a:rPr dirty="0" sz="3600" spc="235" b="0">
                <a:latin typeface="Cambria"/>
                <a:cs typeface="Cambria"/>
              </a:rPr>
              <a:t> </a:t>
            </a:r>
            <a:r>
              <a:rPr dirty="0" sz="3600" spc="-50" b="0">
                <a:latin typeface="Cambria"/>
                <a:cs typeface="Cambria"/>
              </a:rPr>
              <a:t>344</a:t>
            </a:r>
            <a:endParaRPr sz="36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1800" y="2089001"/>
            <a:ext cx="12192000" cy="71374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34606" y="1202324"/>
            <a:ext cx="9925685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806305" algn="l"/>
              </a:tabLst>
            </a:pPr>
            <a:r>
              <a:rPr dirty="0" sz="3000" spc="-10" b="0">
                <a:latin typeface="Arial"/>
                <a:cs typeface="Arial"/>
              </a:rPr>
              <a:t>Here</a:t>
            </a:r>
            <a:r>
              <a:rPr dirty="0" sz="3000" b="0">
                <a:latin typeface="Arial"/>
                <a:cs typeface="Arial"/>
              </a:rPr>
              <a:t> are the forecasts</a:t>
            </a:r>
            <a:r>
              <a:rPr dirty="0" sz="3000" spc="5" b="0">
                <a:latin typeface="Arial"/>
                <a:cs typeface="Arial"/>
              </a:rPr>
              <a:t> </a:t>
            </a:r>
            <a:r>
              <a:rPr dirty="0" sz="3000" b="0">
                <a:latin typeface="Arial"/>
                <a:cs typeface="Arial"/>
              </a:rPr>
              <a:t>by the AR model</a:t>
            </a:r>
            <a:r>
              <a:rPr dirty="0" sz="3000" spc="5" b="0">
                <a:latin typeface="Arial"/>
                <a:cs typeface="Arial"/>
              </a:rPr>
              <a:t> </a:t>
            </a:r>
            <a:r>
              <a:rPr dirty="0" sz="3000" spc="50" b="0">
                <a:latin typeface="Arial"/>
                <a:cs typeface="Arial"/>
              </a:rPr>
              <a:t>with</a:t>
            </a:r>
            <a:r>
              <a:rPr dirty="0" sz="3000" b="0">
                <a:latin typeface="Arial"/>
                <a:cs typeface="Arial"/>
              </a:rPr>
              <a:t> the </a:t>
            </a:r>
            <a:r>
              <a:rPr dirty="0" sz="3000" spc="-10" b="0">
                <a:latin typeface="Arial"/>
                <a:cs typeface="Arial"/>
              </a:rPr>
              <a:t>correct</a:t>
            </a:r>
            <a:r>
              <a:rPr dirty="0" sz="3000" b="0">
                <a:latin typeface="Arial"/>
                <a:cs typeface="Arial"/>
              </a:rPr>
              <a:t>	</a:t>
            </a:r>
            <a:r>
              <a:rPr dirty="0" sz="3000" spc="-50" b="0">
                <a:latin typeface="Arial"/>
                <a:cs typeface="Arial"/>
              </a:rPr>
              <a:t>:</a:t>
            </a:r>
            <a:endParaRPr sz="3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0313" y="2876540"/>
            <a:ext cx="12807923" cy="6201616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34606" y="1022198"/>
            <a:ext cx="11422380" cy="9963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6100"/>
              </a:lnSpc>
              <a:spcBef>
                <a:spcPts val="100"/>
              </a:spcBef>
              <a:tabLst>
                <a:tab pos="2092960" algn="l"/>
              </a:tabLst>
            </a:pPr>
            <a:r>
              <a:rPr dirty="0" sz="3000" spc="-10" b="0">
                <a:latin typeface="Arial"/>
                <a:cs typeface="Arial"/>
              </a:rPr>
              <a:t>Here</a:t>
            </a:r>
            <a:r>
              <a:rPr dirty="0" sz="3000" spc="-20" b="0">
                <a:latin typeface="Arial"/>
                <a:cs typeface="Arial"/>
              </a:rPr>
              <a:t> </a:t>
            </a:r>
            <a:r>
              <a:rPr dirty="0" sz="3000" b="0">
                <a:latin typeface="Arial"/>
                <a:cs typeface="Arial"/>
              </a:rPr>
              <a:t>are</a:t>
            </a:r>
            <a:r>
              <a:rPr dirty="0" sz="3000" spc="-20" b="0">
                <a:latin typeface="Arial"/>
                <a:cs typeface="Arial"/>
              </a:rPr>
              <a:t> </a:t>
            </a:r>
            <a:r>
              <a:rPr dirty="0" sz="3000" b="0">
                <a:latin typeface="Arial"/>
                <a:cs typeface="Arial"/>
              </a:rPr>
              <a:t>the</a:t>
            </a:r>
            <a:r>
              <a:rPr dirty="0" sz="3000" spc="-20" b="0">
                <a:latin typeface="Arial"/>
                <a:cs typeface="Arial"/>
              </a:rPr>
              <a:t> </a:t>
            </a:r>
            <a:r>
              <a:rPr dirty="0" sz="3000" b="0">
                <a:latin typeface="Arial"/>
                <a:cs typeface="Arial"/>
              </a:rPr>
              <a:t>forecasts</a:t>
            </a:r>
            <a:r>
              <a:rPr dirty="0" sz="3000" spc="-20" b="0">
                <a:latin typeface="Arial"/>
                <a:cs typeface="Arial"/>
              </a:rPr>
              <a:t> </a:t>
            </a:r>
            <a:r>
              <a:rPr dirty="0" sz="3000" b="0">
                <a:latin typeface="Arial"/>
                <a:cs typeface="Arial"/>
              </a:rPr>
              <a:t>by</a:t>
            </a:r>
            <a:r>
              <a:rPr dirty="0" sz="3000" spc="-15" b="0">
                <a:latin typeface="Arial"/>
                <a:cs typeface="Arial"/>
              </a:rPr>
              <a:t> </a:t>
            </a:r>
            <a:r>
              <a:rPr dirty="0" sz="3000" b="0">
                <a:latin typeface="Arial"/>
                <a:cs typeface="Arial"/>
              </a:rPr>
              <a:t>an</a:t>
            </a:r>
            <a:r>
              <a:rPr dirty="0" sz="3000" spc="-20" b="0">
                <a:latin typeface="Arial"/>
                <a:cs typeface="Arial"/>
              </a:rPr>
              <a:t> </a:t>
            </a:r>
            <a:r>
              <a:rPr dirty="0" sz="3000" b="0">
                <a:latin typeface="Arial"/>
                <a:cs typeface="Arial"/>
              </a:rPr>
              <a:t>LSTM</a:t>
            </a:r>
            <a:r>
              <a:rPr dirty="0" sz="3000" spc="-20" b="0">
                <a:latin typeface="Arial"/>
                <a:cs typeface="Arial"/>
              </a:rPr>
              <a:t> </a:t>
            </a:r>
            <a:r>
              <a:rPr dirty="0" sz="3000" b="0">
                <a:latin typeface="Arial"/>
                <a:cs typeface="Arial"/>
              </a:rPr>
              <a:t>(which</a:t>
            </a:r>
            <a:r>
              <a:rPr dirty="0" sz="3000" spc="-20" b="0">
                <a:latin typeface="Arial"/>
                <a:cs typeface="Arial"/>
              </a:rPr>
              <a:t> </a:t>
            </a:r>
            <a:r>
              <a:rPr dirty="0" sz="3000" b="0">
                <a:latin typeface="Arial"/>
                <a:cs typeface="Arial"/>
              </a:rPr>
              <a:t>does</a:t>
            </a:r>
            <a:r>
              <a:rPr dirty="0" sz="3000" spc="-20" b="0">
                <a:latin typeface="Arial"/>
                <a:cs typeface="Arial"/>
              </a:rPr>
              <a:t> </a:t>
            </a:r>
            <a:r>
              <a:rPr dirty="0" sz="3000" spc="55" b="0">
                <a:latin typeface="Arial"/>
                <a:cs typeface="Arial"/>
              </a:rPr>
              <a:t>not</a:t>
            </a:r>
            <a:r>
              <a:rPr dirty="0" sz="3000" spc="-15" b="0">
                <a:latin typeface="Arial"/>
                <a:cs typeface="Arial"/>
              </a:rPr>
              <a:t> </a:t>
            </a:r>
            <a:r>
              <a:rPr dirty="0" sz="3000" b="0">
                <a:latin typeface="Arial"/>
                <a:cs typeface="Arial"/>
              </a:rPr>
              <a:t>use</a:t>
            </a:r>
            <a:r>
              <a:rPr dirty="0" sz="3000" spc="-20" b="0">
                <a:latin typeface="Arial"/>
                <a:cs typeface="Arial"/>
              </a:rPr>
              <a:t> </a:t>
            </a:r>
            <a:r>
              <a:rPr dirty="0" sz="3000" spc="-10" b="0">
                <a:latin typeface="Arial"/>
                <a:cs typeface="Arial"/>
              </a:rPr>
              <a:t>knowledge </a:t>
            </a:r>
            <a:r>
              <a:rPr dirty="0" sz="3000" spc="50" b="0">
                <a:latin typeface="Arial"/>
                <a:cs typeface="Arial"/>
              </a:rPr>
              <a:t>of</a:t>
            </a:r>
            <a:r>
              <a:rPr dirty="0" sz="3000" spc="20" b="0">
                <a:latin typeface="Arial"/>
                <a:cs typeface="Arial"/>
              </a:rPr>
              <a:t> </a:t>
            </a:r>
            <a:r>
              <a:rPr dirty="0" sz="3000" b="0">
                <a:latin typeface="Arial"/>
                <a:cs typeface="Arial"/>
              </a:rPr>
              <a:t>the</a:t>
            </a:r>
            <a:r>
              <a:rPr dirty="0" sz="3000" spc="20" b="0">
                <a:latin typeface="Arial"/>
                <a:cs typeface="Arial"/>
              </a:rPr>
              <a:t> </a:t>
            </a:r>
            <a:r>
              <a:rPr dirty="0" sz="3000" spc="-20" b="0">
                <a:latin typeface="Arial"/>
                <a:cs typeface="Arial"/>
              </a:rPr>
              <a:t>true</a:t>
            </a:r>
            <a:r>
              <a:rPr dirty="0" sz="3000" b="0">
                <a:latin typeface="Arial"/>
                <a:cs typeface="Arial"/>
              </a:rPr>
              <a:t>	</a:t>
            </a:r>
            <a:r>
              <a:rPr dirty="0" sz="3000" spc="-25" b="0">
                <a:latin typeface="Arial"/>
                <a:cs typeface="Arial"/>
              </a:rPr>
              <a:t>):</a:t>
            </a:r>
            <a:endParaRPr sz="3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1657" y="1214157"/>
            <a:ext cx="9881235" cy="7134225"/>
          </a:xfrm>
          <a:prstGeom prst="rect">
            <a:avLst/>
          </a:prstGeom>
        </p:spPr>
        <p:txBody>
          <a:bodyPr wrap="square" lIns="0" tIns="199390" rIns="0" bIns="0" rtlCol="0" vert="horz">
            <a:spAutoFit/>
          </a:bodyPr>
          <a:lstStyle/>
          <a:p>
            <a:pPr marL="520065" indent="-507365">
              <a:lnSpc>
                <a:spcPct val="100000"/>
              </a:lnSpc>
              <a:spcBef>
                <a:spcPts val="1570"/>
              </a:spcBef>
              <a:buSzPct val="122500"/>
              <a:buChar char="•"/>
              <a:tabLst>
                <a:tab pos="520065" algn="l"/>
              </a:tabLst>
            </a:pPr>
            <a:r>
              <a:rPr dirty="0" sz="4000">
                <a:latin typeface="Arial"/>
                <a:cs typeface="Arial"/>
              </a:rPr>
              <a:t>Topic</a:t>
            </a:r>
            <a:r>
              <a:rPr dirty="0" sz="4000" spc="-6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1:</a:t>
            </a:r>
            <a:r>
              <a:rPr dirty="0" sz="4000" spc="-6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Multiple</a:t>
            </a:r>
            <a:r>
              <a:rPr dirty="0" sz="4000" spc="-6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Linear</a:t>
            </a:r>
            <a:r>
              <a:rPr dirty="0" sz="4000" spc="-60">
                <a:latin typeface="Arial"/>
                <a:cs typeface="Arial"/>
              </a:rPr>
              <a:t> </a:t>
            </a:r>
            <a:r>
              <a:rPr dirty="0" sz="4000" spc="-10">
                <a:latin typeface="Arial"/>
                <a:cs typeface="Arial"/>
              </a:rPr>
              <a:t>Regression</a:t>
            </a:r>
            <a:endParaRPr sz="4000">
              <a:latin typeface="Arial"/>
              <a:cs typeface="Arial"/>
            </a:endParaRPr>
          </a:p>
          <a:p>
            <a:pPr marL="520065" indent="-507365">
              <a:lnSpc>
                <a:spcPct val="100000"/>
              </a:lnSpc>
              <a:spcBef>
                <a:spcPts val="2730"/>
              </a:spcBef>
              <a:buSzPct val="122500"/>
              <a:buChar char="•"/>
              <a:tabLst>
                <a:tab pos="520065" algn="l"/>
              </a:tabLst>
            </a:pPr>
            <a:r>
              <a:rPr dirty="0" sz="4000">
                <a:latin typeface="Arial"/>
                <a:cs typeface="Arial"/>
              </a:rPr>
              <a:t>Topic</a:t>
            </a:r>
            <a:r>
              <a:rPr dirty="0" sz="4000" spc="-16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2:</a:t>
            </a:r>
            <a:r>
              <a:rPr dirty="0" sz="4000" spc="-16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Nonlinear</a:t>
            </a:r>
            <a:r>
              <a:rPr dirty="0" sz="4000" spc="-155">
                <a:latin typeface="Arial"/>
                <a:cs typeface="Arial"/>
              </a:rPr>
              <a:t> </a:t>
            </a:r>
            <a:r>
              <a:rPr dirty="0" sz="4000" spc="-10">
                <a:latin typeface="Arial"/>
                <a:cs typeface="Arial"/>
              </a:rPr>
              <a:t>Regression</a:t>
            </a:r>
            <a:endParaRPr sz="4000">
              <a:latin typeface="Arial"/>
              <a:cs typeface="Arial"/>
            </a:endParaRPr>
          </a:p>
          <a:p>
            <a:pPr marL="520065" indent="-507365">
              <a:lnSpc>
                <a:spcPct val="100000"/>
              </a:lnSpc>
              <a:spcBef>
                <a:spcPts val="2735"/>
              </a:spcBef>
              <a:buSzPct val="122500"/>
              <a:buChar char="•"/>
              <a:tabLst>
                <a:tab pos="520065" algn="l"/>
              </a:tabLst>
            </a:pPr>
            <a:r>
              <a:rPr dirty="0" sz="4000">
                <a:latin typeface="Arial"/>
                <a:cs typeface="Arial"/>
              </a:rPr>
              <a:t>Topic 3: High-dimensional</a:t>
            </a:r>
            <a:r>
              <a:rPr dirty="0" sz="4000" spc="5">
                <a:latin typeface="Arial"/>
                <a:cs typeface="Arial"/>
              </a:rPr>
              <a:t> </a:t>
            </a:r>
            <a:r>
              <a:rPr dirty="0" sz="4000" spc="-10">
                <a:latin typeface="Arial"/>
                <a:cs typeface="Arial"/>
              </a:rPr>
              <a:t>Regression</a:t>
            </a:r>
            <a:endParaRPr sz="4000">
              <a:latin typeface="Arial"/>
              <a:cs typeface="Arial"/>
            </a:endParaRPr>
          </a:p>
          <a:p>
            <a:pPr marL="520700" marR="648970" indent="-508000">
              <a:lnSpc>
                <a:spcPts val="4330"/>
              </a:lnSpc>
              <a:spcBef>
                <a:spcPts val="3265"/>
              </a:spcBef>
              <a:buSzPct val="122500"/>
              <a:buChar char="•"/>
              <a:tabLst>
                <a:tab pos="520700" algn="l"/>
              </a:tabLst>
            </a:pPr>
            <a:r>
              <a:rPr dirty="0" sz="4000">
                <a:latin typeface="Arial"/>
                <a:cs typeface="Arial"/>
              </a:rPr>
              <a:t>Topic</a:t>
            </a:r>
            <a:r>
              <a:rPr dirty="0" sz="4000" spc="-4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4:</a:t>
            </a:r>
            <a:r>
              <a:rPr dirty="0" sz="4000" spc="-40">
                <a:latin typeface="Arial"/>
                <a:cs typeface="Arial"/>
              </a:rPr>
              <a:t> </a:t>
            </a:r>
            <a:r>
              <a:rPr dirty="0" sz="4000" spc="-55">
                <a:latin typeface="Arial"/>
                <a:cs typeface="Arial"/>
              </a:rPr>
              <a:t>Variance</a:t>
            </a:r>
            <a:r>
              <a:rPr dirty="0" sz="4000" spc="-4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Models</a:t>
            </a:r>
            <a:r>
              <a:rPr dirty="0" sz="4000" spc="-4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and</a:t>
            </a:r>
            <a:r>
              <a:rPr dirty="0" sz="4000" spc="-40">
                <a:latin typeface="Arial"/>
                <a:cs typeface="Arial"/>
              </a:rPr>
              <a:t> </a:t>
            </a:r>
            <a:r>
              <a:rPr dirty="0" sz="4000" spc="-10">
                <a:latin typeface="Arial"/>
                <a:cs typeface="Arial"/>
              </a:rPr>
              <a:t>Spectral Analysis</a:t>
            </a:r>
            <a:endParaRPr sz="4000">
              <a:latin typeface="Arial"/>
              <a:cs typeface="Arial"/>
            </a:endParaRPr>
          </a:p>
          <a:p>
            <a:pPr marL="520065" indent="-507365">
              <a:lnSpc>
                <a:spcPct val="100000"/>
              </a:lnSpc>
              <a:spcBef>
                <a:spcPts val="2665"/>
              </a:spcBef>
              <a:buSzPct val="122500"/>
              <a:buChar char="•"/>
              <a:tabLst>
                <a:tab pos="520065" algn="l"/>
              </a:tabLst>
            </a:pPr>
            <a:r>
              <a:rPr dirty="0" sz="4000">
                <a:latin typeface="Arial"/>
                <a:cs typeface="Arial"/>
              </a:rPr>
              <a:t>Topic</a:t>
            </a:r>
            <a:r>
              <a:rPr dirty="0" sz="4000" spc="-19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5:</a:t>
            </a:r>
            <a:r>
              <a:rPr dirty="0" sz="4000" spc="-18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ARIMA</a:t>
            </a:r>
            <a:r>
              <a:rPr dirty="0" sz="4000" spc="-185">
                <a:latin typeface="Arial"/>
                <a:cs typeface="Arial"/>
              </a:rPr>
              <a:t> </a:t>
            </a:r>
            <a:r>
              <a:rPr dirty="0" sz="4000" spc="-10">
                <a:latin typeface="Arial"/>
                <a:cs typeface="Arial"/>
              </a:rPr>
              <a:t>modeling</a:t>
            </a:r>
            <a:endParaRPr sz="4000">
              <a:latin typeface="Arial"/>
              <a:cs typeface="Arial"/>
            </a:endParaRPr>
          </a:p>
          <a:p>
            <a:pPr marL="520065" indent="-507365">
              <a:lnSpc>
                <a:spcPct val="100000"/>
              </a:lnSpc>
              <a:spcBef>
                <a:spcPts val="2735"/>
              </a:spcBef>
              <a:buSzPct val="122500"/>
              <a:buChar char="•"/>
              <a:tabLst>
                <a:tab pos="520065" algn="l"/>
              </a:tabLst>
            </a:pPr>
            <a:r>
              <a:rPr dirty="0" sz="4000">
                <a:latin typeface="Arial"/>
                <a:cs typeface="Arial"/>
              </a:rPr>
              <a:t>Topic</a:t>
            </a:r>
            <a:r>
              <a:rPr dirty="0" sz="4000" spc="-28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6:</a:t>
            </a:r>
            <a:r>
              <a:rPr dirty="0" sz="4000" spc="-15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Vector</a:t>
            </a:r>
            <a:r>
              <a:rPr dirty="0" sz="4000" spc="-15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Time</a:t>
            </a:r>
            <a:r>
              <a:rPr dirty="0" sz="4000" spc="-160">
                <a:latin typeface="Arial"/>
                <a:cs typeface="Arial"/>
              </a:rPr>
              <a:t> </a:t>
            </a:r>
            <a:r>
              <a:rPr dirty="0" sz="4000" spc="-20">
                <a:latin typeface="Arial"/>
                <a:cs typeface="Arial"/>
              </a:rPr>
              <a:t>Series</a:t>
            </a:r>
            <a:r>
              <a:rPr dirty="0" sz="4000" spc="-155">
                <a:latin typeface="Arial"/>
                <a:cs typeface="Arial"/>
              </a:rPr>
              <a:t> </a:t>
            </a:r>
            <a:r>
              <a:rPr dirty="0" sz="4000" spc="-240">
                <a:latin typeface="Arial"/>
                <a:cs typeface="Arial"/>
              </a:rPr>
              <a:t>(VAR</a:t>
            </a:r>
            <a:r>
              <a:rPr dirty="0" sz="4000" spc="-40">
                <a:latin typeface="Arial"/>
                <a:cs typeface="Arial"/>
              </a:rPr>
              <a:t> </a:t>
            </a:r>
            <a:r>
              <a:rPr dirty="0" sz="4000" spc="-10">
                <a:latin typeface="Arial"/>
                <a:cs typeface="Arial"/>
              </a:rPr>
              <a:t>models)</a:t>
            </a:r>
            <a:endParaRPr sz="4000">
              <a:latin typeface="Arial"/>
              <a:cs typeface="Arial"/>
            </a:endParaRPr>
          </a:p>
          <a:p>
            <a:pPr marL="520065" indent="-507365">
              <a:lnSpc>
                <a:spcPct val="100000"/>
              </a:lnSpc>
              <a:spcBef>
                <a:spcPts val="2730"/>
              </a:spcBef>
              <a:buSzPct val="122500"/>
              <a:buChar char="•"/>
              <a:tabLst>
                <a:tab pos="520065" algn="l"/>
              </a:tabLst>
            </a:pPr>
            <a:r>
              <a:rPr dirty="0" sz="4000">
                <a:latin typeface="Arial"/>
                <a:cs typeface="Arial"/>
              </a:rPr>
              <a:t>Topic</a:t>
            </a:r>
            <a:r>
              <a:rPr dirty="0" sz="4000" spc="-18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7:</a:t>
            </a:r>
            <a:r>
              <a:rPr dirty="0" sz="4000" spc="-18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Neural</a:t>
            </a:r>
            <a:r>
              <a:rPr dirty="0" sz="4000" spc="-180">
                <a:latin typeface="Arial"/>
                <a:cs typeface="Arial"/>
              </a:rPr>
              <a:t> </a:t>
            </a:r>
            <a:r>
              <a:rPr dirty="0" sz="4000" spc="-10">
                <a:latin typeface="Arial"/>
                <a:cs typeface="Arial"/>
              </a:rPr>
              <a:t>Networks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1657" y="2488997"/>
            <a:ext cx="11098530" cy="4772025"/>
          </a:xfrm>
          <a:prstGeom prst="rect">
            <a:avLst/>
          </a:prstGeom>
        </p:spPr>
        <p:txBody>
          <a:bodyPr wrap="square" lIns="0" tIns="80645" rIns="0" bIns="0" rtlCol="0" vert="horz">
            <a:spAutoFit/>
          </a:bodyPr>
          <a:lstStyle/>
          <a:p>
            <a:pPr marL="520700" marR="356235" indent="-508000">
              <a:lnSpc>
                <a:spcPts val="4330"/>
              </a:lnSpc>
              <a:spcBef>
                <a:spcPts val="635"/>
              </a:spcBef>
              <a:buSzPct val="122500"/>
              <a:buChar char="•"/>
              <a:tabLst>
                <a:tab pos="520700" algn="l"/>
              </a:tabLst>
            </a:pPr>
            <a:r>
              <a:rPr dirty="0" sz="4000" spc="-120">
                <a:latin typeface="Arial"/>
                <a:cs typeface="Arial"/>
              </a:rPr>
              <a:t>We</a:t>
            </a:r>
            <a:r>
              <a:rPr dirty="0" sz="4000" spc="-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will</a:t>
            </a:r>
            <a:r>
              <a:rPr dirty="0" sz="4000" spc="-5">
                <a:latin typeface="Arial"/>
                <a:cs typeface="Arial"/>
              </a:rPr>
              <a:t> </a:t>
            </a:r>
            <a:r>
              <a:rPr dirty="0" sz="4000" spc="60">
                <a:latin typeface="Arial"/>
                <a:cs typeface="Arial"/>
              </a:rPr>
              <a:t>work</a:t>
            </a:r>
            <a:r>
              <a:rPr dirty="0" sz="4000" spc="-5">
                <a:latin typeface="Arial"/>
                <a:cs typeface="Arial"/>
              </a:rPr>
              <a:t> </a:t>
            </a:r>
            <a:r>
              <a:rPr dirty="0" sz="4000" spc="70">
                <a:latin typeface="Arial"/>
                <a:cs typeface="Arial"/>
              </a:rPr>
              <a:t>with</a:t>
            </a:r>
            <a:r>
              <a:rPr dirty="0" sz="4000">
                <a:latin typeface="Arial"/>
                <a:cs typeface="Arial"/>
              </a:rPr>
              <a:t> a</a:t>
            </a:r>
            <a:r>
              <a:rPr dirty="0" sz="4000" spc="-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variety</a:t>
            </a:r>
            <a:r>
              <a:rPr dirty="0" sz="4000" spc="-5">
                <a:latin typeface="Arial"/>
                <a:cs typeface="Arial"/>
              </a:rPr>
              <a:t> </a:t>
            </a:r>
            <a:r>
              <a:rPr dirty="0" sz="4000" spc="65">
                <a:latin typeface="Arial"/>
                <a:cs typeface="Arial"/>
              </a:rPr>
              <a:t>of</a:t>
            </a:r>
            <a:r>
              <a:rPr dirty="0" sz="4000" spc="-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models and</a:t>
            </a:r>
            <a:r>
              <a:rPr dirty="0" sz="4000" spc="-5">
                <a:latin typeface="Arial"/>
                <a:cs typeface="Arial"/>
              </a:rPr>
              <a:t> </a:t>
            </a:r>
            <a:r>
              <a:rPr dirty="0" sz="4000" spc="-20">
                <a:latin typeface="Arial"/>
                <a:cs typeface="Arial"/>
              </a:rPr>
              <a:t>will </a:t>
            </a:r>
            <a:r>
              <a:rPr dirty="0" sz="4000">
                <a:latin typeface="Arial"/>
                <a:cs typeface="Arial"/>
              </a:rPr>
              <a:t>apply</a:t>
            </a:r>
            <a:r>
              <a:rPr dirty="0" sz="4000" spc="-1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them</a:t>
            </a:r>
            <a:r>
              <a:rPr dirty="0" sz="4000" spc="-10">
                <a:latin typeface="Arial"/>
                <a:cs typeface="Arial"/>
              </a:rPr>
              <a:t> </a:t>
            </a:r>
            <a:r>
              <a:rPr dirty="0" sz="4000" spc="100">
                <a:latin typeface="Arial"/>
                <a:cs typeface="Arial"/>
              </a:rPr>
              <a:t>to</a:t>
            </a:r>
            <a:r>
              <a:rPr dirty="0" sz="4000" spc="-1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a</a:t>
            </a:r>
            <a:r>
              <a:rPr dirty="0" sz="4000" spc="-1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variety</a:t>
            </a:r>
            <a:r>
              <a:rPr dirty="0" sz="4000" spc="-10">
                <a:latin typeface="Arial"/>
                <a:cs typeface="Arial"/>
              </a:rPr>
              <a:t> </a:t>
            </a:r>
            <a:r>
              <a:rPr dirty="0" sz="4000" spc="65">
                <a:latin typeface="Arial"/>
                <a:cs typeface="Arial"/>
              </a:rPr>
              <a:t>of</a:t>
            </a:r>
            <a:r>
              <a:rPr dirty="0" sz="4000" spc="-1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real</a:t>
            </a:r>
            <a:r>
              <a:rPr dirty="0" sz="4000" spc="-1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time</a:t>
            </a:r>
            <a:r>
              <a:rPr dirty="0" sz="4000" spc="-15">
                <a:latin typeface="Arial"/>
                <a:cs typeface="Arial"/>
              </a:rPr>
              <a:t> </a:t>
            </a:r>
            <a:r>
              <a:rPr dirty="0" sz="4000" spc="-10">
                <a:latin typeface="Arial"/>
                <a:cs typeface="Arial"/>
              </a:rPr>
              <a:t>series datasets</a:t>
            </a:r>
            <a:endParaRPr sz="4000">
              <a:latin typeface="Arial"/>
              <a:cs typeface="Arial"/>
            </a:endParaRPr>
          </a:p>
          <a:p>
            <a:pPr marL="520700" marR="436245" indent="-508000">
              <a:lnSpc>
                <a:spcPts val="4330"/>
              </a:lnSpc>
              <a:spcBef>
                <a:spcPts val="3204"/>
              </a:spcBef>
              <a:buSzPct val="122500"/>
              <a:buChar char="•"/>
              <a:tabLst>
                <a:tab pos="520700" algn="l"/>
              </a:tabLst>
            </a:pPr>
            <a:r>
              <a:rPr dirty="0" sz="4000" spc="-120">
                <a:latin typeface="Arial"/>
                <a:cs typeface="Arial"/>
              </a:rPr>
              <a:t>We</a:t>
            </a:r>
            <a:r>
              <a:rPr dirty="0" sz="4000" spc="40">
                <a:latin typeface="Arial"/>
                <a:cs typeface="Arial"/>
              </a:rPr>
              <a:t> </a:t>
            </a:r>
            <a:r>
              <a:rPr dirty="0" sz="4000" spc="65">
                <a:latin typeface="Arial"/>
                <a:cs typeface="Arial"/>
              </a:rPr>
              <a:t>fit</a:t>
            </a:r>
            <a:r>
              <a:rPr dirty="0" sz="4000" spc="4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models</a:t>
            </a:r>
            <a:r>
              <a:rPr dirty="0" sz="4000" spc="45">
                <a:latin typeface="Arial"/>
                <a:cs typeface="Arial"/>
              </a:rPr>
              <a:t> </a:t>
            </a:r>
            <a:r>
              <a:rPr dirty="0" sz="4000" spc="100">
                <a:latin typeface="Arial"/>
                <a:cs typeface="Arial"/>
              </a:rPr>
              <a:t>to</a:t>
            </a:r>
            <a:r>
              <a:rPr dirty="0" sz="4000" spc="4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data</a:t>
            </a:r>
            <a:r>
              <a:rPr dirty="0" sz="4000" spc="4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mostly</a:t>
            </a:r>
            <a:r>
              <a:rPr dirty="0" sz="4000" spc="45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using</a:t>
            </a:r>
            <a:r>
              <a:rPr dirty="0" sz="4000" spc="40">
                <a:latin typeface="Arial"/>
                <a:cs typeface="Arial"/>
              </a:rPr>
              <a:t> </a:t>
            </a:r>
            <a:r>
              <a:rPr dirty="0" sz="4000" spc="-10">
                <a:latin typeface="Arial"/>
                <a:cs typeface="Arial"/>
              </a:rPr>
              <a:t>likelihood </a:t>
            </a:r>
            <a:r>
              <a:rPr dirty="0" sz="4000">
                <a:latin typeface="Arial"/>
                <a:cs typeface="Arial"/>
              </a:rPr>
              <a:t>maximization</a:t>
            </a:r>
            <a:r>
              <a:rPr dirty="0" sz="4000" spc="-7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(sometimes</a:t>
            </a:r>
            <a:r>
              <a:rPr dirty="0" sz="4000" spc="-65">
                <a:latin typeface="Arial"/>
                <a:cs typeface="Arial"/>
              </a:rPr>
              <a:t> </a:t>
            </a:r>
            <a:r>
              <a:rPr dirty="0" sz="4000" spc="70">
                <a:latin typeface="Arial"/>
                <a:cs typeface="Arial"/>
              </a:rPr>
              <a:t>with</a:t>
            </a:r>
            <a:r>
              <a:rPr dirty="0" sz="4000" spc="-70">
                <a:latin typeface="Arial"/>
                <a:cs typeface="Arial"/>
              </a:rPr>
              <a:t> </a:t>
            </a:r>
            <a:r>
              <a:rPr dirty="0" sz="4000" spc="-10">
                <a:latin typeface="Arial"/>
                <a:cs typeface="Arial"/>
              </a:rPr>
              <a:t>additional regularization</a:t>
            </a:r>
            <a:r>
              <a:rPr dirty="0" sz="4000" spc="-180">
                <a:latin typeface="Arial"/>
                <a:cs typeface="Arial"/>
              </a:rPr>
              <a:t> </a:t>
            </a:r>
            <a:r>
              <a:rPr dirty="0" sz="4000" spc="-10">
                <a:latin typeface="Arial"/>
                <a:cs typeface="Arial"/>
              </a:rPr>
              <a:t>terms)</a:t>
            </a:r>
            <a:endParaRPr sz="4000">
              <a:latin typeface="Arial"/>
              <a:cs typeface="Arial"/>
            </a:endParaRPr>
          </a:p>
          <a:p>
            <a:pPr marL="520065" indent="-507365">
              <a:lnSpc>
                <a:spcPct val="100000"/>
              </a:lnSpc>
              <a:spcBef>
                <a:spcPts val="2665"/>
              </a:spcBef>
              <a:buSzPct val="122500"/>
              <a:buChar char="•"/>
              <a:tabLst>
                <a:tab pos="520065" algn="l"/>
              </a:tabLst>
            </a:pPr>
            <a:r>
              <a:rPr dirty="0" sz="4000" spc="-120">
                <a:latin typeface="Arial"/>
                <a:cs typeface="Arial"/>
              </a:rPr>
              <a:t>We</a:t>
            </a:r>
            <a:r>
              <a:rPr dirty="0" sz="4000" spc="-1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will</a:t>
            </a:r>
            <a:r>
              <a:rPr dirty="0" sz="4000" spc="-1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also</a:t>
            </a:r>
            <a:r>
              <a:rPr dirty="0" sz="4000" spc="-1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look</a:t>
            </a:r>
            <a:r>
              <a:rPr dirty="0" sz="4000" spc="-1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at</a:t>
            </a:r>
            <a:r>
              <a:rPr dirty="0" sz="4000" spc="-1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some</a:t>
            </a:r>
            <a:r>
              <a:rPr dirty="0" sz="4000" spc="-10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Bayesian</a:t>
            </a:r>
            <a:r>
              <a:rPr dirty="0" sz="4000" spc="-10">
                <a:latin typeface="Arial"/>
                <a:cs typeface="Arial"/>
              </a:rPr>
              <a:t> techniques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LectureOneSlides153248Fall2026PDF</dc:title>
  <dcterms:created xsi:type="dcterms:W3CDTF">2026-10-29T01:43:34Z</dcterms:created>
  <dcterms:modified xsi:type="dcterms:W3CDTF">2026-10-29T01:43:34Z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2026-08-28T00:00:00Z</vt:filetime>
  </property>
  <property fmtid="{D5CDD505-2E9C-101B-9397-08002B2CF9AE}" pid="3" name="Creator">
    <vt:lpwstr>Keynote</vt:lpwstr>
  </property>
  <property fmtid="{D5CDD505-2E9C-101B-9397-08002B2CF9AE}" pid="4" name="LastSaved">
    <vt:filetime>2026-10-29T00:00:00Z</vt:filetime>
  </property>
  <property fmtid="{D5CDD505-2E9C-101B-9397-08002B2CF9AE}" pid="5" name="Producer">
    <vt:lpwstr>macOS Version 26.0.1 (Build 25A362) Quartz PDFContext</vt:lpwstr>
  </property>
</Properties>
</file>